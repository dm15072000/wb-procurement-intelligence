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2.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3.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e5f624b8-8f68-545b-f078-e3832d5875f2}">
          <p14:sldIdLst>
            <p14:sldId id="256"/>
            <p14:sldId id="257"/>
            <p14:sldId id="258"/>
            <p14:sldId id="259"/>
            <p14:sldId id="260"/>
          </p14:sldIdLst>
        </p14:section>
        <p14:section name="1 Plan" id="{b82a05a2-a6f8-5094-d0ff-93647391548e}">
          <p14:sldIdLst>
            <p14:sldId id="261"/>
            <p14:sldId id="262"/>
            <p14:sldId id="263"/>
          </p14:sldIdLst>
        </p14:section>
        <p14:section name="2 Tender design" id="{6717b04a-39c6-a1a1-623b-6c736048ba5d}">
          <p14:sldIdLst>
            <p14:sldId id="264"/>
            <p14:sldId id="265"/>
          </p14:sldIdLst>
        </p14:section>
        <p14:section name="3 Monitor" id="{afde5fad-f85d-c9f2-3d65-b80314c4526f}">
          <p14:sldIdLst>
            <p14:sldId id="266"/>
            <p14:sldId id="267"/>
          </p14:sldIdLst>
        </p14:section>
        <p14:section name="4 Learn" id="{2ba2c6f6-6077-a7a2-db36-adc8ccd4ed5d}">
          <p14:sldIdLst>
            <p14:sldId id="268"/>
            <p14:sldId id="269"/>
          </p14:sldIdLst>
        </p14:section>
        <p14:section name="Close" id="{3dc2002e-ff42-8ec9-b44b-8f12ec9fabd9}">
          <p14:sldIdLst>
            <p14:sldId id="270"/>
          </p14:sldIdLst>
        </p14:section>
        <p14:section name="Backup" id="{8f2721bc-f7fc-e838-6bd1-0b69ce3b7fb1}">
          <p14:sldIdLst>
            <p14:sldId id="271"/>
            <p14:sldId id="272"/>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B2A2E"/>
                </a:solidFill>
                <a:latin typeface="+mn-lt"/>
              </a:defRPr>
            </a:pPr>
            <a:r>
              <a:rPr sz="1300" b="0" i="0" u="none" strike="noStrike">
                <a:solidFill>
                  <a:srgbClr val="1B2A2E"/>
                </a:solidFill>
                <a:latin typeface="+mn-lt"/>
              </a:rPr>
              <a:t>Award notices matched in the contract data, by fiscal year</a:t>
            </a:r>
          </a:p>
        </c:rich>
      </c:tx>
      <c:layout/>
      <c:overlay val="0"/>
    </c:title>
    <c:autoTitleDeleted val="0"/>
    <c:plotArea>
      <c:layout/>
      <c:barChart>
        <c:barDir val="col"/>
        <c:grouping val="stacked"/>
        <c:varyColors val="0"/>
        <c:ser>
          <c:idx val="0"/>
          <c:order val="0"/>
          <c:tx>
            <c:strRef>
              <c:f>Sheet1!$B$1</c:f>
              <c:strCache>
                <c:ptCount val="1"/>
                <c:pt idx="0">
                  <c:v>Partial, likely incomplete</c:v>
                </c:pt>
              </c:strCache>
            </c:strRef>
          </c:tx>
          <c:spPr>
            <a:solidFill>
              <a:srgbClr val="A23B2C"/>
            </a:solidFill>
            <a:effectLst/>
          </c:spPr>
          <c:invertIfNegative val="0"/>
          <c:dLbls>
            <c:numFmt formatCode="0%;;" sourceLinked="0"/>
            <c:txPr>
              <a:bodyPr/>
              <a:lstStyle/>
              <a:p>
                <a:pPr>
                  <a:defRPr b="0" i="0" strike="noStrike" sz="1100" u="none">
                    <a:solidFill>
                      <a:srgbClr val="FFFFFF"/>
                    </a:solidFill>
                    <a:latin typeface="+mn-lt"/>
                  </a:defRPr>
                </a:pPr>
              </a:p>
            </c:txPr>
            <c:dLblPos val="inEnd"/>
            <c:showLegendKey val="0"/>
            <c:showVal val="1"/>
            <c:showCatName val="0"/>
            <c:showSerName val="0"/>
            <c:showPercent val="0"/>
            <c:showBubbleSize val="0"/>
            <c:showLeaderLines val="0"/>
          </c:dLbls>
          <c:cat>
            <c:multiLvlStrRef>
              <c:f>Sheet1!$A$2:$A$11</c:f>
              <c:multiLvlStrCache>
                <c:ptCount val="10"/>
                <c:lvl>
                  <c:pt idx="0">
                    <c:v>2017</c:v>
                  </c:pt>
                  <c:pt idx="1">
                    <c:v>2018</c:v>
                  </c:pt>
                  <c:pt idx="2">
                    <c:v>2019</c:v>
                  </c:pt>
                  <c:pt idx="3">
                    <c:v>2020</c:v>
                  </c:pt>
                  <c:pt idx="4">
                    <c:v>2021</c:v>
                  </c:pt>
                  <c:pt idx="5">
                    <c:v>2022</c:v>
                  </c:pt>
                  <c:pt idx="6">
                    <c:v>2023</c:v>
                  </c:pt>
                  <c:pt idx="7">
                    <c:v>2024</c:v>
                  </c:pt>
                  <c:pt idx="8">
                    <c:v>2025</c:v>
                  </c:pt>
                  <c:pt idx="9">
                    <c:v>2026</c:v>
                  </c:pt>
                </c:lvl>
              </c:multiLvlStrCache>
            </c:multiLvlStrRef>
          </c:cat>
          <c:val>
            <c:numRef>
              <c:f>Sheet1!$B$2:$B$11</c:f>
              <c:numCache>
                <c:formatCode>General</c:formatCode>
                <c:ptCount val="10"/>
                <c:pt idx="0">
                  <c:v>0.557</c:v>
                </c:pt>
                <c:pt idx="1">
                  <c:v>0</c:v>
                </c:pt>
                <c:pt idx="2">
                  <c:v>0</c:v>
                </c:pt>
                <c:pt idx="3">
                  <c:v>0</c:v>
                </c:pt>
                <c:pt idx="4">
                  <c:v>0</c:v>
                </c:pt>
                <c:pt idx="5">
                  <c:v>0</c:v>
                </c:pt>
                <c:pt idx="6">
                  <c:v>0</c:v>
                </c:pt>
                <c:pt idx="7">
                  <c:v>0</c:v>
                </c:pt>
                <c:pt idx="8">
                  <c:v>0</c:v>
                </c:pt>
                <c:pt idx="9">
                  <c:v>0</c:v>
                </c:pt>
              </c:numCache>
            </c:numRef>
          </c:val>
        </c:ser>
        <c:ser>
          <c:idx val="1"/>
          <c:order val="1"/>
          <c:tx>
            <c:strRef>
              <c:f>Sheet1!$C$1</c:f>
              <c:strCache>
                <c:ptCount val="1"/>
                <c:pt idx="0">
                  <c:v>Partial</c:v>
                </c:pt>
              </c:strCache>
            </c:strRef>
          </c:tx>
          <c:spPr>
            <a:solidFill>
              <a:srgbClr val="F3B23C"/>
            </a:solidFill>
            <a:effectLst/>
          </c:spPr>
          <c:invertIfNegative val="0"/>
          <c:dLbls>
            <c:numFmt formatCode="0%;;" sourceLinked="0"/>
            <c:txPr>
              <a:bodyPr/>
              <a:lstStyle/>
              <a:p>
                <a:pPr>
                  <a:defRPr b="0" i="0" strike="noStrike" sz="1100" u="none">
                    <a:solidFill>
                      <a:srgbClr val="FFFFFF"/>
                    </a:solidFill>
                    <a:latin typeface="+mn-lt"/>
                  </a:defRPr>
                </a:pPr>
              </a:p>
            </c:txPr>
            <c:dLblPos val="inEnd"/>
            <c:showLegendKey val="0"/>
            <c:showVal val="1"/>
            <c:showCatName val="0"/>
            <c:showSerName val="0"/>
            <c:showPercent val="0"/>
            <c:showBubbleSize val="0"/>
            <c:showLeaderLines val="0"/>
          </c:dLbls>
          <c:cat>
            <c:multiLvlStrRef>
              <c:f>Sheet1!$A$2:$A$11</c:f>
              <c:multiLvlStrCache>
                <c:ptCount val="10"/>
                <c:lvl>
                  <c:pt idx="0">
                    <c:v>2017</c:v>
                  </c:pt>
                  <c:pt idx="1">
                    <c:v>2018</c:v>
                  </c:pt>
                  <c:pt idx="2">
                    <c:v>2019</c:v>
                  </c:pt>
                  <c:pt idx="3">
                    <c:v>2020</c:v>
                  </c:pt>
                  <c:pt idx="4">
                    <c:v>2021</c:v>
                  </c:pt>
                  <c:pt idx="5">
                    <c:v>2022</c:v>
                  </c:pt>
                  <c:pt idx="6">
                    <c:v>2023</c:v>
                  </c:pt>
                  <c:pt idx="7">
                    <c:v>2024</c:v>
                  </c:pt>
                  <c:pt idx="8">
                    <c:v>2025</c:v>
                  </c:pt>
                  <c:pt idx="9">
                    <c:v>2026</c:v>
                  </c:pt>
                </c:lvl>
              </c:multiLvlStrCache>
            </c:multiLvlStrRef>
          </c:cat>
          <c:val>
            <c:numRef>
              <c:f>Sheet1!$C$2:$C$11</c:f>
              <c:numCache>
                <c:formatCode>General</c:formatCode>
                <c:ptCount val="10"/>
                <c:pt idx="0">
                  <c:v>0</c:v>
                </c:pt>
                <c:pt idx="1">
                  <c:v>0.806</c:v>
                </c:pt>
                <c:pt idx="2">
                  <c:v>0.811</c:v>
                </c:pt>
                <c:pt idx="3">
                  <c:v>0</c:v>
                </c:pt>
                <c:pt idx="4">
                  <c:v>0</c:v>
                </c:pt>
                <c:pt idx="5">
                  <c:v>0</c:v>
                </c:pt>
                <c:pt idx="6">
                  <c:v>0</c:v>
                </c:pt>
                <c:pt idx="7">
                  <c:v>0</c:v>
                </c:pt>
                <c:pt idx="8">
                  <c:v>0</c:v>
                </c:pt>
                <c:pt idx="9">
                  <c:v>0</c:v>
                </c:pt>
              </c:numCache>
            </c:numRef>
          </c:val>
        </c:ser>
        <c:ser>
          <c:idx val="2"/>
          <c:order val="2"/>
          <c:tx>
            <c:strRef>
              <c:f>Sheet1!$D$1</c:f>
              <c:strCache>
                <c:ptCount val="1"/>
                <c:pt idx="0">
                  <c:v>Full</c:v>
                </c:pt>
              </c:strCache>
            </c:strRef>
          </c:tx>
          <c:spPr>
            <a:solidFill>
              <a:srgbClr val="0F5257"/>
            </a:solidFill>
            <a:effectLst/>
          </c:spPr>
          <c:invertIfNegative val="0"/>
          <c:dLbls>
            <c:numFmt formatCode="0%;;" sourceLinked="0"/>
            <c:txPr>
              <a:bodyPr/>
              <a:lstStyle/>
              <a:p>
                <a:pPr>
                  <a:defRPr b="0" i="0" strike="noStrike" sz="1100" u="none">
                    <a:solidFill>
                      <a:srgbClr val="FFFFFF"/>
                    </a:solidFill>
                    <a:latin typeface="+mn-lt"/>
                  </a:defRPr>
                </a:pPr>
              </a:p>
            </c:txPr>
            <c:dLblPos val="inEnd"/>
            <c:showLegendKey val="0"/>
            <c:showVal val="1"/>
            <c:showCatName val="0"/>
            <c:showSerName val="0"/>
            <c:showPercent val="0"/>
            <c:showBubbleSize val="0"/>
            <c:showLeaderLines val="0"/>
          </c:dLbls>
          <c:cat>
            <c:multiLvlStrRef>
              <c:f>Sheet1!$A$2:$A$11</c:f>
              <c:multiLvlStrCache>
                <c:ptCount val="10"/>
                <c:lvl>
                  <c:pt idx="0">
                    <c:v>2017</c:v>
                  </c:pt>
                  <c:pt idx="1">
                    <c:v>2018</c:v>
                  </c:pt>
                  <c:pt idx="2">
                    <c:v>2019</c:v>
                  </c:pt>
                  <c:pt idx="3">
                    <c:v>2020</c:v>
                  </c:pt>
                  <c:pt idx="4">
                    <c:v>2021</c:v>
                  </c:pt>
                  <c:pt idx="5">
                    <c:v>2022</c:v>
                  </c:pt>
                  <c:pt idx="6">
                    <c:v>2023</c:v>
                  </c:pt>
                  <c:pt idx="7">
                    <c:v>2024</c:v>
                  </c:pt>
                  <c:pt idx="8">
                    <c:v>2025</c:v>
                  </c:pt>
                  <c:pt idx="9">
                    <c:v>2026</c:v>
                  </c:pt>
                </c:lvl>
              </c:multiLvlStrCache>
            </c:multiLvlStrRef>
          </c:cat>
          <c:val>
            <c:numRef>
              <c:f>Sheet1!$D$2:$D$11</c:f>
              <c:numCache>
                <c:formatCode>General</c:formatCode>
                <c:ptCount val="10"/>
                <c:pt idx="0">
                  <c:v>0</c:v>
                </c:pt>
                <c:pt idx="1">
                  <c:v>0</c:v>
                </c:pt>
                <c:pt idx="2">
                  <c:v>0</c:v>
                </c:pt>
                <c:pt idx="3">
                  <c:v>0.82</c:v>
                </c:pt>
                <c:pt idx="4">
                  <c:v>0.832</c:v>
                </c:pt>
                <c:pt idx="5">
                  <c:v>0.855</c:v>
                </c:pt>
                <c:pt idx="6">
                  <c:v>0.872</c:v>
                </c:pt>
                <c:pt idx="7">
                  <c:v>0.943</c:v>
                </c:pt>
                <c:pt idx="8">
                  <c:v>0.929</c:v>
                </c:pt>
                <c:pt idx="9">
                  <c:v>0.941</c:v>
                </c:pt>
              </c:numCache>
            </c:numRef>
          </c:val>
        </c:ser>
        <c:dLbls>
          <c:numFmt formatCode="0%;;" sourceLinked="0"/>
          <c:txPr>
            <a:bodyPr/>
            <a:lstStyle/>
            <a:p>
              <a:pPr>
                <a:defRPr b="0" i="0" strike="noStrike" sz="1100" u="none">
                  <a:solidFill>
                    <a:srgbClr val="FFFFFF"/>
                  </a:solidFill>
                  <a:latin typeface="+mn-lt"/>
                </a:defRPr>
              </a:pPr>
            </a:p>
          </c:txPr>
          <c:dLblPos val="inEnd"/>
          <c:showLegendKey val="0"/>
          <c:showVal val="1"/>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B6B6E"/>
                </a:solidFill>
                <a:latin typeface="+mn-lt"/>
              </a:defRPr>
            </a:pPr>
            <a:endParaRPr lang="en-US"/>
          </a:p>
        </c:txPr>
        <c:crossAx val="2094734552"/>
        <c:crosses val="autoZero"/>
        <c:auto val="1"/>
        <c:lblAlgn val="ctr"/>
        <c:noMultiLvlLbl val="1"/>
      </c:catAx>
      <c:valAx>
        <c:axId val="2094734552"/>
        <c:scaling>
          <c:orientation val="minMax"/>
          <c:max val="1"/>
        </c:scaling>
        <c:delete val="0"/>
        <c:axPos val="l"/>
        <c:majorGridlines>
          <c:spPr>
            <a:ln w="9525" cap="flat">
              <a:solidFill>
                <a:srgbClr val="E3E9E8"/>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B6E"/>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B2A2E"/>
                </a:solidFill>
                <a:latin typeface="+mn-lt"/>
              </a:defRPr>
            </a:pPr>
            <a:r>
              <a:rPr sz="1300" b="0" i="0" u="none" strike="noStrike">
                <a:solidFill>
                  <a:srgbClr val="1B2A2E"/>
                </a:solidFill>
                <a:latin typeface="+mn-lt"/>
              </a:rPr>
              <a:t>Re-bid or cancellation rate, 3,224 road tenders</a:t>
            </a:r>
          </a:p>
        </c:rich>
      </c:tx>
      <c:layout/>
      <c:overlay val="0"/>
    </c:title>
    <c:autoTitleDeleted val="0"/>
    <c:plotArea>
      <c:layout/>
      <c:barChart>
        <c:barDir val="col"/>
        <c:grouping val="clustered"/>
        <c:varyColors val="0"/>
        <c:ser>
          <c:idx val="0"/>
          <c:order val="0"/>
          <c:tx>
            <c:strRef>
              <c:f>Sheet1!$B$1</c:f>
              <c:strCache>
                <c:ptCount val="1"/>
                <c:pt idx="0">
                  <c:v>All road tenders</c:v>
                </c:pt>
              </c:strCache>
            </c:strRef>
          </c:tx>
          <c:spPr>
            <a:solidFill>
              <a:srgbClr val="0F5257"/>
            </a:solidFill>
            <a:effectLst/>
          </c:spPr>
          <c:invertIfNegative val="0"/>
          <c:dLbls>
            <c:numFmt formatCode="0.0%" sourceLinked="0"/>
            <c:txPr>
              <a:bodyPr/>
              <a:lstStyle/>
              <a:p>
                <a:pPr>
                  <a:defRPr b="0" i="0" strike="noStrike" sz="1100" u="none">
                    <a:solidFill>
                      <a:srgbClr val="1B2A2E"/>
                    </a:solidFill>
                    <a:latin typeface="+mn-lt"/>
                  </a:defRPr>
                </a:pPr>
              </a:p>
            </c:txPr>
            <c:showLegendKey val="0"/>
            <c:showVal val="1"/>
            <c:showCatName val="0"/>
            <c:showSerName val="0"/>
            <c:showPercent val="0"/>
            <c:showBubbleSize val="0"/>
            <c:showLeaderLines val="0"/>
          </c:dLbls>
          <c:cat>
            <c:multiLvlStrRef>
              <c:f>Sheet1!$A$2:$A$4</c:f>
              <c:multiLvlStrCache>
                <c:ptCount val="3"/>
                <c:lvl>
                  <c:pt idx="0">
                    <c:v>All categories</c:v>
                  </c:pt>
                  <c:pt idx="1">
                    <c:v>Works</c:v>
                  </c:pt>
                  <c:pt idx="2">
                    <c:v>Goods</c:v>
                  </c:pt>
                </c:lvl>
              </c:multiLvlStrCache>
            </c:multiLvlStrRef>
          </c:cat>
          <c:val>
            <c:numRef>
              <c:f>Sheet1!$B$2:$B$4</c:f>
              <c:numCache>
                <c:formatCode>General</c:formatCode>
                <c:ptCount val="3"/>
                <c:pt idx="0">
                  <c:v>0.136</c:v>
                </c:pt>
                <c:pt idx="1">
                  <c:v>0.159</c:v>
                </c:pt>
                <c:pt idx="2">
                  <c:v>0.041</c:v>
                </c:pt>
              </c:numCache>
            </c:numRef>
          </c:val>
        </c:ser>
        <c:ser>
          <c:idx val="1"/>
          <c:order val="1"/>
          <c:tx>
            <c:strRef>
              <c:f>Sheet1!$C$1</c:f>
              <c:strCache>
                <c:ptCount val="1"/>
                <c:pt idx="0">
                  <c:v>Without project P157054</c:v>
                </c:pt>
              </c:strCache>
            </c:strRef>
          </c:tx>
          <c:spPr>
            <a:solidFill>
              <a:srgbClr val="F3B23C"/>
            </a:solidFill>
            <a:effectLst/>
          </c:spPr>
          <c:invertIfNegative val="0"/>
          <c:dLbls>
            <c:numFmt formatCode="0.0%" sourceLinked="0"/>
            <c:txPr>
              <a:bodyPr/>
              <a:lstStyle/>
              <a:p>
                <a:pPr>
                  <a:defRPr b="0" i="0" strike="noStrike" sz="1100" u="none">
                    <a:solidFill>
                      <a:srgbClr val="1B2A2E"/>
                    </a:solidFill>
                    <a:latin typeface="+mn-lt"/>
                  </a:defRPr>
                </a:pPr>
              </a:p>
            </c:txPr>
            <c:showLegendKey val="0"/>
            <c:showVal val="1"/>
            <c:showCatName val="0"/>
            <c:showSerName val="0"/>
            <c:showPercent val="0"/>
            <c:showBubbleSize val="0"/>
            <c:showLeaderLines val="0"/>
          </c:dLbls>
          <c:cat>
            <c:multiLvlStrRef>
              <c:f>Sheet1!$A$2:$A$4</c:f>
              <c:multiLvlStrCache>
                <c:ptCount val="3"/>
                <c:lvl>
                  <c:pt idx="0">
                    <c:v>All categories</c:v>
                  </c:pt>
                  <c:pt idx="1">
                    <c:v>Works</c:v>
                  </c:pt>
                  <c:pt idx="2">
                    <c:v>Goods</c:v>
                  </c:pt>
                </c:lvl>
              </c:multiLvlStrCache>
            </c:multiLvlStrRef>
          </c:cat>
          <c:val>
            <c:numRef>
              <c:f>Sheet1!$C$2:$C$4</c:f>
              <c:numCache>
                <c:formatCode>General</c:formatCode>
                <c:ptCount val="3"/>
                <c:pt idx="0">
                  <c:v>0.046</c:v>
                </c:pt>
                <c:pt idx="1">
                  <c:v>0.051</c:v>
                </c:pt>
                <c:pt idx="2">
                  <c:v>0.041</c:v>
                </c:pt>
              </c:numCache>
            </c:numRef>
          </c:val>
        </c:ser>
        <c:dLbls>
          <c:numFmt formatCode="0.0%" sourceLinked="0"/>
          <c:txPr>
            <a:bodyPr/>
            <a:lstStyle/>
            <a:p>
              <a:pPr>
                <a:defRPr b="0" i="0" strike="noStrike" sz="1100" u="none">
                  <a:solidFill>
                    <a:srgbClr val="1B2A2E"/>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B6B6E"/>
                </a:solidFill>
                <a:latin typeface="+mn-lt"/>
              </a:defRPr>
            </a:pPr>
            <a:endParaRPr lang="en-US"/>
          </a:p>
        </c:txPr>
        <c:crossAx val="2094734552"/>
        <c:crosses val="autoZero"/>
        <c:auto val="1"/>
        <c:lblAlgn val="ctr"/>
        <c:noMultiLvlLbl val="1"/>
      </c:catAx>
      <c:valAx>
        <c:axId val="2094734552"/>
        <c:scaling>
          <c:orientation val="minMax"/>
          <c:max val="0.2"/>
        </c:scaling>
        <c:delete val="0"/>
        <c:axPos val="l"/>
        <c:majorGridlines>
          <c:spPr>
            <a:ln w="9525" cap="flat">
              <a:solidFill>
                <a:srgbClr val="E3E9E8"/>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B6E"/>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B2A2E"/>
                </a:solidFill>
                <a:latin typeface="+mn-lt"/>
              </a:defRPr>
            </a:pPr>
            <a:r>
              <a:rPr sz="1300" b="0" i="0" u="none" strike="noStrike">
                <a:solidFill>
                  <a:srgbClr val="1B2A2E"/>
                </a:solidFill>
                <a:latin typeface="+mn-lt"/>
              </a:rPr>
              <a:t>Lessons extracted from reports, by theme (first extraction run)</a:t>
            </a:r>
          </a:p>
        </c:rich>
      </c:tx>
      <c:layout/>
      <c:overlay val="0"/>
    </c:title>
    <c:autoTitleDeleted val="0"/>
    <c:plotArea>
      <c:layout/>
      <c:barChart>
        <c:barDir val="bar"/>
        <c:grouping val="clustered"/>
        <c:varyColors val="0"/>
        <c:ser>
          <c:idx val="0"/>
          <c:order val="0"/>
          <c:tx>
            <c:strRef>
              <c:f>Sheet1!$B$1</c:f>
              <c:strCache>
                <c:ptCount val="1"/>
                <c:pt idx="0">
                  <c:v>Lessons</c:v>
                </c:pt>
              </c:strCache>
            </c:strRef>
          </c:tx>
          <c:spPr>
            <a:solidFill>
              <a:srgbClr val="0F5257"/>
            </a:solidFill>
            <a:effectLst/>
          </c:spPr>
          <c:invertIfNegative val="0"/>
          <c:dLbls>
            <c:numFmt formatCode="#,##0" sourceLinked="0"/>
            <c:txPr>
              <a:bodyPr/>
              <a:lstStyle/>
              <a:p>
                <a:pPr>
                  <a:defRPr b="0" i="0" strike="noStrike" sz="1100" u="none">
                    <a:solidFill>
                      <a:srgbClr val="1B2A2E"/>
                    </a:solidFill>
                    <a:latin typeface="+mn-lt"/>
                  </a:defRPr>
                </a:pPr>
              </a:p>
            </c:txPr>
            <c:showLegendKey val="0"/>
            <c:showVal val="1"/>
            <c:showCatName val="0"/>
            <c:showSerName val="0"/>
            <c:showPercent val="0"/>
            <c:showBubbleSize val="0"/>
            <c:showLeaderLines val="0"/>
          </c:dLbls>
          <c:cat>
            <c:multiLvlStrRef>
              <c:f>Sheet1!$A$2:$A$9</c:f>
              <c:multiLvlStrCache>
                <c:ptCount val="8"/>
                <c:lvl>
                  <c:pt idx="0">
                    <c:v>Procurement capacity</c:v>
                  </c:pt>
                  <c:pt idx="1">
                    <c:v>Contract management</c:v>
                  </c:pt>
                  <c:pt idx="2">
                    <c:v>Design quality</c:v>
                  </c:pt>
                  <c:pt idx="3">
                    <c:v>Safeguards</c:v>
                  </c:pt>
                  <c:pt idx="4">
                    <c:v>Supervision</c:v>
                  </c:pt>
                  <c:pt idx="5">
                    <c:v>Market capacity</c:v>
                  </c:pt>
                  <c:pt idx="6">
                    <c:v>Packaging</c:v>
                  </c:pt>
                  <c:pt idx="7">
                    <c:v>Specifications</c:v>
                  </c:pt>
                </c:lvl>
              </c:multiLvlStrCache>
            </c:multiLvlStrRef>
          </c:cat>
          <c:val>
            <c:numRef>
              <c:f>Sheet1!$B$2:$B$9</c:f>
              <c:numCache>
                <c:formatCode>General</c:formatCode>
                <c:ptCount val="8"/>
                <c:pt idx="0">
                  <c:v>279</c:v>
                </c:pt>
                <c:pt idx="1">
                  <c:v>272</c:v>
                </c:pt>
                <c:pt idx="2">
                  <c:v>183</c:v>
                </c:pt>
                <c:pt idx="3">
                  <c:v>92</c:v>
                </c:pt>
                <c:pt idx="4">
                  <c:v>70</c:v>
                </c:pt>
                <c:pt idx="5">
                  <c:v>20</c:v>
                </c:pt>
                <c:pt idx="6">
                  <c:v>6</c:v>
                </c:pt>
                <c:pt idx="7">
                  <c:v>3</c:v>
                </c:pt>
              </c:numCache>
            </c:numRef>
          </c:val>
        </c:ser>
        <c:dLbls>
          <c:numFmt formatCode="#,##0" sourceLinked="0"/>
          <c:txPr>
            <a:bodyPr/>
            <a:lstStyle/>
            <a:p>
              <a:pPr>
                <a:defRPr b="0" i="0" strike="noStrike" sz="1100" u="none">
                  <a:solidFill>
                    <a:srgbClr val="1B2A2E"/>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5B6B6E"/>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5B6B6E"/>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(30 seconds).
"This is a procurement intelligence platform I built end to end on Databricks with World Bank open data. I'll walk it the way a procurement officer would use it: plan a package, design the tender, monitor execution, and let the system learn from every new report.
Everything I show is measured on real data, and I'll be explicit about what works, what is only level with a baseline, and what is not solved yet."
Keep it short: the four circles are the journey that structures the talk.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(1.5 min).
The assessment describes three layers: what happened (structured), how it was executed (semi-structured) and why it succeeded or failed (unstructured). Today they live in separate systems: STEP and the contract datasets, ISRs and notices, and PDF reports in Documents &amp; Reports.
The result is plans that repeat past mistakes: unrealistic schedules, re-tenders, cancellations.
I framed the build around the officer's journey: 1 Plan a package, 2 Design the tender, 3 Monitor execution, 4 Learn. Each step pulls from all three silos. The circles at the top right of the next slides show where we are on that journey.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Architecture (2 min). Source: docs/10 diagram 1, redrawn for the slide.
"Everything runs in one Databricks workspace governed by Unity Catalog: Delta tables, Foundation Model APIs (Llama 3.3 70B and GTE-large), Vector Search, MLflow, Workflows, a Databricks App and an AI/BI dashboard. No other infrastructure."
Left to right: public data lands raw in bronze (retries with backoff, honour 429), silver types and standardises it and labels coverage per fiscal year. A data-quality gate with 14 checks stops the models if anything fails (it passes 14 of 14). The graph is two Delta tables, nodes and edges, each edge with its rule, evidence and the date the fact became public. Reports are parsed once with ai_parse_document into section-aware chunks and indexed in Vector Search with hybrid (vector + keyword) search.
M2: duration model, re-bid or cancellation rates, LLM extraction of ratings, lessons and events with verbatim quotes, and the RAG flow. M3: guardrails on every claim and rules for conflicting ratings. M4: the app, the KPI dashboard, a weekly refresh job and feedback.
Scale: 491,020 contracts, 22,461 projects, 299 documents giving 9,564 indexed passages (reports + notices), 16 demo projects in India, China, Mali, Albania and Sri Lanka. Models train on all 151 road projects.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before models (2 min).
I verified every source before writing a pipeline. Coverage is measured against an independent source: published Contract Award notices. FY2017 56%, FY2018-19 81%, FY2020 onward 82-94%. Every row carries its coverage status, and a zero in a partial year is never read as "no activity".
Four things this check changed:
1. A third contract dataset (DS04691, FY2017-19) existed; I had assumed a three-year gap.
2. Procurement-plan dates agreed with official signing dates only 20% of the time, so they are not used in models (plan labels are).
3. The duration target was tested before modelling: for post-review contracts about 13% of durations were negative, so the main model is prior-review (625 tenders).
4. Notebook 12 is an automatic quality gate: joint awards (STEP lists member shares; contract total = sum), standard category and method values across three datasets, uniqueness, required fields. 14 checks, all pass; a failure stops the refresh.
Also: missing values stay missing (CPIA is missing for 56% of country-years and stays NULL with a flag), review type "unknown" is stored not guessed, masked supplier names are never merged.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graph (1.5 min).
The graph is two Delta tables, nodes and edges, not a graph database: queries are 1-3 hops and joins handle them; one governed store. A graph database is a future option only if multi-hop analytics (supplier networks across countries) become a real workload.
Every edge has a rule, the evidence (source row or matched text) and available_from, the date the fact became public. That enforces "as-of" queries: a model trained for a 2019 decision cannot see a 2021 ICR.
The assessment's example (link a contract row to an ICR lesson section) is traced end to end: contract GYTJ201B → supplier → project → the ISR passage that says it was re-bid.
Honest finding: only 1.3% of demo contracts are named in any passage (5 strong, 27 weak links). Reports talk about packages and components, not individual contracts. So retrieval does not depend on these links; Vector Search is primary.
Entity resolution: supplier records 322,655 → 272,271 suppliers with six guards (backup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Duration model (2 min). Measured, notebook 50, docs/07 §1.
Target: contract signing minus the earliest matching IFB/REOI notice, 0 to 3 years. Main population 625 prior-review tenders; post-review is secondary. Quantile gradient-boosted trees give P20, P50 and P80; the baseline is the median by category and method. Time split: the latest 20% of tenders (from January 2023) are the test set.
Honest reading: on prior-review tenders the model is LEVEL with the baseline (MAE 100.4 vs 100.8 days; median error is worse, 80.5 vs 70.5). What it does well is the range: P80 coverage 0.81, inside the 0.7-0.9 target, pinball 42.8 vs 44.0. Post-review it is modestly better (median error 52.3 vs 57.5).
Governance hypothesis: removing WGI/CPIA IMPROVES MAE to 94.7, so on 500 training rows they add noise. I kept them only because promotion compares against a champion; the ablation is the evidence and I report it.
Leakage rules: features are what is known at the start notice; WGI/CPIA come from the latest year PUBLISHED before the notice (release lag).
What would improve it: STEP's internal cost estimate (we use contract value as a proxy) and more rows.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Re-bid or cancellation (2 min). Measured, notebook 51, docs/07 §2.
Labels come from the public record, each with its reason: a second IFB 30+ days later (corrigenda, addenda, deadline extensions excluded), cancelled notices or plan entries, re-bid wording, and - the biggest source - the same package re-advertised under a NEW reference (same project, same description with the same numbers in order, earlier round without a contract, 30+ days later). Precision: 29 of 30 random flags correct, and all 44 outside the dominant project.
Result: 439 of 3,224 tenders (13.6%) were re-bid or cancelled. One project, P157054 (Madhya Pradesh rural roads), holds 345 of them (79%): whole batches were re-advertised. Without it the rate is 4.6%. I always show both.
Method: rare events, so hierarchical Beta-binomial rates (all → category → method → country), shrunk toward the parent, with 90% intervals. On the latest period they beat a single global rate (Brier 0.032 vs 0.039). A classifier only reached AUC 0.46, so it was not kept; the gate now requires AUC ≥ 0.6 as well as a Brier win.
Caveat: tenders from the last 6-16 months haven't had time to be re-advertised, so recent rates are a lower bound.
Amendments: no public labels, so the app shows a transparent indicator checklist; it does not track extracted amendment events (r = -0.08), so it is a heuristic, never a probability.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RAG flow (2 min). Source: docs/10 diagram 2, updated with routing, the French pass and the pure-vector gate. Live demo here if time allows: "Plan a package" in the app.
"This is a fixed sequence of tools, not a free-roaming agent, so every answer is reproducible and the same code runs in my unit tests, my evaluation and the app."
Row 1 - facts: SQL finds similar past contracts signed before the as-of date, with their coverage status; the models give the duration range and the re-bid-or-cancellation rate. Numbers never come from the LLM.
Row 2 - evidence: the graph scopes the search to the right projects; outcome and rating questions are routed to ICR / ICR Review / PPAR first. Hybrid search (vector + keyword, because embeddings are bad at codes like GYTJ201B) runs in three scopes: the project, lessons across the corpus, and past notices for planning. For French-speaking countries the question is also searched in French. Rerank favours independent reviews (IEG &gt; ICR &gt; ISR) and exact identifier matches, at most 2 passages per document. The gate needs cosine ≥ 0.68 or an exact ID match.
Row 3 - answer: passages with instruction-like text are withheld; Llama 3.3 70B at temperature 0 writes JSON claims with citation IDs; code checks every citation, number and ID against the cited text; one batched verifier call removes unsupported claims, failing closed. The answer shows how many claims were removed. Every request is logged.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Tender design (1.5 min).
For tender design the assessment asks to cross-reference specifications, qualification criteria and ToRs against history. Public data has the procurement notices (REOI / IFB) with scope, lots and qualification criteria, PAD procurement sections, and ICR / IEG lessons. I indexed 4,338 notice passages for the demo projects and search them in their own scope when planning.
Lessons: 1,198 lessons extracted by Llama 3.3 70B with verbatim quotes checked word for word (quotes that don't appear in the passage are rejected). The chart shows the themes from the first extraction run: procurement capacity and contract management dominate; packaging and specifications are rare, which itself says the reports rarely discuss tender design.
Honest limit: standard bidding documents, ToRs and bid evaluation reports are not available as public data, and tender design is my weakest question type: recall@5 0.33 strict / 0.67 lenient, on only 3 test questions. With internal STEP documents this module gets much stronger; the pipeline already handles notice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Guardrails and conflicts (2 min). Measured on the held-out test half, notebook 61, final run 2026-10-23.
Layers, cheapest first: the retrieval gate; evidence wrapped as data; quarantine of instruction-like passages; JSON output; mechanical checks (citation exists, every claim cited, every number ≥ 10 and project ID appears in a CITED source); then ONE batched verifier call per answer that reads each claim next to the exact text of its sources and fails closed.
Results: citation validity 1.00; claim support 0.86-0.905 after guardrails across the evaluation runs (the verifier removes about 6-9 claims per run); an independent judge found 97.5-100% of 40 kept claims supported; Same frozen questions and temperature 0, yet the LLM's answers and the verifier's verdicts vary slightly between runs, so answer-quality metrics are reported as the range over the 2026-10-23 evaluation runs.; refusal accuracy 3 of 3; the planted prompt-injection passage was quarantined and its claim never appeared.
Caveat: verifier and judge are the same model family as the generator, so the judge is a second opinion, not ground truth.
Conflicting evidence (ICR vs ISR): ratings are extracted by regex with their passage. For the final outcome, IEG review &gt; ICR &gt; latest ISR, among documents published by the as-of date; for "state at a date", the latest ISR before it. Nothing is hidden: every rating is shown with its date, and flags are raised (isr_icr_disconnect, ieg_downgrade, isr_volatility). Found: 1 IEG downgrade and 2 ISR volatility cases.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Monitor (1.5 min). Measured, notebook 70, docs/07 §5.
Execution &amp; monitoring: the app's Monitor screen shows a project's rating timeline (ISR → ICR → IEG, conflicts flagged) and early-warning flags with their reasons.
On the demo run: 138 open tenders after removing rounds superseded by a re-advertisement and notices older than 3 years; 91 are past their predicted P80 with no contract; 16 projects lag on disbursement; 38 active projects have at least one flag. Rating conflicts: 1 IEG downgrade, 2 cases of ISR volatility.
Honest framing, stated in the app: an overdue flag means "check this tender", not "late". About one third of contracts match a notice, so an unmatched notice may simply be a contract that didn't join. The backtest (flag a year before the ICR vs ICR outcome) has only 3 projects, too few to read. The amendment indicator does not track the events extracted from reports (Spearman r ≈ -0.08), so it is shown as a checklist, never a risk estimate.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Evaluation (2 min). Measured, notebook 61, docs/07 §4.
The set: 52 frozen questions (lessons, ratings, contracts, tender design, off-topic refusals), reviewed by me; synthetic questions had to paraphrase their source (word overlap measured). Halves are split by project so near-duplicates can't leak; the refusal threshold is set on the calibration half and every metric is on the test half.
Strict recall counts only the single gold passage; lenient recall asks an LLM judge whether any retrieved passage contains the answer (the same fact often appears in the ICR and its IEG review). Final: 0.57 strict, 0.83 lenient. The phase-0 target was 0.7: met leniently, not strictly.
Three lessons I'd highlight:
1. A bug I found by reading the numbers: Vector Search scores plain queries as 1/(1+L2 distance²). Our vectors have norm ~24, so scores were ~0.003 and the gate blocked 20 of 23 answerable questions. Verified the formula on a live query, converted to cosine, and the calibration grid now comes from the data itself.
2. Even fixed, the gate is a weak first filter: off-topic and answerable scores overlap. It blocks 2 of 3 off-topic questions; the third is refused by the answer step. The real protection is the answer step plus the verifier.
3. The embedding model is English-only. Translating 196 French passages for embedding changed nothing; adding English keyword matching over translations and a French version of the question found 1 of 3 French questions. Known limitation; production fix: a multilingual embedding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Continuous learning (1.5 min). Module 4.
One Databricks job (jobs/refresh_job.json): ingest → silver → data-quality gate → documents (new only, parse once) → extraction (new chunks only, resumable, cost-capped) → embeddings (new or changed only) and Vector Search Delta Sync → retrain the duration model with champion/challenger (promote only if P50 MAE is no worse and P80 coverage stays 0.70-0.90 on the latest time slice) → re-bid rates → early warnings → RAG regression evaluation (fails the run if recall@5 drops more than 5 points) → KPI dashboard (runs even if the evaluation fails, so the failure shows).
Example of incremental: on 23 October only the 196 translated passages were re-embedded and synced; nothing else.
A new ICR becomes searchable, rated and mined for lessons on the next run, and its rating conflicts are flagged automatically.
Feedback: thumbs and "wrong source" are stored in ops.feedback; thumbs-down answers are reviewed and added to the evaluation set; wrong-source passages become negatives for a future learned reranker.
The KPI dashboard is defined as code in the repo (views + Lakeview JSON) and deployed by notebook 85.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Rollout and KPIs (1.5 min).
Four phases, each with go / no-go criteria decided in advance (proposed). Phase 0 is this work. Its measured status: P80 coverage 0.81 meets the target; claim support 0.86-0.905 across runs sits around the 0.9 target, so not a clean pass; P50 is level with the baseline rather than better; recall@5 meets the target leniently (0.83) but not strictly (0.57). So phase 0 is not a clean pass and I would say so: the next work is retrieval quality and a multilingual model before a pilot.
Phase 1: a 3-month shadow pilot with about 10 specialists in one region, advisory only. Exit: at least 60% weekly active, at most 5% answers flagged wrong-source, and no unsupported claim in a 100-answer audit.
Business KPIs - planning cycle time (before/after timing), adoption, answers accepted without edit, forecast accuracy in use - are PROPOSED pilot targets. No numbers exist for them yet and I didn't invent any. The KPI dashboard already has the page for them, labelled "test usage only" until a pilot starts.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Limitations and next steps (1.5 min).
I'd rather name these than have them found:
- The evaluation set is small (26 test questions), partly synthetic and reviewed by me; the verifier and the judge are the same model family as the generator.
- The duration model's point estimate is only level with a median baseline; the governance hypothesis is not supported on 500 rows.
- There are no public amendment labels, so amendment risk is a heuristic checklist plus extracted events, not a probability.
- French retrieval is partly solved (1 of 3 French questions); the embedding model is English-only.
- Reports rarely name individual contracts (1.3% link coverage), so evidence is mostly at package and project level.
- Free Edition limits: 3 apps, apps stop after 24 hours, and a daily serverless quota that I hit once.
Next: a multilingual embedding model; STEP's internal data (cost estimates, amendments, bid evaluation reports), which would most improve the duration and amendment models; a bigger reviewed evaluation set with a judge from a different model family; then a shadow pilot that measures planning cycle time.
Close: "Every number you've seen is measured, and the code, the evaluation and the app all run the same pipeline. Happy to go deeper anywhere."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 entity resolution.
Rules in order: R1 same supplier ID; R2 same cleaned name and country; R3 near-identical name and country, firms only. Six guards stop bad chains: shared-ID, common-name, numbers in the name, joint ventures, a distinctive-word check and a chain-length limit. The largest cluster fell from 119 to 40 records after the guards.
The placeholder "INDIVIDUAL CONSULTANT" had merged 176 people before the fix; masked names without an ID are now never merged and get NULL history.
Fuzzy-rule precision 43-47 of 50 on a random sample, assistant-judged sample; my own spot-check is still pending. Supplier names keep non-Latin scripts; only accents are removed. Matching to registered companies is future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 extraction (notebook 55).
Dry run first: count the calls, then run only after approval with a hard cap. 1,548 calls, resumable batches of 100, 0 call errors. A trigger-word bug (the French "résili" matched English "resilience") was found in the dry run and cut 219 calls before spending anything.
Kept 1,198 lessons and 1,086 events after the type remap; every item quotes its passage word for word. Events must have happened: conditional text such as "will be subject to re-bidding" and project names such as "Projet de Relance" are rejected (89 not-happened rejections in the first run).
Ratings are extracted with deterministic regular expressions on the six-point scale, not the LLM, because they drive conflict rules.
Lesson and event precision on 20 + 20 samples is still to be hand-reviewed.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 the fake AUC story (also a STAR story in docs/13).
The first re-bid labels gave 171 positives and a classifier AUC of 0.93. Reading the positives showed 120 were false: a French project name containing "Relance" (recovery) in 86 of 88 tenders of one project, and a Lebanese invitation template saying lots "will be subject to re-bidding" in every notice. The model had learned two projects, not re-bidding.
Fix: re-bid wording never counts inside a project name or after a future or conditional phrase; bare "relance" needs a procurement word next to it. Then a recall check: every notice with a whole-word trigger (125) was read: 0 real re-bids missed. The fix also exposed the bigger recall gap - re-advertisement under a new reference - which became the main label source (97% precision).
After the fix the classifier scored 0.50, then 0.46, so it is not kept; rates with intervals are shown instead.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0F5257"/>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2011680"/>
            <a:ext cx="10881360" cy="1280160"/>
          </a:xfrm>
          <a:prstGeom prst="rect">
            <a:avLst/>
          </a:prstGeom>
          <a:noFill/>
          <a:ln/>
        </p:spPr>
        <p:txBody>
          <a:bodyPr wrap="square" rtlCol="0"/>
          <a:lstStyle>
            <a:lvl1pPr algn="l" indent="0" marL="0">
              <a:buNone/>
              <a:defRPr lang="en-US" sz="44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4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7680960" cy="822960"/>
          </a:xfrm>
          <a:prstGeom prst="rect">
            <a:avLst/>
          </a:prstGeom>
          <a:noFill/>
          <a:ln/>
        </p:spPr>
        <p:txBody>
          <a:bodyPr wrap="square" rtlCol="0"/>
          <a:lstStyle>
            <a:lvl1pPr algn="l" indent="0" marL="0">
              <a:buNone/>
              <a:defRPr lang="en-US" sz="3000" b="1" dirty="0">
                <a:solidFill>
                  <a:srgbClr val="0F5257"/>
                </a:solidFill>
                <a:latin typeface="Cambria" pitchFamily="34" charset="0"/>
                <a:ea typeface="Cambria" pitchFamily="34" charset="-122"/>
                <a:cs typeface="Cambria" pitchFamily="34" charset="-120"/>
              </a:defRPr>
            </a:lvl1pPr>
          </a:lstStyle>
          <a:p>
            <a:pPr algn="l" indent="0" marL="0">
              <a:buNone/>
            </a:pPr>
            <a:endParaRPr lang="en-US" sz="3000" dirty="0"/>
          </a:p>
        </p:txBody>
      </p:sp>
      <p:sp>
        <p:nvSpPr>
          <p:cNvPr id="3"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rgbClr val="5B6B6E"/>
                </a:solidFill>
                <a:latin typeface="Calibri" pitchFamily="34" charset="0"/>
                <a:ea typeface="Calibri" pitchFamily="34" charset="-122"/>
                <a:cs typeface="Calibri" pitchFamily="34" charset="-120"/>
              </a:rPr>
              <a:t>Procurement Intelligence · Databricks · World Bank open data</a:t>
            </a:r>
            <a:endParaRPr lang="en-US" sz="10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6E"/>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6E"/>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640080" y="2011680"/>
            <a:ext cx="10881360" cy="1280160"/>
          </a:xfrm>
          <a:prstGeom prst="rect">
            <a:avLst/>
          </a:prstGeom>
          <a:noFill/>
          <a:ln/>
        </p:spPr>
        <p:txBody>
          <a:bodyPr wrap="square" lIns="0" tIns="0" rIns="0" bIns="0" rtlCol="0" anchor="b"/>
          <a:lstStyle/>
          <a:p>
            <a:pPr algn="l" indent="0" marL="0">
              <a:buNone/>
            </a:pPr>
            <a:r>
              <a:rPr lang="en-US" sz="4400" b="1" dirty="0">
                <a:solidFill>
                  <a:srgbClr val="FFFFFF"/>
                </a:solidFill>
                <a:latin typeface="Cambria" pitchFamily="34" charset="0"/>
                <a:ea typeface="Cambria" pitchFamily="34" charset="-122"/>
                <a:cs typeface="Cambria" pitchFamily="34" charset="-120"/>
              </a:rPr>
              <a:t>Procurement Intelligence</a:t>
            </a:r>
            <a:endParaRPr lang="en-US" sz="4400" dirty="0"/>
          </a:p>
        </p:txBody>
      </p:sp>
      <p:sp>
        <p:nvSpPr>
          <p:cNvPr id="3" name="Text 1"/>
          <p:cNvSpPr txBox="1"/>
          <p:nvPr/>
        </p:nvSpPr>
        <p:spPr>
          <a:xfrm>
            <a:off x="640080" y="3429000"/>
            <a:ext cx="9601200" cy="822960"/>
          </a:xfrm>
          <a:prstGeom prst="rect">
            <a:avLst/>
          </a:prstGeom>
          <a:noFill/>
          <a:ln/>
        </p:spPr>
        <p:txBody>
          <a:bodyPr wrap="square" lIns="0" tIns="0" rIns="0" bIns="0" rtlCol="0" anchor="t"/>
          <a:lstStyle/>
          <a:p>
            <a:pPr algn="l" indent="0" marL="0">
              <a:buNone/>
            </a:pPr>
            <a:r>
              <a:rPr lang="en-US" sz="2000" dirty="0">
                <a:solidFill>
                  <a:srgbClr val="DCEBE8"/>
                </a:solidFill>
                <a:latin typeface="Calibri" pitchFamily="34" charset="0"/>
                <a:ea typeface="Calibri" pitchFamily="34" charset="-122"/>
                <a:cs typeface="Calibri" pitchFamily="34" charset="-120"/>
              </a:rPr>
              <a:t>Evidence-backed planning, tender design and monitoring for World Bank projects, built and measured on Databricks</a:t>
            </a:r>
            <a:endParaRPr lang="en-US" sz="2000" dirty="0"/>
          </a:p>
        </p:txBody>
      </p:sp>
      <p:sp>
        <p:nvSpPr>
          <p:cNvPr id="4" name="step Plan"/>
          <p:cNvSpPr/>
          <p:nvPr/>
        </p:nvSpPr>
        <p:spPr>
          <a:xfrm>
            <a:off x="640080" y="4800600"/>
            <a:ext cx="384048" cy="384048"/>
          </a:xfrm>
          <a:prstGeom prst="ellipse">
            <a:avLst/>
          </a:prstGeom>
          <a:solidFill>
            <a:srgbClr val="F3B23C"/>
          </a:solidFill>
          <a:ln w="19050">
            <a:solidFill>
              <a:srgbClr val="F3B23C"/>
            </a:solidFill>
            <a:prstDash val="solid"/>
          </a:ln>
        </p:spPr>
      </p:sp>
      <p:sp>
        <p:nvSpPr>
          <p:cNvPr id="5" name="Text 3"/>
          <p:cNvSpPr txBox="1"/>
          <p:nvPr/>
        </p:nvSpPr>
        <p:spPr>
          <a:xfrm>
            <a:off x="1143000" y="4800600"/>
            <a:ext cx="1463040" cy="384048"/>
          </a:xfrm>
          <a:prstGeom prst="rect">
            <a:avLst/>
          </a:prstGeom>
          <a:noFill/>
          <a:ln/>
        </p:spPr>
        <p:txBody>
          <a:bodyPr wrap="square" lIns="0" tIns="0" rIns="0" bIns="0" rtlCol="0" anchor="ctr"/>
          <a:lstStyle/>
          <a:p>
            <a:pPr algn="l" indent="0" marL="0">
              <a:buNone/>
            </a:pPr>
            <a:r>
              <a:rPr lang="en-US" sz="1500" dirty="0">
                <a:solidFill>
                  <a:srgbClr val="FFFFFF"/>
                </a:solidFill>
                <a:latin typeface="Calibri" pitchFamily="34" charset="0"/>
                <a:ea typeface="Calibri" pitchFamily="34" charset="-122"/>
                <a:cs typeface="Calibri" pitchFamily="34" charset="-120"/>
              </a:rPr>
              <a:t>Plan</a:t>
            </a:r>
            <a:endParaRPr lang="en-US" sz="1500" dirty="0"/>
          </a:p>
        </p:txBody>
      </p:sp>
      <p:sp>
        <p:nvSpPr>
          <p:cNvPr id="6" name="step Tender design"/>
          <p:cNvSpPr/>
          <p:nvPr/>
        </p:nvSpPr>
        <p:spPr>
          <a:xfrm>
            <a:off x="2651760" y="4800600"/>
            <a:ext cx="384048" cy="384048"/>
          </a:xfrm>
          <a:prstGeom prst="ellipse">
            <a:avLst/>
          </a:prstGeom>
          <a:solidFill>
            <a:srgbClr val="0F5257"/>
          </a:solidFill>
          <a:ln w="19050">
            <a:solidFill>
              <a:srgbClr val="F3B23C"/>
            </a:solidFill>
            <a:prstDash val="solid"/>
          </a:ln>
        </p:spPr>
      </p:sp>
      <p:sp>
        <p:nvSpPr>
          <p:cNvPr id="7" name="Text 5"/>
          <p:cNvSpPr txBox="1"/>
          <p:nvPr/>
        </p:nvSpPr>
        <p:spPr>
          <a:xfrm>
            <a:off x="3154680" y="4800600"/>
            <a:ext cx="1463040" cy="384048"/>
          </a:xfrm>
          <a:prstGeom prst="rect">
            <a:avLst/>
          </a:prstGeom>
          <a:noFill/>
          <a:ln/>
        </p:spPr>
        <p:txBody>
          <a:bodyPr wrap="square" lIns="0" tIns="0" rIns="0" bIns="0" rtlCol="0" anchor="ctr"/>
          <a:lstStyle/>
          <a:p>
            <a:pPr algn="l" indent="0" marL="0">
              <a:buNone/>
            </a:pPr>
            <a:r>
              <a:rPr lang="en-US" sz="1500" dirty="0">
                <a:solidFill>
                  <a:srgbClr val="FFFFFF"/>
                </a:solidFill>
                <a:latin typeface="Calibri" pitchFamily="34" charset="0"/>
                <a:ea typeface="Calibri" pitchFamily="34" charset="-122"/>
                <a:cs typeface="Calibri" pitchFamily="34" charset="-120"/>
              </a:rPr>
              <a:t>Tender design</a:t>
            </a:r>
            <a:endParaRPr lang="en-US" sz="1500" dirty="0"/>
          </a:p>
        </p:txBody>
      </p:sp>
      <p:sp>
        <p:nvSpPr>
          <p:cNvPr id="8" name="step Monitor"/>
          <p:cNvSpPr/>
          <p:nvPr/>
        </p:nvSpPr>
        <p:spPr>
          <a:xfrm>
            <a:off x="4663440" y="4800600"/>
            <a:ext cx="384048" cy="384048"/>
          </a:xfrm>
          <a:prstGeom prst="ellipse">
            <a:avLst/>
          </a:prstGeom>
          <a:solidFill>
            <a:srgbClr val="0F5257"/>
          </a:solidFill>
          <a:ln w="19050">
            <a:solidFill>
              <a:srgbClr val="F3B23C"/>
            </a:solidFill>
            <a:prstDash val="solid"/>
          </a:ln>
        </p:spPr>
      </p:sp>
      <p:sp>
        <p:nvSpPr>
          <p:cNvPr id="9" name="Text 7"/>
          <p:cNvSpPr txBox="1"/>
          <p:nvPr/>
        </p:nvSpPr>
        <p:spPr>
          <a:xfrm>
            <a:off x="5166360" y="4800600"/>
            <a:ext cx="1463040" cy="384048"/>
          </a:xfrm>
          <a:prstGeom prst="rect">
            <a:avLst/>
          </a:prstGeom>
          <a:noFill/>
          <a:ln/>
        </p:spPr>
        <p:txBody>
          <a:bodyPr wrap="square" lIns="0" tIns="0" rIns="0" bIns="0" rtlCol="0" anchor="ctr"/>
          <a:lstStyle/>
          <a:p>
            <a:pPr algn="l" indent="0" marL="0">
              <a:buNone/>
            </a:pPr>
            <a:r>
              <a:rPr lang="en-US" sz="1500" dirty="0">
                <a:solidFill>
                  <a:srgbClr val="FFFFFF"/>
                </a:solidFill>
                <a:latin typeface="Calibri" pitchFamily="34" charset="0"/>
                <a:ea typeface="Calibri" pitchFamily="34" charset="-122"/>
                <a:cs typeface="Calibri" pitchFamily="34" charset="-120"/>
              </a:rPr>
              <a:t>Monitor</a:t>
            </a:r>
            <a:endParaRPr lang="en-US" sz="1500" dirty="0"/>
          </a:p>
        </p:txBody>
      </p:sp>
      <p:sp>
        <p:nvSpPr>
          <p:cNvPr id="10" name="step Learn"/>
          <p:cNvSpPr/>
          <p:nvPr/>
        </p:nvSpPr>
        <p:spPr>
          <a:xfrm>
            <a:off x="6675120" y="4800600"/>
            <a:ext cx="384048" cy="384048"/>
          </a:xfrm>
          <a:prstGeom prst="ellipse">
            <a:avLst/>
          </a:prstGeom>
          <a:solidFill>
            <a:srgbClr val="0F5257"/>
          </a:solidFill>
          <a:ln w="19050">
            <a:solidFill>
              <a:srgbClr val="F3B23C"/>
            </a:solidFill>
            <a:prstDash val="solid"/>
          </a:ln>
        </p:spPr>
      </p:sp>
      <p:sp>
        <p:nvSpPr>
          <p:cNvPr id="11" name="Text 9"/>
          <p:cNvSpPr txBox="1"/>
          <p:nvPr/>
        </p:nvSpPr>
        <p:spPr>
          <a:xfrm>
            <a:off x="7178040" y="4800600"/>
            <a:ext cx="1463040" cy="384048"/>
          </a:xfrm>
          <a:prstGeom prst="rect">
            <a:avLst/>
          </a:prstGeom>
          <a:noFill/>
          <a:ln/>
        </p:spPr>
        <p:txBody>
          <a:bodyPr wrap="square" lIns="0" tIns="0" rIns="0" bIns="0" rtlCol="0" anchor="ctr"/>
          <a:lstStyle/>
          <a:p>
            <a:pPr algn="l" indent="0" marL="0">
              <a:buNone/>
            </a:pPr>
            <a:r>
              <a:rPr lang="en-US" sz="1500" dirty="0">
                <a:solidFill>
                  <a:srgbClr val="FFFFFF"/>
                </a:solidFill>
                <a:latin typeface="Calibri" pitchFamily="34" charset="0"/>
                <a:ea typeface="Calibri" pitchFamily="34" charset="-122"/>
                <a:cs typeface="Calibri" pitchFamily="34" charset="-120"/>
              </a:rPr>
              <a:t>Learn</a:t>
            </a:r>
            <a:endParaRPr lang="en-US" sz="1500" dirty="0"/>
          </a:p>
        </p:txBody>
      </p:sp>
      <p:sp>
        <p:nvSpPr>
          <p:cNvPr id="12" name="Text 10"/>
          <p:cNvSpPr txBox="1"/>
          <p:nvPr/>
        </p:nvSpPr>
        <p:spPr>
          <a:xfrm>
            <a:off x="640080" y="5989320"/>
            <a:ext cx="7315200" cy="365760"/>
          </a:xfrm>
          <a:prstGeom prst="rect">
            <a:avLst/>
          </a:prstGeom>
          <a:noFill/>
          <a:ln/>
        </p:spPr>
        <p:txBody>
          <a:bodyPr wrap="square" lIns="0" tIns="0" rIns="0" bIns="0" rtlCol="0" anchor="t"/>
          <a:lstStyle/>
          <a:p>
            <a:pPr algn="l" indent="0" marL="0">
              <a:buNone/>
            </a:pPr>
            <a:r>
              <a:rPr lang="en-US" sz="1300" dirty="0">
                <a:solidFill>
                  <a:srgbClr val="B9D3CF"/>
                </a:solidFill>
                <a:latin typeface="Calibri" pitchFamily="34" charset="0"/>
                <a:ea typeface="Calibri" pitchFamily="34" charset="-122"/>
                <a:cs typeface="Calibri" pitchFamily="34" charset="-120"/>
              </a:rPr>
              <a:t>Technical assessment · Dhruv Agrawal · October 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7680960" cy="822960"/>
          </a:xfrm>
          <a:prstGeom prst="rect">
            <a:avLst/>
          </a:prstGeom>
          <a:noFill/>
          <a:ln/>
        </p:spPr>
        <p:txBody>
          <a:bodyPr wrap="square" lIns="0" tIns="0" rIns="0" bIns="0" rtlCol="0" anchor="ctr"/>
          <a:lstStyle/>
          <a:p>
            <a:pPr algn="l" indent="0" marL="0">
              <a:buNone/>
            </a:pPr>
            <a:r>
              <a:rPr lang="en-US" sz="3000" b="1" dirty="0">
                <a:solidFill>
                  <a:srgbClr val="0F5257"/>
                </a:solidFill>
                <a:latin typeface="Cambria" pitchFamily="34" charset="0"/>
                <a:ea typeface="Cambria" pitchFamily="34" charset="-122"/>
                <a:cs typeface="Cambria" pitchFamily="34" charset="-120"/>
              </a:rPr>
              <a:t>Knowledge sits in three silos</a:t>
            </a:r>
            <a:endParaRPr lang="en-US" sz="3000" dirty="0"/>
          </a:p>
        </p:txBody>
      </p:sp>
      <p:sp>
        <p:nvSpPr>
          <p:cNvPr id="3" name="card"/>
          <p:cNvSpPr/>
          <p:nvPr/>
        </p:nvSpPr>
        <p:spPr>
          <a:xfrm>
            <a:off x="548640" y="1508760"/>
            <a:ext cx="3474720" cy="2103120"/>
          </a:xfrm>
          <a:prstGeom prst="roundRect">
            <a:avLst>
              <a:gd name="adj" fmla="val 3478"/>
            </a:avLst>
          </a:prstGeom>
          <a:solidFill>
            <a:srgbClr val="EEF4F3"/>
          </a:solidFill>
          <a:ln w="12700">
            <a:solidFill>
              <a:srgbClr val="EEF4F3"/>
            </a:solidFill>
            <a:prstDash val="solid"/>
          </a:ln>
        </p:spPr>
      </p:sp>
      <p:sp>
        <p:nvSpPr>
          <p:cNvPr id="4" name="Text 2"/>
          <p:cNvSpPr txBox="1"/>
          <p:nvPr/>
        </p:nvSpPr>
        <p:spPr>
          <a:xfrm>
            <a:off x="822960" y="1691640"/>
            <a:ext cx="2926080" cy="274320"/>
          </a:xfrm>
          <a:prstGeom prst="rect">
            <a:avLst/>
          </a:prstGeom>
          <a:noFill/>
          <a:ln/>
        </p:spPr>
        <p:txBody>
          <a:bodyPr wrap="square" lIns="0" tIns="0" rIns="0" bIns="0" rtlCol="0" anchor="t"/>
          <a:lstStyle/>
          <a:p>
            <a:pPr algn="l" indent="0" marL="0">
              <a:buNone/>
            </a:pPr>
            <a:r>
              <a:rPr lang="en-US" sz="1100" b="1" dirty="0">
                <a:solidFill>
                  <a:srgbClr val="5E8C87"/>
                </a:solidFill>
                <a:latin typeface="Calibri" pitchFamily="34" charset="0"/>
                <a:ea typeface="Calibri" pitchFamily="34" charset="-122"/>
                <a:cs typeface="Calibri" pitchFamily="34" charset="-120"/>
              </a:rPr>
              <a:t>STRUCTURED</a:t>
            </a:r>
            <a:endParaRPr lang="en-US" sz="1100" dirty="0"/>
          </a:p>
        </p:txBody>
      </p:sp>
      <p:sp>
        <p:nvSpPr>
          <p:cNvPr id="5" name="Text 3"/>
          <p:cNvSpPr txBox="1"/>
          <p:nvPr/>
        </p:nvSpPr>
        <p:spPr>
          <a:xfrm>
            <a:off x="822960" y="2011680"/>
            <a:ext cx="2926080" cy="457200"/>
          </a:xfrm>
          <a:prstGeom prst="rect">
            <a:avLst/>
          </a:prstGeom>
          <a:noFill/>
          <a:ln/>
        </p:spPr>
        <p:txBody>
          <a:bodyPr wrap="square" lIns="0" tIns="0" rIns="0" bIns="0" rtlCol="0" anchor="t"/>
          <a:lstStyle/>
          <a:p>
            <a:pPr algn="l" indent="0" marL="0">
              <a:buNone/>
            </a:pPr>
            <a:r>
              <a:rPr lang="en-US" sz="2000" b="1" dirty="0">
                <a:solidFill>
                  <a:srgbClr val="0F5257"/>
                </a:solidFill>
                <a:latin typeface="Calibri" pitchFamily="34" charset="0"/>
                <a:ea typeface="Calibri" pitchFamily="34" charset="-122"/>
                <a:cs typeface="Calibri" pitchFamily="34" charset="-120"/>
              </a:rPr>
              <a:t>What happened</a:t>
            </a:r>
            <a:endParaRPr lang="en-US" sz="2000" dirty="0"/>
          </a:p>
        </p:txBody>
      </p:sp>
      <p:sp>
        <p:nvSpPr>
          <p:cNvPr id="6" name="Text 4"/>
          <p:cNvSpPr txBox="1"/>
          <p:nvPr/>
        </p:nvSpPr>
        <p:spPr>
          <a:xfrm>
            <a:off x="822960" y="2606040"/>
            <a:ext cx="2926080" cy="822960"/>
          </a:xfrm>
          <a:prstGeom prst="rect">
            <a:avLst/>
          </a:prstGeom>
          <a:noFill/>
          <a:ln/>
        </p:spPr>
        <p:txBody>
          <a:bodyPr wrap="square" lIns="0" tIns="0" rIns="0" bIns="0" rtlCol="0" anchor="t"/>
          <a:lstStyle/>
          <a:p>
            <a:pPr algn="l" indent="0" marL="0">
              <a:buNone/>
            </a:pPr>
            <a:r>
              <a:rPr lang="en-US" sz="1500" dirty="0">
                <a:solidFill>
                  <a:srgbClr val="1B2A2E"/>
                </a:solidFill>
                <a:latin typeface="Calibri" pitchFamily="34" charset="0"/>
                <a:ea typeface="Calibri" pitchFamily="34" charset="-122"/>
                <a:cs typeface="Calibri" pitchFamily="34" charset="-120"/>
              </a:rPr>
              <a:t>Contract awards, projects, disbursements, notices</a:t>
            </a:r>
            <a:endParaRPr lang="en-US" sz="1500" dirty="0"/>
          </a:p>
        </p:txBody>
      </p:sp>
      <p:sp>
        <p:nvSpPr>
          <p:cNvPr id="7" name="card"/>
          <p:cNvSpPr/>
          <p:nvPr/>
        </p:nvSpPr>
        <p:spPr>
          <a:xfrm>
            <a:off x="4297680" y="1508760"/>
            <a:ext cx="3474720" cy="2103120"/>
          </a:xfrm>
          <a:prstGeom prst="roundRect">
            <a:avLst>
              <a:gd name="adj" fmla="val 3478"/>
            </a:avLst>
          </a:prstGeom>
          <a:solidFill>
            <a:srgbClr val="EEF4F3"/>
          </a:solidFill>
          <a:ln w="12700">
            <a:solidFill>
              <a:srgbClr val="EEF4F3"/>
            </a:solidFill>
            <a:prstDash val="solid"/>
          </a:ln>
        </p:spPr>
      </p:sp>
      <p:sp>
        <p:nvSpPr>
          <p:cNvPr id="8" name="Text 6"/>
          <p:cNvSpPr txBox="1"/>
          <p:nvPr/>
        </p:nvSpPr>
        <p:spPr>
          <a:xfrm>
            <a:off x="4572000" y="1691640"/>
            <a:ext cx="2926080" cy="274320"/>
          </a:xfrm>
          <a:prstGeom prst="rect">
            <a:avLst/>
          </a:prstGeom>
          <a:noFill/>
          <a:ln/>
        </p:spPr>
        <p:txBody>
          <a:bodyPr wrap="square" lIns="0" tIns="0" rIns="0" bIns="0" rtlCol="0" anchor="t"/>
          <a:lstStyle/>
          <a:p>
            <a:pPr algn="l" indent="0" marL="0">
              <a:buNone/>
            </a:pPr>
            <a:r>
              <a:rPr lang="en-US" sz="1100" b="1" dirty="0">
                <a:solidFill>
                  <a:srgbClr val="5E8C87"/>
                </a:solidFill>
                <a:latin typeface="Calibri" pitchFamily="34" charset="0"/>
                <a:ea typeface="Calibri" pitchFamily="34" charset="-122"/>
                <a:cs typeface="Calibri" pitchFamily="34" charset="-120"/>
              </a:rPr>
              <a:t>SEMI-STRUCTURED</a:t>
            </a:r>
            <a:endParaRPr lang="en-US" sz="1100" dirty="0"/>
          </a:p>
        </p:txBody>
      </p:sp>
      <p:sp>
        <p:nvSpPr>
          <p:cNvPr id="9" name="Text 7"/>
          <p:cNvSpPr txBox="1"/>
          <p:nvPr/>
        </p:nvSpPr>
        <p:spPr>
          <a:xfrm>
            <a:off x="4572000" y="2011680"/>
            <a:ext cx="2926080" cy="457200"/>
          </a:xfrm>
          <a:prstGeom prst="rect">
            <a:avLst/>
          </a:prstGeom>
          <a:noFill/>
          <a:ln/>
        </p:spPr>
        <p:txBody>
          <a:bodyPr wrap="square" lIns="0" tIns="0" rIns="0" bIns="0" rtlCol="0" anchor="t"/>
          <a:lstStyle/>
          <a:p>
            <a:pPr algn="l" indent="0" marL="0">
              <a:buNone/>
            </a:pPr>
            <a:r>
              <a:rPr lang="en-US" sz="2000" b="1" dirty="0">
                <a:solidFill>
                  <a:srgbClr val="0F5257"/>
                </a:solidFill>
                <a:latin typeface="Calibri" pitchFamily="34" charset="0"/>
                <a:ea typeface="Calibri" pitchFamily="34" charset="-122"/>
                <a:cs typeface="Calibri" pitchFamily="34" charset="-120"/>
              </a:rPr>
              <a:t>How it was executed</a:t>
            </a:r>
            <a:endParaRPr lang="en-US" sz="2000" dirty="0"/>
          </a:p>
        </p:txBody>
      </p:sp>
      <p:sp>
        <p:nvSpPr>
          <p:cNvPr id="10" name="Text 8"/>
          <p:cNvSpPr txBox="1"/>
          <p:nvPr/>
        </p:nvSpPr>
        <p:spPr>
          <a:xfrm>
            <a:off x="4572000" y="2606040"/>
            <a:ext cx="2926080" cy="822960"/>
          </a:xfrm>
          <a:prstGeom prst="rect">
            <a:avLst/>
          </a:prstGeom>
          <a:noFill/>
          <a:ln/>
        </p:spPr>
        <p:txBody>
          <a:bodyPr wrap="square" lIns="0" tIns="0" rIns="0" bIns="0" rtlCol="0" anchor="t"/>
          <a:lstStyle/>
          <a:p>
            <a:pPr algn="l" indent="0" marL="0">
              <a:buNone/>
            </a:pPr>
            <a:r>
              <a:rPr lang="en-US" sz="1500" dirty="0">
                <a:solidFill>
                  <a:srgbClr val="1B2A2E"/>
                </a:solidFill>
                <a:latin typeface="Calibri" pitchFamily="34" charset="0"/>
                <a:ea typeface="Calibri" pitchFamily="34" charset="-122"/>
                <a:cs typeface="Calibri" pitchFamily="34" charset="-120"/>
              </a:rPr>
              <a:t>ISRs, procurement plans, REOI / IFB notices</a:t>
            </a:r>
            <a:endParaRPr lang="en-US" sz="1500" dirty="0"/>
          </a:p>
        </p:txBody>
      </p:sp>
      <p:sp>
        <p:nvSpPr>
          <p:cNvPr id="11" name="card"/>
          <p:cNvSpPr/>
          <p:nvPr/>
        </p:nvSpPr>
        <p:spPr>
          <a:xfrm>
            <a:off x="8046720" y="1508760"/>
            <a:ext cx="3474720" cy="2103120"/>
          </a:xfrm>
          <a:prstGeom prst="roundRect">
            <a:avLst>
              <a:gd name="adj" fmla="val 3478"/>
            </a:avLst>
          </a:prstGeom>
          <a:solidFill>
            <a:srgbClr val="EEF4F3"/>
          </a:solidFill>
          <a:ln w="12700">
            <a:solidFill>
              <a:srgbClr val="EEF4F3"/>
            </a:solidFill>
            <a:prstDash val="solid"/>
          </a:ln>
        </p:spPr>
      </p:sp>
      <p:sp>
        <p:nvSpPr>
          <p:cNvPr id="12" name="Text 10"/>
          <p:cNvSpPr txBox="1"/>
          <p:nvPr/>
        </p:nvSpPr>
        <p:spPr>
          <a:xfrm>
            <a:off x="8321040" y="1691640"/>
            <a:ext cx="2926080" cy="274320"/>
          </a:xfrm>
          <a:prstGeom prst="rect">
            <a:avLst/>
          </a:prstGeom>
          <a:noFill/>
          <a:ln/>
        </p:spPr>
        <p:txBody>
          <a:bodyPr wrap="square" lIns="0" tIns="0" rIns="0" bIns="0" rtlCol="0" anchor="t"/>
          <a:lstStyle/>
          <a:p>
            <a:pPr algn="l" indent="0" marL="0">
              <a:buNone/>
            </a:pPr>
            <a:r>
              <a:rPr lang="en-US" sz="1100" b="1" dirty="0">
                <a:solidFill>
                  <a:srgbClr val="5E8C87"/>
                </a:solidFill>
                <a:latin typeface="Calibri" pitchFamily="34" charset="0"/>
                <a:ea typeface="Calibri" pitchFamily="34" charset="-122"/>
                <a:cs typeface="Calibri" pitchFamily="34" charset="-120"/>
              </a:rPr>
              <a:t>UNSTRUCTURED</a:t>
            </a:r>
            <a:endParaRPr lang="en-US" sz="1100" dirty="0"/>
          </a:p>
        </p:txBody>
      </p:sp>
      <p:sp>
        <p:nvSpPr>
          <p:cNvPr id="13" name="Text 11"/>
          <p:cNvSpPr txBox="1"/>
          <p:nvPr/>
        </p:nvSpPr>
        <p:spPr>
          <a:xfrm>
            <a:off x="8321040" y="2011680"/>
            <a:ext cx="2926080" cy="457200"/>
          </a:xfrm>
          <a:prstGeom prst="rect">
            <a:avLst/>
          </a:prstGeom>
          <a:noFill/>
          <a:ln/>
        </p:spPr>
        <p:txBody>
          <a:bodyPr wrap="square" lIns="0" tIns="0" rIns="0" bIns="0" rtlCol="0" anchor="t"/>
          <a:lstStyle/>
          <a:p>
            <a:pPr algn="l" indent="0" marL="0">
              <a:buNone/>
            </a:pPr>
            <a:r>
              <a:rPr lang="en-US" sz="2000" b="1" dirty="0">
                <a:solidFill>
                  <a:srgbClr val="0F5257"/>
                </a:solidFill>
                <a:latin typeface="Calibri" pitchFamily="34" charset="0"/>
                <a:ea typeface="Calibri" pitchFamily="34" charset="-122"/>
                <a:cs typeface="Calibri" pitchFamily="34" charset="-120"/>
              </a:rPr>
              <a:t>Why it succeeded or failed</a:t>
            </a:r>
            <a:endParaRPr lang="en-US" sz="2000" dirty="0"/>
          </a:p>
        </p:txBody>
      </p:sp>
      <p:sp>
        <p:nvSpPr>
          <p:cNvPr id="14" name="Text 12"/>
          <p:cNvSpPr txBox="1"/>
          <p:nvPr/>
        </p:nvSpPr>
        <p:spPr>
          <a:xfrm>
            <a:off x="8321040" y="2606040"/>
            <a:ext cx="2926080" cy="822960"/>
          </a:xfrm>
          <a:prstGeom prst="rect">
            <a:avLst/>
          </a:prstGeom>
          <a:noFill/>
          <a:ln/>
        </p:spPr>
        <p:txBody>
          <a:bodyPr wrap="square" lIns="0" tIns="0" rIns="0" bIns="0" rtlCol="0" anchor="t"/>
          <a:lstStyle/>
          <a:p>
            <a:pPr algn="l" indent="0" marL="0">
              <a:buNone/>
            </a:pPr>
            <a:r>
              <a:rPr lang="en-US" sz="1500" dirty="0">
                <a:solidFill>
                  <a:srgbClr val="1B2A2E"/>
                </a:solidFill>
                <a:latin typeface="Calibri" pitchFamily="34" charset="0"/>
                <a:ea typeface="Calibri" pitchFamily="34" charset="-122"/>
                <a:cs typeface="Calibri" pitchFamily="34" charset="-120"/>
              </a:rPr>
              <a:t>PADs, ICRs, IEG reviews, CPFs</a:t>
            </a:r>
            <a:endParaRPr lang="en-US" sz="1500" dirty="0"/>
          </a:p>
        </p:txBody>
      </p:sp>
      <p:sp>
        <p:nvSpPr>
          <p:cNvPr id="15" name="Text 13"/>
          <p:cNvSpPr txBox="1"/>
          <p:nvPr/>
        </p:nvSpPr>
        <p:spPr>
          <a:xfrm>
            <a:off x="548640" y="3977640"/>
            <a:ext cx="7315200" cy="365760"/>
          </a:xfrm>
          <a:prstGeom prst="rect">
            <a:avLst/>
          </a:prstGeom>
          <a:noFill/>
          <a:ln/>
        </p:spPr>
        <p:txBody>
          <a:bodyPr wrap="square" lIns="0" tIns="0" rIns="0" bIns="0" rtlCol="0" anchor="t"/>
          <a:lstStyle/>
          <a:p>
            <a:pPr algn="l" indent="0" marL="0">
              <a:buNone/>
            </a:pPr>
            <a:r>
              <a:rPr lang="en-US" sz="1600" b="1" dirty="0">
                <a:solidFill>
                  <a:srgbClr val="1B2A2E"/>
                </a:solidFill>
                <a:latin typeface="Calibri" pitchFamily="34" charset="0"/>
                <a:ea typeface="Calibri" pitchFamily="34" charset="-122"/>
                <a:cs typeface="Calibri" pitchFamily="34" charset="-120"/>
              </a:rPr>
              <a:t>The officer's journey: each step needs all three</a:t>
            </a:r>
            <a:endParaRPr lang="en-US" sz="1600" dirty="0"/>
          </a:p>
        </p:txBody>
      </p:sp>
      <p:sp>
        <p:nvSpPr>
          <p:cNvPr id="16" name="chevron Plan"/>
          <p:cNvSpPr/>
          <p:nvPr/>
        </p:nvSpPr>
        <p:spPr>
          <a:xfrm>
            <a:off x="548640" y="4526280"/>
            <a:ext cx="2697480" cy="685800"/>
          </a:xfrm>
          <a:prstGeom prst="chevron">
            <a:avLst/>
          </a:prstGeom>
          <a:solidFill>
            <a:srgbClr val="0F5257"/>
          </a:solidFill>
          <a:ln w="12700">
            <a:solidFill>
              <a:srgbClr val="FFFFFF"/>
            </a:solidFill>
            <a:prstDash val="solid"/>
          </a:ln>
        </p:spPr>
      </p:sp>
      <p:sp>
        <p:nvSpPr>
          <p:cNvPr id="17" name="Text 15"/>
          <p:cNvSpPr txBox="1"/>
          <p:nvPr/>
        </p:nvSpPr>
        <p:spPr>
          <a:xfrm>
            <a:off x="1051560" y="4526280"/>
            <a:ext cx="2011680" cy="685800"/>
          </a:xfrm>
          <a:prstGeom prst="rect">
            <a:avLst/>
          </a:prstGeom>
          <a:noFill/>
          <a:ln/>
        </p:spPr>
        <p:txBody>
          <a:bodyPr wrap="square" lIns="0" tIns="0" rIns="0" bIns="0" rtlCol="0" anchor="ctr"/>
          <a:lstStyle/>
          <a:p>
            <a:pPr algn="l" indent="0" marL="0">
              <a:buNone/>
            </a:pPr>
            <a:r>
              <a:rPr lang="en-US" sz="1600" b="1" dirty="0">
                <a:solidFill>
                  <a:srgbClr val="FFFFFF"/>
                </a:solidFill>
                <a:latin typeface="Calibri" pitchFamily="34" charset="0"/>
                <a:ea typeface="Calibri" pitchFamily="34" charset="-122"/>
                <a:cs typeface="Calibri" pitchFamily="34" charset="-120"/>
              </a:rPr>
              <a:t>1  Plan</a:t>
            </a:r>
            <a:endParaRPr lang="en-US" sz="1600" dirty="0"/>
          </a:p>
        </p:txBody>
      </p:sp>
      <p:sp>
        <p:nvSpPr>
          <p:cNvPr id="18" name="Text 16"/>
          <p:cNvSpPr txBox="1"/>
          <p:nvPr/>
        </p:nvSpPr>
        <p:spPr>
          <a:xfrm>
            <a:off x="640080" y="5349240"/>
            <a:ext cx="2514600" cy="731520"/>
          </a:xfrm>
          <a:prstGeom prst="rect">
            <a:avLst/>
          </a:prstGeom>
          <a:noFill/>
          <a:ln/>
        </p:spPr>
        <p:txBody>
          <a:bodyPr wrap="square" lIns="0" tIns="0" rIns="0" bIns="0" rtlCol="0" anchor="t"/>
          <a:lstStyle/>
          <a:p>
            <a:pPr algn="l" indent="0" marL="0">
              <a:buNone/>
            </a:pPr>
            <a:r>
              <a:rPr lang="en-US" sz="1300" dirty="0">
                <a:solidFill>
                  <a:srgbClr val="5B6B6E"/>
                </a:solidFill>
                <a:latin typeface="Calibri" pitchFamily="34" charset="0"/>
                <a:ea typeface="Calibri" pitchFamily="34" charset="-122"/>
                <a:cs typeface="Calibri" pitchFamily="34" charset="-120"/>
              </a:rPr>
              <a:t>How long, which method, what risk?</a:t>
            </a:r>
            <a:endParaRPr lang="en-US" sz="1300" dirty="0"/>
          </a:p>
        </p:txBody>
      </p:sp>
      <p:sp>
        <p:nvSpPr>
          <p:cNvPr id="19" name="chevron Tender design"/>
          <p:cNvSpPr/>
          <p:nvPr/>
        </p:nvSpPr>
        <p:spPr>
          <a:xfrm>
            <a:off x="3364992" y="4526280"/>
            <a:ext cx="2697480" cy="685800"/>
          </a:xfrm>
          <a:prstGeom prst="chevron">
            <a:avLst/>
          </a:prstGeom>
          <a:solidFill>
            <a:srgbClr val="0F5257"/>
          </a:solidFill>
          <a:ln w="12700">
            <a:solidFill>
              <a:srgbClr val="FFFFFF"/>
            </a:solidFill>
            <a:prstDash val="solid"/>
          </a:ln>
        </p:spPr>
      </p:sp>
      <p:sp>
        <p:nvSpPr>
          <p:cNvPr id="20" name="Text 18"/>
          <p:cNvSpPr txBox="1"/>
          <p:nvPr/>
        </p:nvSpPr>
        <p:spPr>
          <a:xfrm>
            <a:off x="3867912" y="4526280"/>
            <a:ext cx="2011680" cy="685800"/>
          </a:xfrm>
          <a:prstGeom prst="rect">
            <a:avLst/>
          </a:prstGeom>
          <a:noFill/>
          <a:ln/>
        </p:spPr>
        <p:txBody>
          <a:bodyPr wrap="square" lIns="0" tIns="0" rIns="0" bIns="0" rtlCol="0" anchor="ctr"/>
          <a:lstStyle/>
          <a:p>
            <a:pPr algn="l" indent="0" marL="0">
              <a:buNone/>
            </a:pPr>
            <a:r>
              <a:rPr lang="en-US" sz="1600" b="1" dirty="0">
                <a:solidFill>
                  <a:srgbClr val="FFFFFF"/>
                </a:solidFill>
                <a:latin typeface="Calibri" pitchFamily="34" charset="0"/>
                <a:ea typeface="Calibri" pitchFamily="34" charset="-122"/>
                <a:cs typeface="Calibri" pitchFamily="34" charset="-120"/>
              </a:rPr>
              <a:t>2  Tender design</a:t>
            </a:r>
            <a:endParaRPr lang="en-US" sz="1600" dirty="0"/>
          </a:p>
        </p:txBody>
      </p:sp>
      <p:sp>
        <p:nvSpPr>
          <p:cNvPr id="21" name="Text 19"/>
          <p:cNvSpPr txBox="1"/>
          <p:nvPr/>
        </p:nvSpPr>
        <p:spPr>
          <a:xfrm>
            <a:off x="3456432" y="5349240"/>
            <a:ext cx="2514600" cy="731520"/>
          </a:xfrm>
          <a:prstGeom prst="rect">
            <a:avLst/>
          </a:prstGeom>
          <a:noFill/>
          <a:ln/>
        </p:spPr>
        <p:txBody>
          <a:bodyPr wrap="square" lIns="0" tIns="0" rIns="0" bIns="0" rtlCol="0" anchor="t"/>
          <a:lstStyle/>
          <a:p>
            <a:pPr algn="l" indent="0" marL="0">
              <a:buNone/>
            </a:pPr>
            <a:r>
              <a:rPr lang="en-US" sz="1300" dirty="0">
                <a:solidFill>
                  <a:srgbClr val="5B6B6E"/>
                </a:solidFill>
                <a:latin typeface="Calibri" pitchFamily="34" charset="0"/>
                <a:ea typeface="Calibri" pitchFamily="34" charset="-122"/>
                <a:cs typeface="Calibri" pitchFamily="34" charset="-120"/>
              </a:rPr>
              <a:t>Scope, criteria, lots: what went wrong before?</a:t>
            </a:r>
            <a:endParaRPr lang="en-US" sz="1300" dirty="0"/>
          </a:p>
        </p:txBody>
      </p:sp>
      <p:sp>
        <p:nvSpPr>
          <p:cNvPr id="22" name="chevron Monitor"/>
          <p:cNvSpPr/>
          <p:nvPr/>
        </p:nvSpPr>
        <p:spPr>
          <a:xfrm>
            <a:off x="6181344" y="4526280"/>
            <a:ext cx="2697480" cy="685800"/>
          </a:xfrm>
          <a:prstGeom prst="chevron">
            <a:avLst/>
          </a:prstGeom>
          <a:solidFill>
            <a:srgbClr val="0F5257"/>
          </a:solidFill>
          <a:ln w="12700">
            <a:solidFill>
              <a:srgbClr val="FFFFFF"/>
            </a:solidFill>
            <a:prstDash val="solid"/>
          </a:ln>
        </p:spPr>
      </p:sp>
      <p:sp>
        <p:nvSpPr>
          <p:cNvPr id="23" name="Text 21"/>
          <p:cNvSpPr txBox="1"/>
          <p:nvPr/>
        </p:nvSpPr>
        <p:spPr>
          <a:xfrm>
            <a:off x="6684264" y="4526280"/>
            <a:ext cx="2011680" cy="685800"/>
          </a:xfrm>
          <a:prstGeom prst="rect">
            <a:avLst/>
          </a:prstGeom>
          <a:noFill/>
          <a:ln/>
        </p:spPr>
        <p:txBody>
          <a:bodyPr wrap="square" lIns="0" tIns="0" rIns="0" bIns="0" rtlCol="0" anchor="ctr"/>
          <a:lstStyle/>
          <a:p>
            <a:pPr algn="l" indent="0" marL="0">
              <a:buNone/>
            </a:pPr>
            <a:r>
              <a:rPr lang="en-US" sz="1600" b="1" dirty="0">
                <a:solidFill>
                  <a:srgbClr val="FFFFFF"/>
                </a:solidFill>
                <a:latin typeface="Calibri" pitchFamily="34" charset="0"/>
                <a:ea typeface="Calibri" pitchFamily="34" charset="-122"/>
                <a:cs typeface="Calibri" pitchFamily="34" charset="-120"/>
              </a:rPr>
              <a:t>3  Monitor</a:t>
            </a:r>
            <a:endParaRPr lang="en-US" sz="1600" dirty="0"/>
          </a:p>
        </p:txBody>
      </p:sp>
      <p:sp>
        <p:nvSpPr>
          <p:cNvPr id="24" name="Text 22"/>
          <p:cNvSpPr txBox="1"/>
          <p:nvPr/>
        </p:nvSpPr>
        <p:spPr>
          <a:xfrm>
            <a:off x="6272784" y="5349240"/>
            <a:ext cx="2514600" cy="731520"/>
          </a:xfrm>
          <a:prstGeom prst="rect">
            <a:avLst/>
          </a:prstGeom>
          <a:noFill/>
          <a:ln/>
        </p:spPr>
        <p:txBody>
          <a:bodyPr wrap="square" lIns="0" tIns="0" rIns="0" bIns="0" rtlCol="0" anchor="t"/>
          <a:lstStyle/>
          <a:p>
            <a:pPr algn="l" indent="0" marL="0">
              <a:buNone/>
            </a:pPr>
            <a:r>
              <a:rPr lang="en-US" sz="1300" dirty="0">
                <a:solidFill>
                  <a:srgbClr val="5B6B6E"/>
                </a:solidFill>
                <a:latin typeface="Calibri" pitchFamily="34" charset="0"/>
                <a:ea typeface="Calibri" pitchFamily="34" charset="-122"/>
                <a:cs typeface="Calibri" pitchFamily="34" charset="-120"/>
              </a:rPr>
              <a:t>Which tenders and projects need a look?</a:t>
            </a:r>
            <a:endParaRPr lang="en-US" sz="1300" dirty="0"/>
          </a:p>
        </p:txBody>
      </p:sp>
      <p:sp>
        <p:nvSpPr>
          <p:cNvPr id="25" name="chevron Learn"/>
          <p:cNvSpPr/>
          <p:nvPr/>
        </p:nvSpPr>
        <p:spPr>
          <a:xfrm>
            <a:off x="8997696" y="4526280"/>
            <a:ext cx="2697480" cy="685800"/>
          </a:xfrm>
          <a:prstGeom prst="chevron">
            <a:avLst/>
          </a:prstGeom>
          <a:solidFill>
            <a:srgbClr val="5E8C87"/>
          </a:solidFill>
          <a:ln w="12700">
            <a:solidFill>
              <a:srgbClr val="FFFFFF"/>
            </a:solidFill>
            <a:prstDash val="solid"/>
          </a:ln>
        </p:spPr>
      </p:sp>
      <p:sp>
        <p:nvSpPr>
          <p:cNvPr id="26" name="Text 24"/>
          <p:cNvSpPr txBox="1"/>
          <p:nvPr/>
        </p:nvSpPr>
        <p:spPr>
          <a:xfrm>
            <a:off x="9500616" y="4526280"/>
            <a:ext cx="2011680" cy="685800"/>
          </a:xfrm>
          <a:prstGeom prst="rect">
            <a:avLst/>
          </a:prstGeom>
          <a:noFill/>
          <a:ln/>
        </p:spPr>
        <p:txBody>
          <a:bodyPr wrap="square" lIns="0" tIns="0" rIns="0" bIns="0" rtlCol="0" anchor="ctr"/>
          <a:lstStyle/>
          <a:p>
            <a:pPr algn="l" indent="0" marL="0">
              <a:buNone/>
            </a:pPr>
            <a:r>
              <a:rPr lang="en-US" sz="1600" b="1" dirty="0">
                <a:solidFill>
                  <a:srgbClr val="FFFFFF"/>
                </a:solidFill>
                <a:latin typeface="Calibri" pitchFamily="34" charset="0"/>
                <a:ea typeface="Calibri" pitchFamily="34" charset="-122"/>
                <a:cs typeface="Calibri" pitchFamily="34" charset="-120"/>
              </a:rPr>
              <a:t>4  Learn</a:t>
            </a:r>
            <a:endParaRPr lang="en-US" sz="1600" dirty="0"/>
          </a:p>
        </p:txBody>
      </p:sp>
      <p:sp>
        <p:nvSpPr>
          <p:cNvPr id="27" name="Text 25"/>
          <p:cNvSpPr txBox="1"/>
          <p:nvPr/>
        </p:nvSpPr>
        <p:spPr>
          <a:xfrm>
            <a:off x="9089136" y="5349240"/>
            <a:ext cx="2514600" cy="731520"/>
          </a:xfrm>
          <a:prstGeom prst="rect">
            <a:avLst/>
          </a:prstGeom>
          <a:noFill/>
          <a:ln/>
        </p:spPr>
        <p:txBody>
          <a:bodyPr wrap="square" lIns="0" tIns="0" rIns="0" bIns="0" rtlCol="0" anchor="t"/>
          <a:lstStyle/>
          <a:p>
            <a:pPr algn="l" indent="0" marL="0">
              <a:buNone/>
            </a:pPr>
            <a:r>
              <a:rPr lang="en-US" sz="1300" dirty="0">
                <a:solidFill>
                  <a:srgbClr val="5B6B6E"/>
                </a:solidFill>
                <a:latin typeface="Calibri" pitchFamily="34" charset="0"/>
                <a:ea typeface="Calibri" pitchFamily="34" charset="-122"/>
                <a:cs typeface="Calibri" pitchFamily="34" charset="-120"/>
              </a:rPr>
              <a:t>New reports update models and the index</a:t>
            </a:r>
            <a:endParaRPr lang="en-US" sz="13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6E"/>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7680960" cy="822960"/>
          </a:xfrm>
          <a:prstGeom prst="rect">
            <a:avLst/>
          </a:prstGeom>
          <a:noFill/>
          <a:ln/>
        </p:spPr>
        <p:txBody>
          <a:bodyPr wrap="square" lIns="0" tIns="0" rIns="0" bIns="0" rtlCol="0" anchor="ctr"/>
          <a:lstStyle/>
          <a:p>
            <a:pPr algn="l" indent="0" marL="0">
              <a:buNone/>
            </a:pPr>
            <a:r>
              <a:rPr lang="en-US" sz="3000" b="1" dirty="0">
                <a:solidFill>
                  <a:srgbClr val="0F5257"/>
                </a:solidFill>
                <a:latin typeface="Cambria" pitchFamily="34" charset="0"/>
                <a:ea typeface="Cambria" pitchFamily="34" charset="-122"/>
                <a:cs typeface="Cambria" pitchFamily="34" charset="-120"/>
              </a:rPr>
              <a:t>One Databricks workspace, four modules</a:t>
            </a:r>
            <a:endParaRPr lang="en-US" sz="3000" dirty="0"/>
          </a:p>
        </p:txBody>
      </p:sp>
      <p:sp>
        <p:nvSpPr>
          <p:cNvPr id="3" name="column Open data"/>
          <p:cNvSpPr/>
          <p:nvPr/>
        </p:nvSpPr>
        <p:spPr>
          <a:xfrm>
            <a:off x="548640" y="1417320"/>
            <a:ext cx="1965960" cy="3520440"/>
          </a:xfrm>
          <a:prstGeom prst="roundRect">
            <a:avLst>
              <a:gd name="adj" fmla="val 3721"/>
            </a:avLst>
          </a:prstGeom>
          <a:solidFill>
            <a:srgbClr val="EEF4F3"/>
          </a:solidFill>
          <a:ln w="15875">
            <a:solidFill>
              <a:srgbClr val="EEF4F3"/>
            </a:solidFill>
            <a:prstDash val="solid"/>
          </a:ln>
        </p:spPr>
      </p:sp>
      <p:sp>
        <p:nvSpPr>
          <p:cNvPr id="4" name="Text 2"/>
          <p:cNvSpPr txBox="1"/>
          <p:nvPr/>
        </p:nvSpPr>
        <p:spPr>
          <a:xfrm>
            <a:off x="685800" y="1554480"/>
            <a:ext cx="1691640" cy="548640"/>
          </a:xfrm>
          <a:prstGeom prst="rect">
            <a:avLst/>
          </a:prstGeom>
          <a:noFill/>
          <a:ln/>
        </p:spPr>
        <p:txBody>
          <a:bodyPr wrap="square" lIns="0" tIns="0" rIns="0" bIns="0" rtlCol="0" anchor="t"/>
          <a:lstStyle/>
          <a:p>
            <a:pPr algn="l" indent="0" marL="0">
              <a:buNone/>
            </a:pPr>
            <a:r>
              <a:rPr lang="en-US" sz="1500" b="1" dirty="0">
                <a:solidFill>
                  <a:srgbClr val="0F5257"/>
                </a:solidFill>
                <a:latin typeface="Calibri" pitchFamily="34" charset="0"/>
                <a:ea typeface="Calibri" pitchFamily="34" charset="-122"/>
                <a:cs typeface="Calibri" pitchFamily="34" charset="-120"/>
              </a:rPr>
              <a:t>Open data</a:t>
            </a:r>
            <a:endParaRPr lang="en-US" sz="1500" dirty="0"/>
          </a:p>
        </p:txBody>
      </p:sp>
      <p:sp>
        <p:nvSpPr>
          <p:cNvPr id="5" name="Text 3"/>
          <p:cNvSpPr txBox="1"/>
          <p:nvPr/>
        </p:nvSpPr>
        <p:spPr>
          <a:xfrm>
            <a:off x="685800" y="2194560"/>
            <a:ext cx="1691640" cy="457200"/>
          </a:xfrm>
          <a:prstGeom prst="rect">
            <a:avLst/>
          </a:prstGeom>
          <a:noFill/>
          <a:ln/>
        </p:spPr>
        <p:txBody>
          <a:bodyPr wrap="square" lIns="0" tIns="0" rIns="0" bIns="0" rtlCol="0" anchor="t"/>
          <a:lstStyle/>
          <a:p>
            <a:pPr algn="l" indent="0" marL="0">
              <a:buNone/>
            </a:pPr>
            <a:r>
              <a:rPr lang="en-US" sz="1300" dirty="0">
                <a:solidFill>
                  <a:srgbClr val="1B2A2E"/>
                </a:solidFill>
                <a:latin typeface="Calibri" pitchFamily="34" charset="0"/>
                <a:ea typeface="Calibri" pitchFamily="34" charset="-122"/>
                <a:cs typeface="Calibri" pitchFamily="34" charset="-120"/>
              </a:rPr>
              <a:t>Contract awards (3 datasets)</a:t>
            </a:r>
            <a:endParaRPr lang="en-US" sz="1300" dirty="0"/>
          </a:p>
        </p:txBody>
      </p:sp>
      <p:sp>
        <p:nvSpPr>
          <p:cNvPr id="6" name="Text 4"/>
          <p:cNvSpPr txBox="1"/>
          <p:nvPr/>
        </p:nvSpPr>
        <p:spPr>
          <a:xfrm>
            <a:off x="685800" y="2724912"/>
            <a:ext cx="1691640" cy="457200"/>
          </a:xfrm>
          <a:prstGeom prst="rect">
            <a:avLst/>
          </a:prstGeom>
          <a:noFill/>
          <a:ln/>
        </p:spPr>
        <p:txBody>
          <a:bodyPr wrap="square" lIns="0" tIns="0" rIns="0" bIns="0" rtlCol="0" anchor="t"/>
          <a:lstStyle/>
          <a:p>
            <a:pPr algn="l" indent="0" marL="0">
              <a:buNone/>
            </a:pPr>
            <a:r>
              <a:rPr lang="en-US" sz="1300" dirty="0">
                <a:solidFill>
                  <a:srgbClr val="1B2A2E"/>
                </a:solidFill>
                <a:latin typeface="Calibri" pitchFamily="34" charset="0"/>
                <a:ea typeface="Calibri" pitchFamily="34" charset="-122"/>
                <a:cs typeface="Calibri" pitchFamily="34" charset="-120"/>
              </a:rPr>
              <a:t>Projects · notices</a:t>
            </a:r>
            <a:endParaRPr lang="en-US" sz="1300" dirty="0"/>
          </a:p>
        </p:txBody>
      </p:sp>
      <p:sp>
        <p:nvSpPr>
          <p:cNvPr id="7" name="Text 5"/>
          <p:cNvSpPr txBox="1"/>
          <p:nvPr/>
        </p:nvSpPr>
        <p:spPr>
          <a:xfrm>
            <a:off x="685800" y="3255264"/>
            <a:ext cx="1691640" cy="457200"/>
          </a:xfrm>
          <a:prstGeom prst="rect">
            <a:avLst/>
          </a:prstGeom>
          <a:noFill/>
          <a:ln/>
        </p:spPr>
        <p:txBody>
          <a:bodyPr wrap="square" lIns="0" tIns="0" rIns="0" bIns="0" rtlCol="0" anchor="t"/>
          <a:lstStyle/>
          <a:p>
            <a:pPr algn="l" indent="0" marL="0">
              <a:buNone/>
            </a:pPr>
            <a:r>
              <a:rPr lang="en-US" sz="1300" dirty="0">
                <a:solidFill>
                  <a:srgbClr val="1B2A2E"/>
                </a:solidFill>
                <a:latin typeface="Calibri" pitchFamily="34" charset="0"/>
                <a:ea typeface="Calibri" pitchFamily="34" charset="-122"/>
                <a:cs typeface="Calibri" pitchFamily="34" charset="-120"/>
              </a:rPr>
              <a:t>Disbursements</a:t>
            </a:r>
            <a:endParaRPr lang="en-US" sz="1300" dirty="0"/>
          </a:p>
        </p:txBody>
      </p:sp>
      <p:sp>
        <p:nvSpPr>
          <p:cNvPr id="8" name="Text 6"/>
          <p:cNvSpPr txBox="1"/>
          <p:nvPr/>
        </p:nvSpPr>
        <p:spPr>
          <a:xfrm>
            <a:off x="685800" y="3785616"/>
            <a:ext cx="1691640" cy="457200"/>
          </a:xfrm>
          <a:prstGeom prst="rect">
            <a:avLst/>
          </a:prstGeom>
          <a:noFill/>
          <a:ln/>
        </p:spPr>
        <p:txBody>
          <a:bodyPr wrap="square" lIns="0" tIns="0" rIns="0" bIns="0" rtlCol="0" anchor="t"/>
          <a:lstStyle/>
          <a:p>
            <a:pPr algn="l" indent="0" marL="0">
              <a:buNone/>
            </a:pPr>
            <a:r>
              <a:rPr lang="en-US" sz="1300" dirty="0">
                <a:solidFill>
                  <a:srgbClr val="1B2A2E"/>
                </a:solidFill>
                <a:latin typeface="Calibri" pitchFamily="34" charset="0"/>
                <a:ea typeface="Calibri" pitchFamily="34" charset="-122"/>
                <a:cs typeface="Calibri" pitchFamily="34" charset="-120"/>
              </a:rPr>
              <a:t>CPIA · WGI</a:t>
            </a:r>
            <a:endParaRPr lang="en-US" sz="1300" dirty="0"/>
          </a:p>
        </p:txBody>
      </p:sp>
      <p:sp>
        <p:nvSpPr>
          <p:cNvPr id="9" name="Text 7"/>
          <p:cNvSpPr txBox="1"/>
          <p:nvPr/>
        </p:nvSpPr>
        <p:spPr>
          <a:xfrm>
            <a:off x="685800" y="4315968"/>
            <a:ext cx="1691640" cy="457200"/>
          </a:xfrm>
          <a:prstGeom prst="rect">
            <a:avLst/>
          </a:prstGeom>
          <a:noFill/>
          <a:ln/>
        </p:spPr>
        <p:txBody>
          <a:bodyPr wrap="square" lIns="0" tIns="0" rIns="0" bIns="0" rtlCol="0" anchor="t"/>
          <a:lstStyle/>
          <a:p>
            <a:pPr algn="l" indent="0" marL="0">
              <a:buNone/>
            </a:pPr>
            <a:r>
              <a:rPr lang="en-US" sz="1300" dirty="0">
                <a:solidFill>
                  <a:srgbClr val="1B2A2E"/>
                </a:solidFill>
                <a:latin typeface="Calibri" pitchFamily="34" charset="0"/>
                <a:ea typeface="Calibri" pitchFamily="34" charset="-122"/>
                <a:cs typeface="Calibri" pitchFamily="34" charset="-120"/>
              </a:rPr>
              <a:t>PAD · ISR · ICR · IEG</a:t>
            </a:r>
            <a:endParaRPr lang="en-US" sz="1300" dirty="0"/>
          </a:p>
        </p:txBody>
      </p:sp>
      <p:sp>
        <p:nvSpPr>
          <p:cNvPr id="10" name="flow arrow"/>
          <p:cNvSpPr/>
          <p:nvPr/>
        </p:nvSpPr>
        <p:spPr>
          <a:xfrm>
            <a:off x="2587752" y="2999232"/>
            <a:ext cx="182880" cy="329184"/>
          </a:xfrm>
          <a:prstGeom prst="chevron">
            <a:avLst/>
          </a:prstGeom>
          <a:solidFill>
            <a:srgbClr val="F3B23C"/>
          </a:solidFill>
          <a:ln w="12700">
            <a:solidFill>
              <a:srgbClr val="F3B23C"/>
            </a:solidFill>
            <a:prstDash val="solid"/>
          </a:ln>
        </p:spPr>
      </p:sp>
      <p:sp>
        <p:nvSpPr>
          <p:cNvPr id="11" name="column M1 Ingest + knowledge"/>
          <p:cNvSpPr/>
          <p:nvPr/>
        </p:nvSpPr>
        <p:spPr>
          <a:xfrm>
            <a:off x="2834640" y="1417320"/>
            <a:ext cx="1965960" cy="3520440"/>
          </a:xfrm>
          <a:prstGeom prst="roundRect">
            <a:avLst>
              <a:gd name="adj" fmla="val 3721"/>
            </a:avLst>
          </a:prstGeom>
          <a:solidFill>
            <a:srgbClr val="FFFFFF"/>
          </a:solidFill>
          <a:ln w="15875">
            <a:solidFill>
              <a:srgbClr val="9DBCB8"/>
            </a:solidFill>
            <a:prstDash val="solid"/>
          </a:ln>
        </p:spPr>
      </p:sp>
      <p:sp>
        <p:nvSpPr>
          <p:cNvPr id="12" name="Text 10"/>
          <p:cNvSpPr txBox="1"/>
          <p:nvPr/>
        </p:nvSpPr>
        <p:spPr>
          <a:xfrm>
            <a:off x="2971800" y="1554480"/>
            <a:ext cx="1691640" cy="548640"/>
          </a:xfrm>
          <a:prstGeom prst="rect">
            <a:avLst/>
          </a:prstGeom>
          <a:noFill/>
          <a:ln/>
        </p:spPr>
        <p:txBody>
          <a:bodyPr wrap="square" lIns="0" tIns="0" rIns="0" bIns="0" rtlCol="0" anchor="t"/>
          <a:lstStyle/>
          <a:p>
            <a:pPr algn="l" indent="0" marL="0">
              <a:buNone/>
            </a:pPr>
            <a:r>
              <a:rPr lang="en-US" sz="1500" b="1" dirty="0">
                <a:solidFill>
                  <a:srgbClr val="0F5257"/>
                </a:solidFill>
                <a:latin typeface="Calibri" pitchFamily="34" charset="0"/>
                <a:ea typeface="Calibri" pitchFamily="34" charset="-122"/>
                <a:cs typeface="Calibri" pitchFamily="34" charset="-120"/>
              </a:rPr>
              <a:t>M1 Ingest + knowledge</a:t>
            </a:r>
            <a:endParaRPr lang="en-US" sz="1500" dirty="0"/>
          </a:p>
        </p:txBody>
      </p:sp>
      <p:sp>
        <p:nvSpPr>
          <p:cNvPr id="13" name="Text 11"/>
          <p:cNvSpPr txBox="1"/>
          <p:nvPr/>
        </p:nvSpPr>
        <p:spPr>
          <a:xfrm>
            <a:off x="2971800" y="2194560"/>
            <a:ext cx="1691640" cy="457200"/>
          </a:xfrm>
          <a:prstGeom prst="rect">
            <a:avLst/>
          </a:prstGeom>
          <a:noFill/>
          <a:ln/>
        </p:spPr>
        <p:txBody>
          <a:bodyPr wrap="square" lIns="0" tIns="0" rIns="0" bIns="0" rtlCol="0" anchor="t"/>
          <a:lstStyle/>
          <a:p>
            <a:pPr algn="l" indent="0" marL="0">
              <a:buNone/>
            </a:pPr>
            <a:r>
              <a:rPr lang="en-US" sz="1300" dirty="0">
                <a:solidFill>
                  <a:srgbClr val="1B2A2E"/>
                </a:solidFill>
                <a:latin typeface="Calibri" pitchFamily="34" charset="0"/>
                <a:ea typeface="Calibri" pitchFamily="34" charset="-122"/>
                <a:cs typeface="Calibri" pitchFamily="34" charset="-120"/>
              </a:rPr>
              <a:t>bronze → silver → gold</a:t>
            </a:r>
            <a:endParaRPr lang="en-US" sz="1300" dirty="0"/>
          </a:p>
        </p:txBody>
      </p:sp>
      <p:sp>
        <p:nvSpPr>
          <p:cNvPr id="14" name="Text 12"/>
          <p:cNvSpPr txBox="1"/>
          <p:nvPr/>
        </p:nvSpPr>
        <p:spPr>
          <a:xfrm>
            <a:off x="2971800" y="2724912"/>
            <a:ext cx="1691640" cy="457200"/>
          </a:xfrm>
          <a:prstGeom prst="rect">
            <a:avLst/>
          </a:prstGeom>
          <a:noFill/>
          <a:ln/>
        </p:spPr>
        <p:txBody>
          <a:bodyPr wrap="square" lIns="0" tIns="0" rIns="0" bIns="0" rtlCol="0" anchor="t"/>
          <a:lstStyle/>
          <a:p>
            <a:pPr algn="l" indent="0" marL="0">
              <a:buNone/>
            </a:pPr>
            <a:r>
              <a:rPr lang="en-US" sz="1300" dirty="0">
                <a:solidFill>
                  <a:srgbClr val="1B2A2E"/>
                </a:solidFill>
                <a:latin typeface="Calibri" pitchFamily="34" charset="0"/>
                <a:ea typeface="Calibri" pitchFamily="34" charset="-122"/>
                <a:cs typeface="Calibri" pitchFamily="34" charset="-120"/>
              </a:rPr>
              <a:t>Quality gate: 14 / 14</a:t>
            </a:r>
            <a:endParaRPr lang="en-US" sz="1300" dirty="0"/>
          </a:p>
        </p:txBody>
      </p:sp>
      <p:sp>
        <p:nvSpPr>
          <p:cNvPr id="15" name="Text 13"/>
          <p:cNvSpPr txBox="1"/>
          <p:nvPr/>
        </p:nvSpPr>
        <p:spPr>
          <a:xfrm>
            <a:off x="2971800" y="3255264"/>
            <a:ext cx="1691640" cy="457200"/>
          </a:xfrm>
          <a:prstGeom prst="rect">
            <a:avLst/>
          </a:prstGeom>
          <a:noFill/>
          <a:ln/>
        </p:spPr>
        <p:txBody>
          <a:bodyPr wrap="square" lIns="0" tIns="0" rIns="0" bIns="0" rtlCol="0" anchor="t"/>
          <a:lstStyle/>
          <a:p>
            <a:pPr algn="l" indent="0" marL="0">
              <a:buNone/>
            </a:pPr>
            <a:r>
              <a:rPr lang="en-US" sz="1300" dirty="0">
                <a:solidFill>
                  <a:srgbClr val="1B2A2E"/>
                </a:solidFill>
                <a:latin typeface="Calibri" pitchFamily="34" charset="0"/>
                <a:ea typeface="Calibri" pitchFamily="34" charset="-122"/>
                <a:cs typeface="Calibri" pitchFamily="34" charset="-120"/>
              </a:rPr>
              <a:t>Graph: nodes + edges</a:t>
            </a:r>
            <a:endParaRPr lang="en-US" sz="1300" dirty="0"/>
          </a:p>
        </p:txBody>
      </p:sp>
      <p:sp>
        <p:nvSpPr>
          <p:cNvPr id="16" name="Text 14"/>
          <p:cNvSpPr txBox="1"/>
          <p:nvPr/>
        </p:nvSpPr>
        <p:spPr>
          <a:xfrm>
            <a:off x="2971800" y="3785616"/>
            <a:ext cx="1691640" cy="457200"/>
          </a:xfrm>
          <a:prstGeom prst="rect">
            <a:avLst/>
          </a:prstGeom>
          <a:noFill/>
          <a:ln/>
        </p:spPr>
        <p:txBody>
          <a:bodyPr wrap="square" lIns="0" tIns="0" rIns="0" bIns="0" rtlCol="0" anchor="t"/>
          <a:lstStyle/>
          <a:p>
            <a:pPr algn="l" indent="0" marL="0">
              <a:buNone/>
            </a:pPr>
            <a:r>
              <a:rPr lang="en-US" sz="1300" dirty="0">
                <a:solidFill>
                  <a:srgbClr val="1B2A2E"/>
                </a:solidFill>
                <a:latin typeface="Calibri" pitchFamily="34" charset="0"/>
                <a:ea typeface="Calibri" pitchFamily="34" charset="-122"/>
                <a:cs typeface="Calibri" pitchFamily="34" charset="-120"/>
              </a:rPr>
              <a:t>Parse once → chunks</a:t>
            </a:r>
            <a:endParaRPr lang="en-US" sz="1300" dirty="0"/>
          </a:p>
        </p:txBody>
      </p:sp>
      <p:sp>
        <p:nvSpPr>
          <p:cNvPr id="17" name="Text 15"/>
          <p:cNvSpPr txBox="1"/>
          <p:nvPr/>
        </p:nvSpPr>
        <p:spPr>
          <a:xfrm>
            <a:off x="2971800" y="4315968"/>
            <a:ext cx="1691640" cy="457200"/>
          </a:xfrm>
          <a:prstGeom prst="rect">
            <a:avLst/>
          </a:prstGeom>
          <a:noFill/>
          <a:ln/>
        </p:spPr>
        <p:txBody>
          <a:bodyPr wrap="square" lIns="0" tIns="0" rIns="0" bIns="0" rtlCol="0" anchor="t"/>
          <a:lstStyle/>
          <a:p>
            <a:pPr algn="l" indent="0" marL="0">
              <a:buNone/>
            </a:pPr>
            <a:r>
              <a:rPr lang="en-US" sz="1300" dirty="0">
                <a:solidFill>
                  <a:srgbClr val="1B2A2E"/>
                </a:solidFill>
                <a:latin typeface="Calibri" pitchFamily="34" charset="0"/>
                <a:ea typeface="Calibri" pitchFamily="34" charset="-122"/>
                <a:cs typeface="Calibri" pitchFamily="34" charset="-120"/>
              </a:rPr>
              <a:t>Vector Search hybrid</a:t>
            </a:r>
            <a:endParaRPr lang="en-US" sz="1300" dirty="0"/>
          </a:p>
        </p:txBody>
      </p:sp>
      <p:sp>
        <p:nvSpPr>
          <p:cNvPr id="18" name="flow arrow"/>
          <p:cNvSpPr/>
          <p:nvPr/>
        </p:nvSpPr>
        <p:spPr>
          <a:xfrm>
            <a:off x="4873752" y="2999232"/>
            <a:ext cx="182880" cy="329184"/>
          </a:xfrm>
          <a:prstGeom prst="chevron">
            <a:avLst/>
          </a:prstGeom>
          <a:solidFill>
            <a:srgbClr val="F3B23C"/>
          </a:solidFill>
          <a:ln w="12700">
            <a:solidFill>
              <a:srgbClr val="F3B23C"/>
            </a:solidFill>
            <a:prstDash val="solid"/>
          </a:ln>
        </p:spPr>
      </p:sp>
      <p:sp>
        <p:nvSpPr>
          <p:cNvPr id="19" name="column M2 Models + RAG"/>
          <p:cNvSpPr/>
          <p:nvPr/>
        </p:nvSpPr>
        <p:spPr>
          <a:xfrm>
            <a:off x="5120640" y="1417320"/>
            <a:ext cx="1965960" cy="3520440"/>
          </a:xfrm>
          <a:prstGeom prst="roundRect">
            <a:avLst>
              <a:gd name="adj" fmla="val 3721"/>
            </a:avLst>
          </a:prstGeom>
          <a:solidFill>
            <a:srgbClr val="FFFFFF"/>
          </a:solidFill>
          <a:ln w="15875">
            <a:solidFill>
              <a:srgbClr val="9DBCB8"/>
            </a:solidFill>
            <a:prstDash val="solid"/>
          </a:ln>
        </p:spPr>
      </p:sp>
      <p:sp>
        <p:nvSpPr>
          <p:cNvPr id="20" name="Text 18"/>
          <p:cNvSpPr txBox="1"/>
          <p:nvPr/>
        </p:nvSpPr>
        <p:spPr>
          <a:xfrm>
            <a:off x="5257800" y="1554480"/>
            <a:ext cx="1691640" cy="548640"/>
          </a:xfrm>
          <a:prstGeom prst="rect">
            <a:avLst/>
          </a:prstGeom>
          <a:noFill/>
          <a:ln/>
        </p:spPr>
        <p:txBody>
          <a:bodyPr wrap="square" lIns="0" tIns="0" rIns="0" bIns="0" rtlCol="0" anchor="t"/>
          <a:lstStyle/>
          <a:p>
            <a:pPr algn="l" indent="0" marL="0">
              <a:buNone/>
            </a:pPr>
            <a:r>
              <a:rPr lang="en-US" sz="1500" b="1" dirty="0">
                <a:solidFill>
                  <a:srgbClr val="0F5257"/>
                </a:solidFill>
                <a:latin typeface="Calibri" pitchFamily="34" charset="0"/>
                <a:ea typeface="Calibri" pitchFamily="34" charset="-122"/>
                <a:cs typeface="Calibri" pitchFamily="34" charset="-120"/>
              </a:rPr>
              <a:t>M2 Models + RAG</a:t>
            </a:r>
            <a:endParaRPr lang="en-US" sz="1500" dirty="0"/>
          </a:p>
        </p:txBody>
      </p:sp>
      <p:sp>
        <p:nvSpPr>
          <p:cNvPr id="21" name="Text 19"/>
          <p:cNvSpPr txBox="1"/>
          <p:nvPr/>
        </p:nvSpPr>
        <p:spPr>
          <a:xfrm>
            <a:off x="5257800" y="2194560"/>
            <a:ext cx="1691640" cy="457200"/>
          </a:xfrm>
          <a:prstGeom prst="rect">
            <a:avLst/>
          </a:prstGeom>
          <a:noFill/>
          <a:ln/>
        </p:spPr>
        <p:txBody>
          <a:bodyPr wrap="square" lIns="0" tIns="0" rIns="0" bIns="0" rtlCol="0" anchor="t"/>
          <a:lstStyle/>
          <a:p>
            <a:pPr algn="l" indent="0" marL="0">
              <a:buNone/>
            </a:pPr>
            <a:r>
              <a:rPr lang="en-US" sz="1300" dirty="0">
                <a:solidFill>
                  <a:srgbClr val="1B2A2E"/>
                </a:solidFill>
                <a:latin typeface="Calibri" pitchFamily="34" charset="0"/>
                <a:ea typeface="Calibri" pitchFamily="34" charset="-122"/>
                <a:cs typeface="Calibri" pitchFamily="34" charset="-120"/>
              </a:rPr>
              <a:t>Duration P20 / P50 / P80</a:t>
            </a:r>
            <a:endParaRPr lang="en-US" sz="1300" dirty="0"/>
          </a:p>
        </p:txBody>
      </p:sp>
      <p:sp>
        <p:nvSpPr>
          <p:cNvPr id="22" name="Text 20"/>
          <p:cNvSpPr txBox="1"/>
          <p:nvPr/>
        </p:nvSpPr>
        <p:spPr>
          <a:xfrm>
            <a:off x="5257800" y="2724912"/>
            <a:ext cx="1691640" cy="457200"/>
          </a:xfrm>
          <a:prstGeom prst="rect">
            <a:avLst/>
          </a:prstGeom>
          <a:noFill/>
          <a:ln/>
        </p:spPr>
        <p:txBody>
          <a:bodyPr wrap="square" lIns="0" tIns="0" rIns="0" bIns="0" rtlCol="0" anchor="t"/>
          <a:lstStyle/>
          <a:p>
            <a:pPr algn="l" indent="0" marL="0">
              <a:buNone/>
            </a:pPr>
            <a:r>
              <a:rPr lang="en-US" sz="1300" dirty="0">
                <a:solidFill>
                  <a:srgbClr val="1B2A2E"/>
                </a:solidFill>
                <a:latin typeface="Calibri" pitchFamily="34" charset="0"/>
                <a:ea typeface="Calibri" pitchFamily="34" charset="-122"/>
                <a:cs typeface="Calibri" pitchFamily="34" charset="-120"/>
              </a:rPr>
              <a:t>Re-bid or cancellation</a:t>
            </a:r>
            <a:endParaRPr lang="en-US" sz="1300" dirty="0"/>
          </a:p>
        </p:txBody>
      </p:sp>
      <p:sp>
        <p:nvSpPr>
          <p:cNvPr id="23" name="Text 21"/>
          <p:cNvSpPr txBox="1"/>
          <p:nvPr/>
        </p:nvSpPr>
        <p:spPr>
          <a:xfrm>
            <a:off x="5257800" y="3255264"/>
            <a:ext cx="1691640" cy="457200"/>
          </a:xfrm>
          <a:prstGeom prst="rect">
            <a:avLst/>
          </a:prstGeom>
          <a:noFill/>
          <a:ln/>
        </p:spPr>
        <p:txBody>
          <a:bodyPr wrap="square" lIns="0" tIns="0" rIns="0" bIns="0" rtlCol="0" anchor="t"/>
          <a:lstStyle/>
          <a:p>
            <a:pPr algn="l" indent="0" marL="0">
              <a:buNone/>
            </a:pPr>
            <a:r>
              <a:rPr lang="en-US" sz="1300" dirty="0">
                <a:solidFill>
                  <a:srgbClr val="1B2A2E"/>
                </a:solidFill>
                <a:latin typeface="Calibri" pitchFamily="34" charset="0"/>
                <a:ea typeface="Calibri" pitchFamily="34" charset="-122"/>
                <a:cs typeface="Calibri" pitchFamily="34" charset="-120"/>
              </a:rPr>
              <a:t>Ratings · lessons · events</a:t>
            </a:r>
            <a:endParaRPr lang="en-US" sz="1300" dirty="0"/>
          </a:p>
        </p:txBody>
      </p:sp>
      <p:sp>
        <p:nvSpPr>
          <p:cNvPr id="24" name="Text 22"/>
          <p:cNvSpPr txBox="1"/>
          <p:nvPr/>
        </p:nvSpPr>
        <p:spPr>
          <a:xfrm>
            <a:off x="5257800" y="3785616"/>
            <a:ext cx="1691640" cy="457200"/>
          </a:xfrm>
          <a:prstGeom prst="rect">
            <a:avLst/>
          </a:prstGeom>
          <a:noFill/>
          <a:ln/>
        </p:spPr>
        <p:txBody>
          <a:bodyPr wrap="square" lIns="0" tIns="0" rIns="0" bIns="0" rtlCol="0" anchor="t"/>
          <a:lstStyle/>
          <a:p>
            <a:pPr algn="l" indent="0" marL="0">
              <a:buNone/>
            </a:pPr>
            <a:r>
              <a:rPr lang="en-US" sz="1300" dirty="0">
                <a:solidFill>
                  <a:srgbClr val="1B2A2E"/>
                </a:solidFill>
                <a:latin typeface="Calibri" pitchFamily="34" charset="0"/>
                <a:ea typeface="Calibri" pitchFamily="34" charset="-122"/>
                <a:cs typeface="Calibri" pitchFamily="34" charset="-120"/>
              </a:rPr>
              <a:t>Agentic RAG</a:t>
            </a:r>
            <a:endParaRPr lang="en-US" sz="1300" dirty="0"/>
          </a:p>
        </p:txBody>
      </p:sp>
      <p:sp>
        <p:nvSpPr>
          <p:cNvPr id="25" name="Text 23"/>
          <p:cNvSpPr txBox="1"/>
          <p:nvPr/>
        </p:nvSpPr>
        <p:spPr>
          <a:xfrm>
            <a:off x="5257800" y="4315968"/>
            <a:ext cx="1691640" cy="457200"/>
          </a:xfrm>
          <a:prstGeom prst="rect">
            <a:avLst/>
          </a:prstGeom>
          <a:noFill/>
          <a:ln/>
        </p:spPr>
        <p:txBody>
          <a:bodyPr wrap="square" lIns="0" tIns="0" rIns="0" bIns="0" rtlCol="0" anchor="t"/>
          <a:lstStyle/>
          <a:p>
            <a:pPr algn="l" indent="0" marL="0">
              <a:buNone/>
            </a:pPr>
            <a:r>
              <a:rPr lang="en-US" sz="1300" dirty="0">
                <a:solidFill>
                  <a:srgbClr val="1B2A2E"/>
                </a:solidFill>
                <a:latin typeface="Calibri" pitchFamily="34" charset="0"/>
                <a:ea typeface="Calibri" pitchFamily="34" charset="-122"/>
                <a:cs typeface="Calibri" pitchFamily="34" charset="-120"/>
              </a:rPr>
              <a:t>Early warnings</a:t>
            </a:r>
            <a:endParaRPr lang="en-US" sz="1300" dirty="0"/>
          </a:p>
        </p:txBody>
      </p:sp>
      <p:sp>
        <p:nvSpPr>
          <p:cNvPr id="26" name="flow arrow"/>
          <p:cNvSpPr/>
          <p:nvPr/>
        </p:nvSpPr>
        <p:spPr>
          <a:xfrm>
            <a:off x="7159752" y="2999232"/>
            <a:ext cx="182880" cy="329184"/>
          </a:xfrm>
          <a:prstGeom prst="chevron">
            <a:avLst/>
          </a:prstGeom>
          <a:solidFill>
            <a:srgbClr val="F3B23C"/>
          </a:solidFill>
          <a:ln w="12700">
            <a:solidFill>
              <a:srgbClr val="F3B23C"/>
            </a:solidFill>
            <a:prstDash val="solid"/>
          </a:ln>
        </p:spPr>
      </p:sp>
      <p:sp>
        <p:nvSpPr>
          <p:cNvPr id="27" name="column M3 Guardrails"/>
          <p:cNvSpPr/>
          <p:nvPr/>
        </p:nvSpPr>
        <p:spPr>
          <a:xfrm>
            <a:off x="7406640" y="1417320"/>
            <a:ext cx="1965960" cy="3520440"/>
          </a:xfrm>
          <a:prstGeom prst="roundRect">
            <a:avLst>
              <a:gd name="adj" fmla="val 3721"/>
            </a:avLst>
          </a:prstGeom>
          <a:solidFill>
            <a:srgbClr val="FFFFFF"/>
          </a:solidFill>
          <a:ln w="15875">
            <a:solidFill>
              <a:srgbClr val="9DBCB8"/>
            </a:solidFill>
            <a:prstDash val="solid"/>
          </a:ln>
        </p:spPr>
      </p:sp>
      <p:sp>
        <p:nvSpPr>
          <p:cNvPr id="28" name="Text 26"/>
          <p:cNvSpPr txBox="1"/>
          <p:nvPr/>
        </p:nvSpPr>
        <p:spPr>
          <a:xfrm>
            <a:off x="7543800" y="1554480"/>
            <a:ext cx="1691640" cy="548640"/>
          </a:xfrm>
          <a:prstGeom prst="rect">
            <a:avLst/>
          </a:prstGeom>
          <a:noFill/>
          <a:ln/>
        </p:spPr>
        <p:txBody>
          <a:bodyPr wrap="square" lIns="0" tIns="0" rIns="0" bIns="0" rtlCol="0" anchor="t"/>
          <a:lstStyle/>
          <a:p>
            <a:pPr algn="l" indent="0" marL="0">
              <a:buNone/>
            </a:pPr>
            <a:r>
              <a:rPr lang="en-US" sz="1500" b="1" dirty="0">
                <a:solidFill>
                  <a:srgbClr val="0F5257"/>
                </a:solidFill>
                <a:latin typeface="Calibri" pitchFamily="34" charset="0"/>
                <a:ea typeface="Calibri" pitchFamily="34" charset="-122"/>
                <a:cs typeface="Calibri" pitchFamily="34" charset="-120"/>
              </a:rPr>
              <a:t>M3 Guardrails</a:t>
            </a:r>
            <a:endParaRPr lang="en-US" sz="1500" dirty="0"/>
          </a:p>
        </p:txBody>
      </p:sp>
      <p:sp>
        <p:nvSpPr>
          <p:cNvPr id="29" name="Text 27"/>
          <p:cNvSpPr txBox="1"/>
          <p:nvPr/>
        </p:nvSpPr>
        <p:spPr>
          <a:xfrm>
            <a:off x="7543800" y="2194560"/>
            <a:ext cx="1691640" cy="457200"/>
          </a:xfrm>
          <a:prstGeom prst="rect">
            <a:avLst/>
          </a:prstGeom>
          <a:noFill/>
          <a:ln/>
        </p:spPr>
        <p:txBody>
          <a:bodyPr wrap="square" lIns="0" tIns="0" rIns="0" bIns="0" rtlCol="0" anchor="t"/>
          <a:lstStyle/>
          <a:p>
            <a:pPr algn="l" indent="0" marL="0">
              <a:buNone/>
            </a:pPr>
            <a:r>
              <a:rPr lang="en-US" sz="1300" dirty="0">
                <a:solidFill>
                  <a:srgbClr val="1B2A2E"/>
                </a:solidFill>
                <a:latin typeface="Calibri" pitchFamily="34" charset="0"/>
                <a:ea typeface="Calibri" pitchFamily="34" charset="-122"/>
                <a:cs typeface="Calibri" pitchFamily="34" charset="-120"/>
              </a:rPr>
              <a:t>Citation · number · ID</a:t>
            </a:r>
            <a:endParaRPr lang="en-US" sz="1300" dirty="0"/>
          </a:p>
        </p:txBody>
      </p:sp>
      <p:sp>
        <p:nvSpPr>
          <p:cNvPr id="30" name="Text 28"/>
          <p:cNvSpPr txBox="1"/>
          <p:nvPr/>
        </p:nvSpPr>
        <p:spPr>
          <a:xfrm>
            <a:off x="7543800" y="2724912"/>
            <a:ext cx="1691640" cy="457200"/>
          </a:xfrm>
          <a:prstGeom prst="rect">
            <a:avLst/>
          </a:prstGeom>
          <a:noFill/>
          <a:ln/>
        </p:spPr>
        <p:txBody>
          <a:bodyPr wrap="square" lIns="0" tIns="0" rIns="0" bIns="0" rtlCol="0" anchor="t"/>
          <a:lstStyle/>
          <a:p>
            <a:pPr algn="l" indent="0" marL="0">
              <a:buNone/>
            </a:pPr>
            <a:r>
              <a:rPr lang="en-US" sz="1300" dirty="0">
                <a:solidFill>
                  <a:srgbClr val="1B2A2E"/>
                </a:solidFill>
                <a:latin typeface="Calibri" pitchFamily="34" charset="0"/>
                <a:ea typeface="Calibri" pitchFamily="34" charset="-122"/>
                <a:cs typeface="Calibri" pitchFamily="34" charset="-120"/>
              </a:rPr>
              <a:t>Claim verifier</a:t>
            </a:r>
            <a:endParaRPr lang="en-US" sz="1300" dirty="0"/>
          </a:p>
        </p:txBody>
      </p:sp>
      <p:sp>
        <p:nvSpPr>
          <p:cNvPr id="31" name="Text 29"/>
          <p:cNvSpPr txBox="1"/>
          <p:nvPr/>
        </p:nvSpPr>
        <p:spPr>
          <a:xfrm>
            <a:off x="7543800" y="3255264"/>
            <a:ext cx="1691640" cy="457200"/>
          </a:xfrm>
          <a:prstGeom prst="rect">
            <a:avLst/>
          </a:prstGeom>
          <a:noFill/>
          <a:ln/>
        </p:spPr>
        <p:txBody>
          <a:bodyPr wrap="square" lIns="0" tIns="0" rIns="0" bIns="0" rtlCol="0" anchor="t"/>
          <a:lstStyle/>
          <a:p>
            <a:pPr algn="l" indent="0" marL="0">
              <a:buNone/>
            </a:pPr>
            <a:r>
              <a:rPr lang="en-US" sz="1300" dirty="0">
                <a:solidFill>
                  <a:srgbClr val="1B2A2E"/>
                </a:solidFill>
                <a:latin typeface="Calibri" pitchFamily="34" charset="0"/>
                <a:ea typeface="Calibri" pitchFamily="34" charset="-122"/>
                <a:cs typeface="Calibri" pitchFamily="34" charset="-120"/>
              </a:rPr>
              <a:t>Injection quarantine</a:t>
            </a:r>
            <a:endParaRPr lang="en-US" sz="1300" dirty="0"/>
          </a:p>
        </p:txBody>
      </p:sp>
      <p:sp>
        <p:nvSpPr>
          <p:cNvPr id="32" name="Text 30"/>
          <p:cNvSpPr txBox="1"/>
          <p:nvPr/>
        </p:nvSpPr>
        <p:spPr>
          <a:xfrm>
            <a:off x="7543800" y="3785616"/>
            <a:ext cx="1691640" cy="457200"/>
          </a:xfrm>
          <a:prstGeom prst="rect">
            <a:avLst/>
          </a:prstGeom>
          <a:noFill/>
          <a:ln/>
        </p:spPr>
        <p:txBody>
          <a:bodyPr wrap="square" lIns="0" tIns="0" rIns="0" bIns="0" rtlCol="0" anchor="t"/>
          <a:lstStyle/>
          <a:p>
            <a:pPr algn="l" indent="0" marL="0">
              <a:buNone/>
            </a:pPr>
            <a:r>
              <a:rPr lang="en-US" sz="1300" dirty="0">
                <a:solidFill>
                  <a:srgbClr val="1B2A2E"/>
                </a:solidFill>
                <a:latin typeface="Calibri" pitchFamily="34" charset="0"/>
                <a:ea typeface="Calibri" pitchFamily="34" charset="-122"/>
                <a:cs typeface="Calibri" pitchFamily="34" charset="-120"/>
              </a:rPr>
              <a:t>Conflicts: IEG &gt; ICR &gt; ISR</a:t>
            </a:r>
            <a:endParaRPr lang="en-US" sz="1300" dirty="0"/>
          </a:p>
        </p:txBody>
      </p:sp>
      <p:sp>
        <p:nvSpPr>
          <p:cNvPr id="33" name="flow arrow"/>
          <p:cNvSpPr/>
          <p:nvPr/>
        </p:nvSpPr>
        <p:spPr>
          <a:xfrm>
            <a:off x="9445752" y="2999232"/>
            <a:ext cx="182880" cy="329184"/>
          </a:xfrm>
          <a:prstGeom prst="chevron">
            <a:avLst/>
          </a:prstGeom>
          <a:solidFill>
            <a:srgbClr val="F3B23C"/>
          </a:solidFill>
          <a:ln w="12700">
            <a:solidFill>
              <a:srgbClr val="F3B23C"/>
            </a:solidFill>
            <a:prstDash val="solid"/>
          </a:ln>
        </p:spPr>
      </p:sp>
      <p:sp>
        <p:nvSpPr>
          <p:cNvPr id="34" name="column Users + M4 loop"/>
          <p:cNvSpPr/>
          <p:nvPr/>
        </p:nvSpPr>
        <p:spPr>
          <a:xfrm>
            <a:off x="9692640" y="1417320"/>
            <a:ext cx="1965960" cy="3520440"/>
          </a:xfrm>
          <a:prstGeom prst="roundRect">
            <a:avLst>
              <a:gd name="adj" fmla="val 3721"/>
            </a:avLst>
          </a:prstGeom>
          <a:solidFill>
            <a:srgbClr val="0F5257"/>
          </a:solidFill>
          <a:ln w="15875">
            <a:solidFill>
              <a:srgbClr val="0F5257"/>
            </a:solidFill>
            <a:prstDash val="solid"/>
          </a:ln>
        </p:spPr>
      </p:sp>
      <p:sp>
        <p:nvSpPr>
          <p:cNvPr id="35" name="Text 33"/>
          <p:cNvSpPr txBox="1"/>
          <p:nvPr/>
        </p:nvSpPr>
        <p:spPr>
          <a:xfrm>
            <a:off x="9829800" y="1554480"/>
            <a:ext cx="1691640" cy="548640"/>
          </a:xfrm>
          <a:prstGeom prst="rect">
            <a:avLst/>
          </a:prstGeom>
          <a:noFill/>
          <a:ln/>
        </p:spPr>
        <p:txBody>
          <a:bodyPr wrap="square" lIns="0" tIns="0" rIns="0" bIns="0" rtlCol="0" anchor="t"/>
          <a:lstStyle/>
          <a:p>
            <a:pPr algn="l" indent="0" marL="0">
              <a:buNone/>
            </a:pPr>
            <a:r>
              <a:rPr lang="en-US" sz="1500" b="1" dirty="0">
                <a:solidFill>
                  <a:srgbClr val="FFFFFF"/>
                </a:solidFill>
                <a:latin typeface="Calibri" pitchFamily="34" charset="0"/>
                <a:ea typeface="Calibri" pitchFamily="34" charset="-122"/>
                <a:cs typeface="Calibri" pitchFamily="34" charset="-120"/>
              </a:rPr>
              <a:t>Users + M4 loop</a:t>
            </a:r>
            <a:endParaRPr lang="en-US" sz="1500" dirty="0"/>
          </a:p>
        </p:txBody>
      </p:sp>
      <p:sp>
        <p:nvSpPr>
          <p:cNvPr id="36" name="Text 34"/>
          <p:cNvSpPr txBox="1"/>
          <p:nvPr/>
        </p:nvSpPr>
        <p:spPr>
          <a:xfrm>
            <a:off x="9829800" y="2194560"/>
            <a:ext cx="1691640" cy="457200"/>
          </a:xfrm>
          <a:prstGeom prst="rect">
            <a:avLst/>
          </a:prstGeom>
          <a:noFill/>
          <a:ln/>
        </p:spPr>
        <p:txBody>
          <a:bodyPr wrap="square" lIns="0" tIns="0" rIns="0" bIns="0" rtlCol="0" anchor="t"/>
          <a:lstStyle/>
          <a:p>
            <a:pPr algn="l" indent="0" marL="0">
              <a:buNone/>
            </a:pPr>
            <a:r>
              <a:rPr lang="en-US" sz="1300" dirty="0">
                <a:solidFill>
                  <a:srgbClr val="FFFFFF"/>
                </a:solidFill>
                <a:latin typeface="Calibri" pitchFamily="34" charset="0"/>
                <a:ea typeface="Calibri" pitchFamily="34" charset="-122"/>
                <a:cs typeface="Calibri" pitchFamily="34" charset="-120"/>
              </a:rPr>
              <a:t>App: Plan · Monitor · Ask</a:t>
            </a:r>
            <a:endParaRPr lang="en-US" sz="1300" dirty="0"/>
          </a:p>
        </p:txBody>
      </p:sp>
      <p:sp>
        <p:nvSpPr>
          <p:cNvPr id="37" name="Text 35"/>
          <p:cNvSpPr txBox="1"/>
          <p:nvPr/>
        </p:nvSpPr>
        <p:spPr>
          <a:xfrm>
            <a:off x="9829800" y="2724912"/>
            <a:ext cx="1691640" cy="457200"/>
          </a:xfrm>
          <a:prstGeom prst="rect">
            <a:avLst/>
          </a:prstGeom>
          <a:noFill/>
          <a:ln/>
        </p:spPr>
        <p:txBody>
          <a:bodyPr wrap="square" lIns="0" tIns="0" rIns="0" bIns="0" rtlCol="0" anchor="t"/>
          <a:lstStyle/>
          <a:p>
            <a:pPr algn="l" indent="0" marL="0">
              <a:buNone/>
            </a:pPr>
            <a:r>
              <a:rPr lang="en-US" sz="1300" dirty="0">
                <a:solidFill>
                  <a:srgbClr val="FFFFFF"/>
                </a:solidFill>
                <a:latin typeface="Calibri" pitchFamily="34" charset="0"/>
                <a:ea typeface="Calibri" pitchFamily="34" charset="-122"/>
                <a:cs typeface="Calibri" pitchFamily="34" charset="-120"/>
              </a:rPr>
              <a:t>AI/BI KPI dashboard</a:t>
            </a:r>
            <a:endParaRPr lang="en-US" sz="1300" dirty="0"/>
          </a:p>
        </p:txBody>
      </p:sp>
      <p:sp>
        <p:nvSpPr>
          <p:cNvPr id="38" name="Text 36"/>
          <p:cNvSpPr txBox="1"/>
          <p:nvPr/>
        </p:nvSpPr>
        <p:spPr>
          <a:xfrm>
            <a:off x="9829800" y="3255264"/>
            <a:ext cx="1691640" cy="457200"/>
          </a:xfrm>
          <a:prstGeom prst="rect">
            <a:avLst/>
          </a:prstGeom>
          <a:noFill/>
          <a:ln/>
        </p:spPr>
        <p:txBody>
          <a:bodyPr wrap="square" lIns="0" tIns="0" rIns="0" bIns="0" rtlCol="0" anchor="t"/>
          <a:lstStyle/>
          <a:p>
            <a:pPr algn="l" indent="0" marL="0">
              <a:buNone/>
            </a:pPr>
            <a:r>
              <a:rPr lang="en-US" sz="1300" dirty="0">
                <a:solidFill>
                  <a:srgbClr val="FFFFFF"/>
                </a:solidFill>
                <a:latin typeface="Calibri" pitchFamily="34" charset="0"/>
                <a:ea typeface="Calibri" pitchFamily="34" charset="-122"/>
                <a:cs typeface="Calibri" pitchFamily="34" charset="-120"/>
              </a:rPr>
              <a:t>Weekly job</a:t>
            </a:r>
            <a:endParaRPr lang="en-US" sz="1300" dirty="0"/>
          </a:p>
        </p:txBody>
      </p:sp>
      <p:sp>
        <p:nvSpPr>
          <p:cNvPr id="39" name="Text 37"/>
          <p:cNvSpPr txBox="1"/>
          <p:nvPr/>
        </p:nvSpPr>
        <p:spPr>
          <a:xfrm>
            <a:off x="9829800" y="3785616"/>
            <a:ext cx="1691640" cy="457200"/>
          </a:xfrm>
          <a:prstGeom prst="rect">
            <a:avLst/>
          </a:prstGeom>
          <a:noFill/>
          <a:ln/>
        </p:spPr>
        <p:txBody>
          <a:bodyPr wrap="square" lIns="0" tIns="0" rIns="0" bIns="0" rtlCol="0" anchor="t"/>
          <a:lstStyle/>
          <a:p>
            <a:pPr algn="l" indent="0" marL="0">
              <a:buNone/>
            </a:pPr>
            <a:r>
              <a:rPr lang="en-US" sz="1300" dirty="0">
                <a:solidFill>
                  <a:srgbClr val="FFFFFF"/>
                </a:solidFill>
                <a:latin typeface="Calibri" pitchFamily="34" charset="0"/>
                <a:ea typeface="Calibri" pitchFamily="34" charset="-122"/>
                <a:cs typeface="Calibri" pitchFamily="34" charset="-120"/>
              </a:rPr>
              <a:t>Feedback → eval set</a:t>
            </a:r>
            <a:endParaRPr lang="en-US" sz="1300" dirty="0"/>
          </a:p>
        </p:txBody>
      </p:sp>
      <p:sp>
        <p:nvSpPr>
          <p:cNvPr id="40" name="Text 38"/>
          <p:cNvSpPr txBox="1"/>
          <p:nvPr/>
        </p:nvSpPr>
        <p:spPr>
          <a:xfrm>
            <a:off x="548640" y="5074920"/>
            <a:ext cx="2651760" cy="502920"/>
          </a:xfrm>
          <a:prstGeom prst="rect">
            <a:avLst/>
          </a:prstGeom>
          <a:noFill/>
          <a:ln/>
        </p:spPr>
        <p:txBody>
          <a:bodyPr wrap="square" lIns="0" tIns="0" rIns="0" bIns="0" rtlCol="0" anchor="ctr"/>
          <a:lstStyle/>
          <a:p>
            <a:pPr algn="l" indent="0" marL="0">
              <a:buNone/>
            </a:pPr>
            <a:r>
              <a:rPr lang="en-US" sz="2800" b="1" dirty="0">
                <a:solidFill>
                  <a:srgbClr val="0F5257"/>
                </a:solidFill>
                <a:latin typeface="Calibri" pitchFamily="34" charset="0"/>
                <a:ea typeface="Calibri" pitchFamily="34" charset="-122"/>
                <a:cs typeface="Calibri" pitchFamily="34" charset="-120"/>
              </a:rPr>
              <a:t>491,020</a:t>
            </a:r>
            <a:endParaRPr lang="en-US" sz="2800" dirty="0"/>
          </a:p>
        </p:txBody>
      </p:sp>
      <p:sp>
        <p:nvSpPr>
          <p:cNvPr id="41" name="Text 39"/>
          <p:cNvSpPr txBox="1"/>
          <p:nvPr/>
        </p:nvSpPr>
        <p:spPr>
          <a:xfrm>
            <a:off x="548640" y="5596128"/>
            <a:ext cx="2651760" cy="320040"/>
          </a:xfrm>
          <a:prstGeom prst="rect">
            <a:avLst/>
          </a:prstGeom>
          <a:noFill/>
          <a:ln/>
        </p:spPr>
        <p:txBody>
          <a:bodyPr wrap="square" lIns="0" tIns="0" rIns="0" bIns="0" rtlCol="0" anchor="t"/>
          <a:lstStyle/>
          <a:p>
            <a:pPr algn="l" indent="0" marL="0">
              <a:buNone/>
            </a:pPr>
            <a:r>
              <a:rPr lang="en-US" sz="1300" dirty="0">
                <a:solidFill>
                  <a:srgbClr val="5B6B6E"/>
                </a:solidFill>
                <a:latin typeface="Calibri" pitchFamily="34" charset="0"/>
                <a:ea typeface="Calibri" pitchFamily="34" charset="-122"/>
                <a:cs typeface="Calibri" pitchFamily="34" charset="-120"/>
              </a:rPr>
              <a:t>contracts</a:t>
            </a:r>
            <a:endParaRPr lang="en-US" sz="1300" dirty="0"/>
          </a:p>
        </p:txBody>
      </p:sp>
      <p:sp>
        <p:nvSpPr>
          <p:cNvPr id="42" name="Text 40"/>
          <p:cNvSpPr txBox="1"/>
          <p:nvPr/>
        </p:nvSpPr>
        <p:spPr>
          <a:xfrm>
            <a:off x="3383280" y="5074920"/>
            <a:ext cx="2651760" cy="502920"/>
          </a:xfrm>
          <a:prstGeom prst="rect">
            <a:avLst/>
          </a:prstGeom>
          <a:noFill/>
          <a:ln/>
        </p:spPr>
        <p:txBody>
          <a:bodyPr wrap="square" lIns="0" tIns="0" rIns="0" bIns="0" rtlCol="0" anchor="ctr"/>
          <a:lstStyle/>
          <a:p>
            <a:pPr algn="l" indent="0" marL="0">
              <a:buNone/>
            </a:pPr>
            <a:r>
              <a:rPr lang="en-US" sz="2800" b="1" dirty="0">
                <a:solidFill>
                  <a:srgbClr val="0F5257"/>
                </a:solidFill>
                <a:latin typeface="Calibri" pitchFamily="34" charset="0"/>
                <a:ea typeface="Calibri" pitchFamily="34" charset="-122"/>
                <a:cs typeface="Calibri" pitchFamily="34" charset="-120"/>
              </a:rPr>
              <a:t>22,461</a:t>
            </a:r>
            <a:endParaRPr lang="en-US" sz="2800" dirty="0"/>
          </a:p>
        </p:txBody>
      </p:sp>
      <p:sp>
        <p:nvSpPr>
          <p:cNvPr id="43" name="Text 41"/>
          <p:cNvSpPr txBox="1"/>
          <p:nvPr/>
        </p:nvSpPr>
        <p:spPr>
          <a:xfrm>
            <a:off x="3383280" y="5596128"/>
            <a:ext cx="2651760" cy="320040"/>
          </a:xfrm>
          <a:prstGeom prst="rect">
            <a:avLst/>
          </a:prstGeom>
          <a:noFill/>
          <a:ln/>
        </p:spPr>
        <p:txBody>
          <a:bodyPr wrap="square" lIns="0" tIns="0" rIns="0" bIns="0" rtlCol="0" anchor="t"/>
          <a:lstStyle/>
          <a:p>
            <a:pPr algn="l" indent="0" marL="0">
              <a:buNone/>
            </a:pPr>
            <a:r>
              <a:rPr lang="en-US" sz="1300" dirty="0">
                <a:solidFill>
                  <a:srgbClr val="5B6B6E"/>
                </a:solidFill>
                <a:latin typeface="Calibri" pitchFamily="34" charset="0"/>
                <a:ea typeface="Calibri" pitchFamily="34" charset="-122"/>
                <a:cs typeface="Calibri" pitchFamily="34" charset="-120"/>
              </a:rPr>
              <a:t>projects</a:t>
            </a:r>
            <a:endParaRPr lang="en-US" sz="1300" dirty="0"/>
          </a:p>
        </p:txBody>
      </p:sp>
      <p:sp>
        <p:nvSpPr>
          <p:cNvPr id="44" name="Text 42"/>
          <p:cNvSpPr txBox="1"/>
          <p:nvPr/>
        </p:nvSpPr>
        <p:spPr>
          <a:xfrm>
            <a:off x="6217920" y="5074920"/>
            <a:ext cx="2651760" cy="502920"/>
          </a:xfrm>
          <a:prstGeom prst="rect">
            <a:avLst/>
          </a:prstGeom>
          <a:noFill/>
          <a:ln/>
        </p:spPr>
        <p:txBody>
          <a:bodyPr wrap="square" lIns="0" tIns="0" rIns="0" bIns="0" rtlCol="0" anchor="ctr"/>
          <a:lstStyle/>
          <a:p>
            <a:pPr algn="l" indent="0" marL="0">
              <a:buNone/>
            </a:pPr>
            <a:r>
              <a:rPr lang="en-US" sz="2800" b="1" dirty="0">
                <a:solidFill>
                  <a:srgbClr val="0F5257"/>
                </a:solidFill>
                <a:latin typeface="Calibri" pitchFamily="34" charset="0"/>
                <a:ea typeface="Calibri" pitchFamily="34" charset="-122"/>
                <a:cs typeface="Calibri" pitchFamily="34" charset="-120"/>
              </a:rPr>
              <a:t>9,564</a:t>
            </a:r>
            <a:endParaRPr lang="en-US" sz="2800" dirty="0"/>
          </a:p>
        </p:txBody>
      </p:sp>
      <p:sp>
        <p:nvSpPr>
          <p:cNvPr id="45" name="Text 43"/>
          <p:cNvSpPr txBox="1"/>
          <p:nvPr/>
        </p:nvSpPr>
        <p:spPr>
          <a:xfrm>
            <a:off x="6217920" y="5596128"/>
            <a:ext cx="2651760" cy="320040"/>
          </a:xfrm>
          <a:prstGeom prst="rect">
            <a:avLst/>
          </a:prstGeom>
          <a:noFill/>
          <a:ln/>
        </p:spPr>
        <p:txBody>
          <a:bodyPr wrap="square" lIns="0" tIns="0" rIns="0" bIns="0" rtlCol="0" anchor="t"/>
          <a:lstStyle/>
          <a:p>
            <a:pPr algn="l" indent="0" marL="0">
              <a:buNone/>
            </a:pPr>
            <a:r>
              <a:rPr lang="en-US" sz="1300" dirty="0">
                <a:solidFill>
                  <a:srgbClr val="5B6B6E"/>
                </a:solidFill>
                <a:latin typeface="Calibri" pitchFamily="34" charset="0"/>
                <a:ea typeface="Calibri" pitchFamily="34" charset="-122"/>
                <a:cs typeface="Calibri" pitchFamily="34" charset="-120"/>
              </a:rPr>
              <a:t>indexed passages</a:t>
            </a:r>
            <a:endParaRPr lang="en-US" sz="1300" dirty="0"/>
          </a:p>
        </p:txBody>
      </p:sp>
      <p:sp>
        <p:nvSpPr>
          <p:cNvPr id="46" name="Text 44"/>
          <p:cNvSpPr txBox="1"/>
          <p:nvPr/>
        </p:nvSpPr>
        <p:spPr>
          <a:xfrm>
            <a:off x="9052560" y="5074920"/>
            <a:ext cx="2651760" cy="502920"/>
          </a:xfrm>
          <a:prstGeom prst="rect">
            <a:avLst/>
          </a:prstGeom>
          <a:noFill/>
          <a:ln/>
        </p:spPr>
        <p:txBody>
          <a:bodyPr wrap="square" lIns="0" tIns="0" rIns="0" bIns="0" rtlCol="0" anchor="ctr"/>
          <a:lstStyle/>
          <a:p>
            <a:pPr algn="l" indent="0" marL="0">
              <a:buNone/>
            </a:pPr>
            <a:r>
              <a:rPr lang="en-US" sz="2800" b="1" dirty="0">
                <a:solidFill>
                  <a:srgbClr val="0F5257"/>
                </a:solidFill>
                <a:latin typeface="Calibri" pitchFamily="34" charset="0"/>
                <a:ea typeface="Calibri" pitchFamily="34" charset="-122"/>
                <a:cs typeface="Calibri" pitchFamily="34" charset="-120"/>
              </a:rPr>
              <a:t>16</a:t>
            </a:r>
            <a:endParaRPr lang="en-US" sz="2800" dirty="0"/>
          </a:p>
        </p:txBody>
      </p:sp>
      <p:sp>
        <p:nvSpPr>
          <p:cNvPr id="47" name="Text 45"/>
          <p:cNvSpPr txBox="1"/>
          <p:nvPr/>
        </p:nvSpPr>
        <p:spPr>
          <a:xfrm>
            <a:off x="9052560" y="5596128"/>
            <a:ext cx="2651760" cy="320040"/>
          </a:xfrm>
          <a:prstGeom prst="rect">
            <a:avLst/>
          </a:prstGeom>
          <a:noFill/>
          <a:ln/>
        </p:spPr>
        <p:txBody>
          <a:bodyPr wrap="square" lIns="0" tIns="0" rIns="0" bIns="0" rtlCol="0" anchor="t"/>
          <a:lstStyle/>
          <a:p>
            <a:pPr algn="l" indent="0" marL="0">
              <a:buNone/>
            </a:pPr>
            <a:r>
              <a:rPr lang="en-US" sz="1300" dirty="0">
                <a:solidFill>
                  <a:srgbClr val="5B6B6E"/>
                </a:solidFill>
                <a:latin typeface="Calibri" pitchFamily="34" charset="0"/>
                <a:ea typeface="Calibri" pitchFamily="34" charset="-122"/>
                <a:cs typeface="Calibri" pitchFamily="34" charset="-120"/>
              </a:rPr>
              <a:t>demo projects, 5 countries</a:t>
            </a:r>
            <a:endParaRPr lang="en-US" sz="13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6E"/>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7680960" cy="822960"/>
          </a:xfrm>
          <a:prstGeom prst="rect">
            <a:avLst/>
          </a:prstGeom>
          <a:noFill/>
          <a:ln/>
        </p:spPr>
        <p:txBody>
          <a:bodyPr wrap="square" lIns="0" tIns="0" rIns="0" bIns="0" rtlCol="0" anchor="ctr"/>
          <a:lstStyle/>
          <a:p>
            <a:pPr algn="l" indent="0" marL="0">
              <a:buNone/>
            </a:pPr>
            <a:r>
              <a:rPr lang="en-US" sz="3000" b="1" dirty="0">
                <a:solidFill>
                  <a:srgbClr val="0F5257"/>
                </a:solidFill>
                <a:latin typeface="Cambria" pitchFamily="34" charset="0"/>
                <a:ea typeface="Cambria" pitchFamily="34" charset="-122"/>
                <a:cs typeface="Cambria" pitchFamily="34" charset="-120"/>
              </a:rPr>
              <a:t>Data checked before any model was built</a:t>
            </a:r>
            <a:endParaRPr lang="en-US" sz="3000" dirty="0"/>
          </a:p>
        </p:txBody>
      </p:sp>
      <p:graphicFrame>
        <p:nvGraphicFramePr>
          <p:cNvPr id="3" name="Chart 0" descr=""/>
          <p:cNvGraphicFramePr/>
          <p:nvPr/>
        </p:nvGraphicFramePr>
        <p:xfrm>
          <a:off x="548640" y="1371600"/>
          <a:ext cx="6035040" cy="4480560"/>
        </p:xfrm>
        <a:graphic xmlns:a="http://schemas.openxmlformats.org/drawingml/2006/main">
          <a:graphicData uri="http://schemas.openxmlformats.org/drawingml/2006/chart">
            <c:chart xmlns:c="http://schemas.openxmlformats.org/drawingml/2006/chart" r:id="rId1"/>
          </a:graphicData>
        </a:graphic>
      </p:graphicFrame>
      <p:sp>
        <p:nvSpPr>
          <p:cNvPr id="4" name="card"/>
          <p:cNvSpPr/>
          <p:nvPr/>
        </p:nvSpPr>
        <p:spPr>
          <a:xfrm>
            <a:off x="6949440" y="1417320"/>
            <a:ext cx="4663440" cy="960120"/>
          </a:xfrm>
          <a:prstGeom prst="roundRect">
            <a:avLst>
              <a:gd name="adj" fmla="val 7619"/>
            </a:avLst>
          </a:prstGeom>
          <a:solidFill>
            <a:srgbClr val="EEF4F3"/>
          </a:solidFill>
          <a:ln w="12700">
            <a:solidFill>
              <a:srgbClr val="EEF4F3"/>
            </a:solidFill>
            <a:prstDash val="solid"/>
          </a:ln>
        </p:spPr>
      </p:sp>
      <p:sp>
        <p:nvSpPr>
          <p:cNvPr id="5" name="Text 2"/>
          <p:cNvSpPr txBox="1"/>
          <p:nvPr/>
        </p:nvSpPr>
        <p:spPr>
          <a:xfrm>
            <a:off x="7178040" y="1527048"/>
            <a:ext cx="4206240" cy="320040"/>
          </a:xfrm>
          <a:prstGeom prst="rect">
            <a:avLst/>
          </a:prstGeom>
          <a:noFill/>
          <a:ln/>
        </p:spPr>
        <p:txBody>
          <a:bodyPr wrap="square" lIns="0" tIns="0" rIns="0" bIns="0" rtlCol="0" anchor="t"/>
          <a:lstStyle/>
          <a:p>
            <a:pPr algn="l" indent="0" marL="0">
              <a:buNone/>
            </a:pPr>
            <a:r>
              <a:rPr lang="en-US" sz="1500" b="1" dirty="0">
                <a:solidFill>
                  <a:srgbClr val="0F5257"/>
                </a:solidFill>
                <a:latin typeface="Calibri" pitchFamily="34" charset="0"/>
                <a:ea typeface="Calibri" pitchFamily="34" charset="-122"/>
                <a:cs typeface="Calibri" pitchFamily="34" charset="-120"/>
              </a:rPr>
              <a:t>A third contract dataset</a:t>
            </a:r>
            <a:endParaRPr lang="en-US" sz="1500" dirty="0"/>
          </a:p>
        </p:txBody>
      </p:sp>
      <p:sp>
        <p:nvSpPr>
          <p:cNvPr id="6" name="Text 3"/>
          <p:cNvSpPr txBox="1"/>
          <p:nvPr/>
        </p:nvSpPr>
        <p:spPr>
          <a:xfrm>
            <a:off x="7178040" y="1856232"/>
            <a:ext cx="4297680" cy="502920"/>
          </a:xfrm>
          <a:prstGeom prst="rect">
            <a:avLst/>
          </a:prstGeom>
          <a:noFill/>
          <a:ln/>
        </p:spPr>
        <p:txBody>
          <a:bodyPr wrap="square" lIns="0" tIns="0" rIns="0" bIns="0" rtlCol="0" anchor="t"/>
          <a:lstStyle/>
          <a:p>
            <a:pPr algn="l" indent="0" marL="0">
              <a:buNone/>
            </a:pPr>
            <a:r>
              <a:rPr lang="en-US" sz="1300" dirty="0">
                <a:solidFill>
                  <a:srgbClr val="1B2A2E"/>
                </a:solidFill>
                <a:latin typeface="Calibri" pitchFamily="34" charset="0"/>
                <a:ea typeface="Calibri" pitchFamily="34" charset="-122"/>
                <a:cs typeface="Calibri" pitchFamily="34" charset="-120"/>
              </a:rPr>
              <a:t>DS04691 covers FY2017–19: the assumed gap was partial coverage, not missing data</a:t>
            </a:r>
            <a:endParaRPr lang="en-US" sz="1300" dirty="0"/>
          </a:p>
        </p:txBody>
      </p:sp>
      <p:sp>
        <p:nvSpPr>
          <p:cNvPr id="7" name="card"/>
          <p:cNvSpPr/>
          <p:nvPr/>
        </p:nvSpPr>
        <p:spPr>
          <a:xfrm>
            <a:off x="6949440" y="2532888"/>
            <a:ext cx="4663440" cy="960120"/>
          </a:xfrm>
          <a:prstGeom prst="roundRect">
            <a:avLst>
              <a:gd name="adj" fmla="val 7619"/>
            </a:avLst>
          </a:prstGeom>
          <a:solidFill>
            <a:srgbClr val="EEF4F3"/>
          </a:solidFill>
          <a:ln w="12700">
            <a:solidFill>
              <a:srgbClr val="EEF4F3"/>
            </a:solidFill>
            <a:prstDash val="solid"/>
          </a:ln>
        </p:spPr>
      </p:sp>
      <p:sp>
        <p:nvSpPr>
          <p:cNvPr id="8" name="Text 5"/>
          <p:cNvSpPr txBox="1"/>
          <p:nvPr/>
        </p:nvSpPr>
        <p:spPr>
          <a:xfrm>
            <a:off x="7178040" y="2642616"/>
            <a:ext cx="4206240" cy="320040"/>
          </a:xfrm>
          <a:prstGeom prst="rect">
            <a:avLst/>
          </a:prstGeom>
          <a:noFill/>
          <a:ln/>
        </p:spPr>
        <p:txBody>
          <a:bodyPr wrap="square" lIns="0" tIns="0" rIns="0" bIns="0" rtlCol="0" anchor="t"/>
          <a:lstStyle/>
          <a:p>
            <a:pPr algn="l" indent="0" marL="0">
              <a:buNone/>
            </a:pPr>
            <a:r>
              <a:rPr lang="en-US" sz="1500" b="1" dirty="0">
                <a:solidFill>
                  <a:srgbClr val="0F5257"/>
                </a:solidFill>
                <a:latin typeface="Calibri" pitchFamily="34" charset="0"/>
                <a:ea typeface="Calibri" pitchFamily="34" charset="-122"/>
                <a:cs typeface="Calibri" pitchFamily="34" charset="-120"/>
              </a:rPr>
              <a:t>Plan dates rejected</a:t>
            </a:r>
            <a:endParaRPr lang="en-US" sz="1500" dirty="0"/>
          </a:p>
        </p:txBody>
      </p:sp>
      <p:sp>
        <p:nvSpPr>
          <p:cNvPr id="9" name="Text 6"/>
          <p:cNvSpPr txBox="1"/>
          <p:nvPr/>
        </p:nvSpPr>
        <p:spPr>
          <a:xfrm>
            <a:off x="7178040" y="2971800"/>
            <a:ext cx="4297680" cy="502920"/>
          </a:xfrm>
          <a:prstGeom prst="rect">
            <a:avLst/>
          </a:prstGeom>
          <a:noFill/>
          <a:ln/>
        </p:spPr>
        <p:txBody>
          <a:bodyPr wrap="square" lIns="0" tIns="0" rIns="0" bIns="0" rtlCol="0" anchor="t"/>
          <a:lstStyle/>
          <a:p>
            <a:pPr algn="l" indent="0" marL="0">
              <a:buNone/>
            </a:pPr>
            <a:r>
              <a:rPr lang="en-US" sz="1300" dirty="0">
                <a:solidFill>
                  <a:srgbClr val="1B2A2E"/>
                </a:solidFill>
                <a:latin typeface="Calibri" pitchFamily="34" charset="0"/>
                <a:ea typeface="Calibri" pitchFamily="34" charset="-122"/>
                <a:cs typeface="Calibri" pitchFamily="34" charset="-120"/>
              </a:rPr>
              <a:t>Procurement-plan dates agreed with signing dates only 20% of the time</a:t>
            </a:r>
            <a:endParaRPr lang="en-US" sz="1300" dirty="0"/>
          </a:p>
        </p:txBody>
      </p:sp>
      <p:sp>
        <p:nvSpPr>
          <p:cNvPr id="10" name="card"/>
          <p:cNvSpPr/>
          <p:nvPr/>
        </p:nvSpPr>
        <p:spPr>
          <a:xfrm>
            <a:off x="6949440" y="3648456"/>
            <a:ext cx="4663440" cy="960120"/>
          </a:xfrm>
          <a:prstGeom prst="roundRect">
            <a:avLst>
              <a:gd name="adj" fmla="val 7619"/>
            </a:avLst>
          </a:prstGeom>
          <a:solidFill>
            <a:srgbClr val="EEF4F3"/>
          </a:solidFill>
          <a:ln w="12700">
            <a:solidFill>
              <a:srgbClr val="EEF4F3"/>
            </a:solidFill>
            <a:prstDash val="solid"/>
          </a:ln>
        </p:spPr>
      </p:sp>
      <p:sp>
        <p:nvSpPr>
          <p:cNvPr id="11" name="Text 8"/>
          <p:cNvSpPr txBox="1"/>
          <p:nvPr/>
        </p:nvSpPr>
        <p:spPr>
          <a:xfrm>
            <a:off x="7178040" y="3758184"/>
            <a:ext cx="4206240" cy="320040"/>
          </a:xfrm>
          <a:prstGeom prst="rect">
            <a:avLst/>
          </a:prstGeom>
          <a:noFill/>
          <a:ln/>
        </p:spPr>
        <p:txBody>
          <a:bodyPr wrap="square" lIns="0" tIns="0" rIns="0" bIns="0" rtlCol="0" anchor="t"/>
          <a:lstStyle/>
          <a:p>
            <a:pPr algn="l" indent="0" marL="0">
              <a:buNone/>
            </a:pPr>
            <a:r>
              <a:rPr lang="en-US" sz="1500" b="1" dirty="0">
                <a:solidFill>
                  <a:srgbClr val="0F5257"/>
                </a:solidFill>
                <a:latin typeface="Calibri" pitchFamily="34" charset="0"/>
                <a:ea typeface="Calibri" pitchFamily="34" charset="-122"/>
                <a:cs typeface="Calibri" pitchFamily="34" charset="-120"/>
              </a:rPr>
              <a:t>Target tested first</a:t>
            </a:r>
            <a:endParaRPr lang="en-US" sz="1500" dirty="0"/>
          </a:p>
        </p:txBody>
      </p:sp>
      <p:sp>
        <p:nvSpPr>
          <p:cNvPr id="12" name="Text 9"/>
          <p:cNvSpPr txBox="1"/>
          <p:nvPr/>
        </p:nvSpPr>
        <p:spPr>
          <a:xfrm>
            <a:off x="7178040" y="4087368"/>
            <a:ext cx="4297680" cy="502920"/>
          </a:xfrm>
          <a:prstGeom prst="rect">
            <a:avLst/>
          </a:prstGeom>
          <a:noFill/>
          <a:ln/>
        </p:spPr>
        <p:txBody>
          <a:bodyPr wrap="square" lIns="0" tIns="0" rIns="0" bIns="0" rtlCol="0" anchor="t"/>
          <a:lstStyle/>
          <a:p>
            <a:pPr algn="l" indent="0" marL="0">
              <a:buNone/>
            </a:pPr>
            <a:r>
              <a:rPr lang="en-US" sz="1300" dirty="0">
                <a:solidFill>
                  <a:srgbClr val="1B2A2E"/>
                </a:solidFill>
                <a:latin typeface="Calibri" pitchFamily="34" charset="0"/>
                <a:ea typeface="Calibri" pitchFamily="34" charset="-122"/>
                <a:cs typeface="Calibri" pitchFamily="34" charset="-120"/>
              </a:rPr>
              <a:t>Post-review durations ≈13% negative, so the main model is prior-review</a:t>
            </a:r>
            <a:endParaRPr lang="en-US" sz="1300" dirty="0"/>
          </a:p>
        </p:txBody>
      </p:sp>
      <p:sp>
        <p:nvSpPr>
          <p:cNvPr id="13" name="card"/>
          <p:cNvSpPr/>
          <p:nvPr/>
        </p:nvSpPr>
        <p:spPr>
          <a:xfrm>
            <a:off x="6949440" y="4764024"/>
            <a:ext cx="4663440" cy="960120"/>
          </a:xfrm>
          <a:prstGeom prst="roundRect">
            <a:avLst>
              <a:gd name="adj" fmla="val 7619"/>
            </a:avLst>
          </a:prstGeom>
          <a:solidFill>
            <a:srgbClr val="EEF4F3"/>
          </a:solidFill>
          <a:ln w="12700">
            <a:solidFill>
              <a:srgbClr val="EEF4F3"/>
            </a:solidFill>
            <a:prstDash val="solid"/>
          </a:ln>
        </p:spPr>
      </p:sp>
      <p:sp>
        <p:nvSpPr>
          <p:cNvPr id="14" name="Text 11"/>
          <p:cNvSpPr txBox="1"/>
          <p:nvPr/>
        </p:nvSpPr>
        <p:spPr>
          <a:xfrm>
            <a:off x="7178040" y="4873752"/>
            <a:ext cx="4206240" cy="320040"/>
          </a:xfrm>
          <a:prstGeom prst="rect">
            <a:avLst/>
          </a:prstGeom>
          <a:noFill/>
          <a:ln/>
        </p:spPr>
        <p:txBody>
          <a:bodyPr wrap="square" lIns="0" tIns="0" rIns="0" bIns="0" rtlCol="0" anchor="t"/>
          <a:lstStyle/>
          <a:p>
            <a:pPr algn="l" indent="0" marL="0">
              <a:buNone/>
            </a:pPr>
            <a:r>
              <a:rPr lang="en-US" sz="1500" b="1" dirty="0">
                <a:solidFill>
                  <a:srgbClr val="0F5257"/>
                </a:solidFill>
                <a:latin typeface="Calibri" pitchFamily="34" charset="0"/>
                <a:ea typeface="Calibri" pitchFamily="34" charset="-122"/>
                <a:cs typeface="Calibri" pitchFamily="34" charset="-120"/>
              </a:rPr>
              <a:t>Automatic quality gate</a:t>
            </a:r>
            <a:endParaRPr lang="en-US" sz="1500" dirty="0"/>
          </a:p>
        </p:txBody>
      </p:sp>
      <p:sp>
        <p:nvSpPr>
          <p:cNvPr id="15" name="Text 12"/>
          <p:cNvSpPr txBox="1"/>
          <p:nvPr/>
        </p:nvSpPr>
        <p:spPr>
          <a:xfrm>
            <a:off x="7178040" y="5202936"/>
            <a:ext cx="4297680" cy="502920"/>
          </a:xfrm>
          <a:prstGeom prst="rect">
            <a:avLst/>
          </a:prstGeom>
          <a:noFill/>
          <a:ln/>
        </p:spPr>
        <p:txBody>
          <a:bodyPr wrap="square" lIns="0" tIns="0" rIns="0" bIns="0" rtlCol="0" anchor="t"/>
          <a:lstStyle/>
          <a:p>
            <a:pPr algn="l" indent="0" marL="0">
              <a:buNone/>
            </a:pPr>
            <a:r>
              <a:rPr lang="en-US" sz="1300" dirty="0">
                <a:solidFill>
                  <a:srgbClr val="1B2A2E"/>
                </a:solidFill>
                <a:latin typeface="Calibri" pitchFamily="34" charset="0"/>
                <a:ea typeface="Calibri" pitchFamily="34" charset="-122"/>
                <a:cs typeface="Calibri" pitchFamily="34" charset="-120"/>
              </a:rPr>
              <a:t>14 checks, all pass; models do not run on a failed refresh</a:t>
            </a:r>
            <a:endParaRPr lang="en-US" sz="13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6E"/>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7680960" cy="822960"/>
          </a:xfrm>
          <a:prstGeom prst="rect">
            <a:avLst/>
          </a:prstGeom>
          <a:noFill/>
          <a:ln/>
        </p:spPr>
        <p:txBody>
          <a:bodyPr wrap="square" lIns="0" tIns="0" rIns="0" bIns="0" rtlCol="0" anchor="ctr"/>
          <a:lstStyle/>
          <a:p>
            <a:pPr algn="l" indent="0" marL="0">
              <a:buNone/>
            </a:pPr>
            <a:r>
              <a:rPr lang="en-US" sz="3000" b="1" dirty="0">
                <a:solidFill>
                  <a:srgbClr val="0F5257"/>
                </a:solidFill>
                <a:latin typeface="Cambria" pitchFamily="34" charset="0"/>
                <a:ea typeface="Cambria" pitchFamily="34" charset="-122"/>
                <a:cs typeface="Cambria" pitchFamily="34" charset="-120"/>
              </a:rPr>
              <a:t>Every link carries its evidence and its date</a:t>
            </a:r>
            <a:endParaRPr lang="en-US" sz="3000" dirty="0"/>
          </a:p>
        </p:txBody>
      </p:sp>
      <p:sp>
        <p:nvSpPr>
          <p:cNvPr id="3" name="edge Notice-Tender"/>
          <p:cNvSpPr/>
          <p:nvPr/>
        </p:nvSpPr>
        <p:spPr>
          <a:xfrm>
            <a:off x="1463040" y="1920240"/>
            <a:ext cx="1920240" cy="914"/>
          </a:xfrm>
          <a:prstGeom prst="line">
            <a:avLst/>
          </a:prstGeom>
          <a:noFill/>
          <a:ln w="19050">
            <a:solidFill>
              <a:srgbClr val="9DBCB8"/>
            </a:solidFill>
            <a:prstDash val="solid"/>
          </a:ln>
        </p:spPr>
      </p:sp>
      <p:sp>
        <p:nvSpPr>
          <p:cNvPr id="4" name="edge Tender-Contract"/>
          <p:cNvSpPr/>
          <p:nvPr/>
        </p:nvSpPr>
        <p:spPr>
          <a:xfrm>
            <a:off x="3383280" y="1920240"/>
            <a:ext cx="1920240" cy="914"/>
          </a:xfrm>
          <a:prstGeom prst="line">
            <a:avLst/>
          </a:prstGeom>
          <a:noFill/>
          <a:ln w="19050">
            <a:solidFill>
              <a:srgbClr val="9DBCB8"/>
            </a:solidFill>
            <a:prstDash val="solid"/>
          </a:ln>
        </p:spPr>
      </p:sp>
      <p:sp>
        <p:nvSpPr>
          <p:cNvPr id="5" name="edge Contract-Supplier"/>
          <p:cNvSpPr/>
          <p:nvPr/>
        </p:nvSpPr>
        <p:spPr>
          <a:xfrm>
            <a:off x="5303520" y="1920240"/>
            <a:ext cx="914" cy="1508760"/>
          </a:xfrm>
          <a:prstGeom prst="line">
            <a:avLst/>
          </a:prstGeom>
          <a:noFill/>
          <a:ln w="19050">
            <a:solidFill>
              <a:srgbClr val="9DBCB8"/>
            </a:solidFill>
            <a:prstDash val="solid"/>
          </a:ln>
        </p:spPr>
      </p:sp>
      <p:sp>
        <p:nvSpPr>
          <p:cNvPr id="6" name="edge Contract-Project"/>
          <p:cNvSpPr/>
          <p:nvPr/>
        </p:nvSpPr>
        <p:spPr>
          <a:xfrm flipH="1">
            <a:off x="3383280" y="1920240"/>
            <a:ext cx="1920240" cy="1508760"/>
          </a:xfrm>
          <a:prstGeom prst="line">
            <a:avLst/>
          </a:prstGeom>
          <a:noFill/>
          <a:ln w="19050">
            <a:solidFill>
              <a:srgbClr val="9DBCB8"/>
            </a:solidFill>
            <a:prstDash val="solid"/>
          </a:ln>
        </p:spPr>
      </p:sp>
      <p:sp>
        <p:nvSpPr>
          <p:cNvPr id="7" name="edge Document-Project"/>
          <p:cNvSpPr/>
          <p:nvPr/>
        </p:nvSpPr>
        <p:spPr>
          <a:xfrm>
            <a:off x="1463040" y="3429000"/>
            <a:ext cx="1920240" cy="914"/>
          </a:xfrm>
          <a:prstGeom prst="line">
            <a:avLst/>
          </a:prstGeom>
          <a:noFill/>
          <a:ln w="19050">
            <a:solidFill>
              <a:srgbClr val="9DBCB8"/>
            </a:solidFill>
            <a:prstDash val="solid"/>
          </a:ln>
        </p:spPr>
      </p:sp>
      <p:sp>
        <p:nvSpPr>
          <p:cNvPr id="8" name="edge Document-Chunk"/>
          <p:cNvSpPr/>
          <p:nvPr/>
        </p:nvSpPr>
        <p:spPr>
          <a:xfrm>
            <a:off x="1463040" y="3429000"/>
            <a:ext cx="1920240" cy="1508760"/>
          </a:xfrm>
          <a:prstGeom prst="line">
            <a:avLst/>
          </a:prstGeom>
          <a:noFill/>
          <a:ln w="19050">
            <a:solidFill>
              <a:srgbClr val="9DBCB8"/>
            </a:solidFill>
            <a:prstDash val="solid"/>
          </a:ln>
        </p:spPr>
      </p:sp>
      <p:sp>
        <p:nvSpPr>
          <p:cNvPr id="9" name="edge Lesson-Chunk"/>
          <p:cNvSpPr/>
          <p:nvPr/>
        </p:nvSpPr>
        <p:spPr>
          <a:xfrm>
            <a:off x="1463040" y="4937760"/>
            <a:ext cx="1920240" cy="914"/>
          </a:xfrm>
          <a:prstGeom prst="line">
            <a:avLst/>
          </a:prstGeom>
          <a:noFill/>
          <a:ln w="19050">
            <a:solidFill>
              <a:srgbClr val="9DBCB8"/>
            </a:solidFill>
            <a:prstDash val="solid"/>
          </a:ln>
        </p:spPr>
      </p:sp>
      <p:sp>
        <p:nvSpPr>
          <p:cNvPr id="10" name="edge Chunk-Rating"/>
          <p:cNvSpPr/>
          <p:nvPr/>
        </p:nvSpPr>
        <p:spPr>
          <a:xfrm>
            <a:off x="3383280" y="4937760"/>
            <a:ext cx="1920240" cy="914"/>
          </a:xfrm>
          <a:prstGeom prst="line">
            <a:avLst/>
          </a:prstGeom>
          <a:noFill/>
          <a:ln w="19050">
            <a:solidFill>
              <a:srgbClr val="9DBCB8"/>
            </a:solidFill>
            <a:prstDash val="solid"/>
          </a:ln>
        </p:spPr>
      </p:sp>
      <p:sp>
        <p:nvSpPr>
          <p:cNvPr id="11" name="edge Chunk-Contract"/>
          <p:cNvSpPr/>
          <p:nvPr/>
        </p:nvSpPr>
        <p:spPr>
          <a:xfrm flipH="1">
            <a:off x="3383280" y="1920240"/>
            <a:ext cx="1920240" cy="3017520"/>
          </a:xfrm>
          <a:prstGeom prst="line">
            <a:avLst/>
          </a:prstGeom>
          <a:noFill/>
          <a:ln w="31750">
            <a:solidFill>
              <a:srgbClr val="F3B23C"/>
            </a:solidFill>
            <a:prstDash val="dash"/>
          </a:ln>
        </p:spPr>
      </p:sp>
      <p:sp>
        <p:nvSpPr>
          <p:cNvPr id="12" name="node Notice"/>
          <p:cNvSpPr/>
          <p:nvPr/>
        </p:nvSpPr>
        <p:spPr>
          <a:xfrm>
            <a:off x="731520" y="1645920"/>
            <a:ext cx="1463040" cy="548640"/>
          </a:xfrm>
          <a:prstGeom prst="roundRect">
            <a:avLst>
              <a:gd name="adj" fmla="val 16667"/>
            </a:avLst>
          </a:prstGeom>
          <a:solidFill>
            <a:srgbClr val="FFFFFF"/>
          </a:solidFill>
          <a:ln w="15875">
            <a:solidFill>
              <a:srgbClr val="0F5257"/>
            </a:solidFill>
            <a:prstDash val="solid"/>
          </a:ln>
        </p:spPr>
      </p:sp>
      <p:sp>
        <p:nvSpPr>
          <p:cNvPr id="13" name="Text 11"/>
          <p:cNvSpPr txBox="1"/>
          <p:nvPr/>
        </p:nvSpPr>
        <p:spPr>
          <a:xfrm>
            <a:off x="731520" y="1645920"/>
            <a:ext cx="1463040" cy="548640"/>
          </a:xfrm>
          <a:prstGeom prst="rect">
            <a:avLst/>
          </a:prstGeom>
          <a:noFill/>
          <a:ln/>
        </p:spPr>
        <p:txBody>
          <a:bodyPr wrap="square" lIns="0" tIns="0" rIns="0" bIns="0" rtlCol="0" anchor="ctr"/>
          <a:lstStyle/>
          <a:p>
            <a:pPr algn="ctr" indent="0" marL="0">
              <a:buNone/>
            </a:pPr>
            <a:r>
              <a:rPr lang="en-US" sz="1400" b="1" dirty="0">
                <a:solidFill>
                  <a:srgbClr val="0F5257"/>
                </a:solidFill>
                <a:latin typeface="Calibri" pitchFamily="34" charset="0"/>
                <a:ea typeface="Calibri" pitchFamily="34" charset="-122"/>
                <a:cs typeface="Calibri" pitchFamily="34" charset="-120"/>
              </a:rPr>
              <a:t>Notice</a:t>
            </a:r>
            <a:endParaRPr lang="en-US" sz="1400" dirty="0"/>
          </a:p>
        </p:txBody>
      </p:sp>
      <p:sp>
        <p:nvSpPr>
          <p:cNvPr id="14" name="node Tender"/>
          <p:cNvSpPr/>
          <p:nvPr/>
        </p:nvSpPr>
        <p:spPr>
          <a:xfrm>
            <a:off x="2651760" y="1645920"/>
            <a:ext cx="1463040" cy="548640"/>
          </a:xfrm>
          <a:prstGeom prst="roundRect">
            <a:avLst>
              <a:gd name="adj" fmla="val 16667"/>
            </a:avLst>
          </a:prstGeom>
          <a:solidFill>
            <a:srgbClr val="FFFFFF"/>
          </a:solidFill>
          <a:ln w="15875">
            <a:solidFill>
              <a:srgbClr val="0F5257"/>
            </a:solidFill>
            <a:prstDash val="solid"/>
          </a:ln>
        </p:spPr>
      </p:sp>
      <p:sp>
        <p:nvSpPr>
          <p:cNvPr id="15" name="Text 13"/>
          <p:cNvSpPr txBox="1"/>
          <p:nvPr/>
        </p:nvSpPr>
        <p:spPr>
          <a:xfrm>
            <a:off x="2651760" y="1645920"/>
            <a:ext cx="1463040" cy="548640"/>
          </a:xfrm>
          <a:prstGeom prst="rect">
            <a:avLst/>
          </a:prstGeom>
          <a:noFill/>
          <a:ln/>
        </p:spPr>
        <p:txBody>
          <a:bodyPr wrap="square" lIns="0" tIns="0" rIns="0" bIns="0" rtlCol="0" anchor="ctr"/>
          <a:lstStyle/>
          <a:p>
            <a:pPr algn="ctr" indent="0" marL="0">
              <a:buNone/>
            </a:pPr>
            <a:r>
              <a:rPr lang="en-US" sz="1400" b="1" dirty="0">
                <a:solidFill>
                  <a:srgbClr val="0F5257"/>
                </a:solidFill>
                <a:latin typeface="Calibri" pitchFamily="34" charset="0"/>
                <a:ea typeface="Calibri" pitchFamily="34" charset="-122"/>
                <a:cs typeface="Calibri" pitchFamily="34" charset="-120"/>
              </a:rPr>
              <a:t>Tender</a:t>
            </a:r>
            <a:endParaRPr lang="en-US" sz="1400" dirty="0"/>
          </a:p>
        </p:txBody>
      </p:sp>
      <p:sp>
        <p:nvSpPr>
          <p:cNvPr id="16" name="node Contract"/>
          <p:cNvSpPr/>
          <p:nvPr/>
        </p:nvSpPr>
        <p:spPr>
          <a:xfrm>
            <a:off x="4572000" y="1645920"/>
            <a:ext cx="1463040" cy="548640"/>
          </a:xfrm>
          <a:prstGeom prst="roundRect">
            <a:avLst>
              <a:gd name="adj" fmla="val 16667"/>
            </a:avLst>
          </a:prstGeom>
          <a:solidFill>
            <a:srgbClr val="0F5257"/>
          </a:solidFill>
          <a:ln w="15875">
            <a:solidFill>
              <a:srgbClr val="0F5257"/>
            </a:solidFill>
            <a:prstDash val="solid"/>
          </a:ln>
        </p:spPr>
      </p:sp>
      <p:sp>
        <p:nvSpPr>
          <p:cNvPr id="17" name="Text 15"/>
          <p:cNvSpPr txBox="1"/>
          <p:nvPr/>
        </p:nvSpPr>
        <p:spPr>
          <a:xfrm>
            <a:off x="4572000" y="1645920"/>
            <a:ext cx="1463040" cy="5486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Contract</a:t>
            </a:r>
            <a:endParaRPr lang="en-US" sz="1400" dirty="0"/>
          </a:p>
        </p:txBody>
      </p:sp>
      <p:sp>
        <p:nvSpPr>
          <p:cNvPr id="18" name="node Supplier"/>
          <p:cNvSpPr/>
          <p:nvPr/>
        </p:nvSpPr>
        <p:spPr>
          <a:xfrm>
            <a:off x="4572000" y="3154680"/>
            <a:ext cx="1463040" cy="548640"/>
          </a:xfrm>
          <a:prstGeom prst="roundRect">
            <a:avLst>
              <a:gd name="adj" fmla="val 16667"/>
            </a:avLst>
          </a:prstGeom>
          <a:solidFill>
            <a:srgbClr val="FFFFFF"/>
          </a:solidFill>
          <a:ln w="15875">
            <a:solidFill>
              <a:srgbClr val="0F5257"/>
            </a:solidFill>
            <a:prstDash val="solid"/>
          </a:ln>
        </p:spPr>
      </p:sp>
      <p:sp>
        <p:nvSpPr>
          <p:cNvPr id="19" name="Text 17"/>
          <p:cNvSpPr txBox="1"/>
          <p:nvPr/>
        </p:nvSpPr>
        <p:spPr>
          <a:xfrm>
            <a:off x="4572000" y="3154680"/>
            <a:ext cx="1463040" cy="548640"/>
          </a:xfrm>
          <a:prstGeom prst="rect">
            <a:avLst/>
          </a:prstGeom>
          <a:noFill/>
          <a:ln/>
        </p:spPr>
        <p:txBody>
          <a:bodyPr wrap="square" lIns="0" tIns="0" rIns="0" bIns="0" rtlCol="0" anchor="ctr"/>
          <a:lstStyle/>
          <a:p>
            <a:pPr algn="ctr" indent="0" marL="0">
              <a:buNone/>
            </a:pPr>
            <a:r>
              <a:rPr lang="en-US" sz="1400" b="1" dirty="0">
                <a:solidFill>
                  <a:srgbClr val="0F5257"/>
                </a:solidFill>
                <a:latin typeface="Calibri" pitchFamily="34" charset="0"/>
                <a:ea typeface="Calibri" pitchFamily="34" charset="-122"/>
                <a:cs typeface="Calibri" pitchFamily="34" charset="-120"/>
              </a:rPr>
              <a:t>Supplier</a:t>
            </a:r>
            <a:endParaRPr lang="en-US" sz="1400" dirty="0"/>
          </a:p>
        </p:txBody>
      </p:sp>
      <p:sp>
        <p:nvSpPr>
          <p:cNvPr id="20" name="node Project"/>
          <p:cNvSpPr/>
          <p:nvPr/>
        </p:nvSpPr>
        <p:spPr>
          <a:xfrm>
            <a:off x="2651760" y="3154680"/>
            <a:ext cx="1463040" cy="548640"/>
          </a:xfrm>
          <a:prstGeom prst="roundRect">
            <a:avLst>
              <a:gd name="adj" fmla="val 16667"/>
            </a:avLst>
          </a:prstGeom>
          <a:solidFill>
            <a:srgbClr val="FFFFFF"/>
          </a:solidFill>
          <a:ln w="15875">
            <a:solidFill>
              <a:srgbClr val="0F5257"/>
            </a:solidFill>
            <a:prstDash val="solid"/>
          </a:ln>
        </p:spPr>
      </p:sp>
      <p:sp>
        <p:nvSpPr>
          <p:cNvPr id="21" name="Text 19"/>
          <p:cNvSpPr txBox="1"/>
          <p:nvPr/>
        </p:nvSpPr>
        <p:spPr>
          <a:xfrm>
            <a:off x="2651760" y="3154680"/>
            <a:ext cx="1463040" cy="548640"/>
          </a:xfrm>
          <a:prstGeom prst="rect">
            <a:avLst/>
          </a:prstGeom>
          <a:noFill/>
          <a:ln/>
        </p:spPr>
        <p:txBody>
          <a:bodyPr wrap="square" lIns="0" tIns="0" rIns="0" bIns="0" rtlCol="0" anchor="ctr"/>
          <a:lstStyle/>
          <a:p>
            <a:pPr algn="ctr" indent="0" marL="0">
              <a:buNone/>
            </a:pPr>
            <a:r>
              <a:rPr lang="en-US" sz="1400" b="1" dirty="0">
                <a:solidFill>
                  <a:srgbClr val="0F5257"/>
                </a:solidFill>
                <a:latin typeface="Calibri" pitchFamily="34" charset="0"/>
                <a:ea typeface="Calibri" pitchFamily="34" charset="-122"/>
                <a:cs typeface="Calibri" pitchFamily="34" charset="-120"/>
              </a:rPr>
              <a:t>Project</a:t>
            </a:r>
            <a:endParaRPr lang="en-US" sz="1400" dirty="0"/>
          </a:p>
        </p:txBody>
      </p:sp>
      <p:sp>
        <p:nvSpPr>
          <p:cNvPr id="22" name="node Document"/>
          <p:cNvSpPr/>
          <p:nvPr/>
        </p:nvSpPr>
        <p:spPr>
          <a:xfrm>
            <a:off x="731520" y="3154680"/>
            <a:ext cx="1463040" cy="548640"/>
          </a:xfrm>
          <a:prstGeom prst="roundRect">
            <a:avLst>
              <a:gd name="adj" fmla="val 16667"/>
            </a:avLst>
          </a:prstGeom>
          <a:solidFill>
            <a:srgbClr val="FFFFFF"/>
          </a:solidFill>
          <a:ln w="15875">
            <a:solidFill>
              <a:srgbClr val="0F5257"/>
            </a:solidFill>
            <a:prstDash val="solid"/>
          </a:ln>
        </p:spPr>
      </p:sp>
      <p:sp>
        <p:nvSpPr>
          <p:cNvPr id="23" name="Text 21"/>
          <p:cNvSpPr txBox="1"/>
          <p:nvPr/>
        </p:nvSpPr>
        <p:spPr>
          <a:xfrm>
            <a:off x="731520" y="3154680"/>
            <a:ext cx="1463040" cy="548640"/>
          </a:xfrm>
          <a:prstGeom prst="rect">
            <a:avLst/>
          </a:prstGeom>
          <a:noFill/>
          <a:ln/>
        </p:spPr>
        <p:txBody>
          <a:bodyPr wrap="square" lIns="0" tIns="0" rIns="0" bIns="0" rtlCol="0" anchor="ctr"/>
          <a:lstStyle/>
          <a:p>
            <a:pPr algn="ctr" indent="0" marL="0">
              <a:buNone/>
            </a:pPr>
            <a:r>
              <a:rPr lang="en-US" sz="1400" b="1" dirty="0">
                <a:solidFill>
                  <a:srgbClr val="0F5257"/>
                </a:solidFill>
                <a:latin typeface="Calibri" pitchFamily="34" charset="0"/>
                <a:ea typeface="Calibri" pitchFamily="34" charset="-122"/>
                <a:cs typeface="Calibri" pitchFamily="34" charset="-120"/>
              </a:rPr>
              <a:t>Document</a:t>
            </a:r>
            <a:endParaRPr lang="en-US" sz="1400" dirty="0"/>
          </a:p>
        </p:txBody>
      </p:sp>
      <p:sp>
        <p:nvSpPr>
          <p:cNvPr id="24" name="node Lesson"/>
          <p:cNvSpPr/>
          <p:nvPr/>
        </p:nvSpPr>
        <p:spPr>
          <a:xfrm>
            <a:off x="731520" y="4663440"/>
            <a:ext cx="1463040" cy="548640"/>
          </a:xfrm>
          <a:prstGeom prst="roundRect">
            <a:avLst>
              <a:gd name="adj" fmla="val 16667"/>
            </a:avLst>
          </a:prstGeom>
          <a:solidFill>
            <a:srgbClr val="FFFFFF"/>
          </a:solidFill>
          <a:ln w="15875">
            <a:solidFill>
              <a:srgbClr val="0F5257"/>
            </a:solidFill>
            <a:prstDash val="solid"/>
          </a:ln>
        </p:spPr>
      </p:sp>
      <p:sp>
        <p:nvSpPr>
          <p:cNvPr id="25" name="Text 23"/>
          <p:cNvSpPr txBox="1"/>
          <p:nvPr/>
        </p:nvSpPr>
        <p:spPr>
          <a:xfrm>
            <a:off x="731520" y="4663440"/>
            <a:ext cx="1463040" cy="548640"/>
          </a:xfrm>
          <a:prstGeom prst="rect">
            <a:avLst/>
          </a:prstGeom>
          <a:noFill/>
          <a:ln/>
        </p:spPr>
        <p:txBody>
          <a:bodyPr wrap="square" lIns="0" tIns="0" rIns="0" bIns="0" rtlCol="0" anchor="ctr"/>
          <a:lstStyle/>
          <a:p>
            <a:pPr algn="ctr" indent="0" marL="0">
              <a:buNone/>
            </a:pPr>
            <a:r>
              <a:rPr lang="en-US" sz="1400" b="1" dirty="0">
                <a:solidFill>
                  <a:srgbClr val="0F5257"/>
                </a:solidFill>
                <a:latin typeface="Calibri" pitchFamily="34" charset="0"/>
                <a:ea typeface="Calibri" pitchFamily="34" charset="-122"/>
                <a:cs typeface="Calibri" pitchFamily="34" charset="-120"/>
              </a:rPr>
              <a:t>Lesson</a:t>
            </a:r>
            <a:endParaRPr lang="en-US" sz="1400" dirty="0"/>
          </a:p>
        </p:txBody>
      </p:sp>
      <p:sp>
        <p:nvSpPr>
          <p:cNvPr id="26" name="node Chunk"/>
          <p:cNvSpPr/>
          <p:nvPr/>
        </p:nvSpPr>
        <p:spPr>
          <a:xfrm>
            <a:off x="2651760" y="4663440"/>
            <a:ext cx="1463040" cy="548640"/>
          </a:xfrm>
          <a:prstGeom prst="roundRect">
            <a:avLst>
              <a:gd name="adj" fmla="val 16667"/>
            </a:avLst>
          </a:prstGeom>
          <a:solidFill>
            <a:srgbClr val="0F5257"/>
          </a:solidFill>
          <a:ln w="15875">
            <a:solidFill>
              <a:srgbClr val="0F5257"/>
            </a:solidFill>
            <a:prstDash val="solid"/>
          </a:ln>
        </p:spPr>
      </p:sp>
      <p:sp>
        <p:nvSpPr>
          <p:cNvPr id="27" name="Text 25"/>
          <p:cNvSpPr txBox="1"/>
          <p:nvPr/>
        </p:nvSpPr>
        <p:spPr>
          <a:xfrm>
            <a:off x="2651760" y="4663440"/>
            <a:ext cx="1463040" cy="5486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Chunk</a:t>
            </a:r>
            <a:endParaRPr lang="en-US" sz="1400" dirty="0"/>
          </a:p>
        </p:txBody>
      </p:sp>
      <p:sp>
        <p:nvSpPr>
          <p:cNvPr id="28" name="node Rating"/>
          <p:cNvSpPr/>
          <p:nvPr/>
        </p:nvSpPr>
        <p:spPr>
          <a:xfrm>
            <a:off x="4572000" y="4663440"/>
            <a:ext cx="1463040" cy="548640"/>
          </a:xfrm>
          <a:prstGeom prst="roundRect">
            <a:avLst>
              <a:gd name="adj" fmla="val 16667"/>
            </a:avLst>
          </a:prstGeom>
          <a:solidFill>
            <a:srgbClr val="FFFFFF"/>
          </a:solidFill>
          <a:ln w="15875">
            <a:solidFill>
              <a:srgbClr val="0F5257"/>
            </a:solidFill>
            <a:prstDash val="solid"/>
          </a:ln>
        </p:spPr>
      </p:sp>
      <p:sp>
        <p:nvSpPr>
          <p:cNvPr id="29" name="Text 27"/>
          <p:cNvSpPr txBox="1"/>
          <p:nvPr/>
        </p:nvSpPr>
        <p:spPr>
          <a:xfrm>
            <a:off x="4572000" y="4663440"/>
            <a:ext cx="1463040" cy="548640"/>
          </a:xfrm>
          <a:prstGeom prst="rect">
            <a:avLst/>
          </a:prstGeom>
          <a:noFill/>
          <a:ln/>
        </p:spPr>
        <p:txBody>
          <a:bodyPr wrap="square" lIns="0" tIns="0" rIns="0" bIns="0" rtlCol="0" anchor="ctr"/>
          <a:lstStyle/>
          <a:p>
            <a:pPr algn="ctr" indent="0" marL="0">
              <a:buNone/>
            </a:pPr>
            <a:r>
              <a:rPr lang="en-US" sz="1400" b="1" dirty="0">
                <a:solidFill>
                  <a:srgbClr val="0F5257"/>
                </a:solidFill>
                <a:latin typeface="Calibri" pitchFamily="34" charset="0"/>
                <a:ea typeface="Calibri" pitchFamily="34" charset="-122"/>
                <a:cs typeface="Calibri" pitchFamily="34" charset="-120"/>
              </a:rPr>
              <a:t>Rating</a:t>
            </a:r>
            <a:endParaRPr lang="en-US" sz="1400" dirty="0"/>
          </a:p>
        </p:txBody>
      </p:sp>
      <p:sp>
        <p:nvSpPr>
          <p:cNvPr id="30" name="Text 28"/>
          <p:cNvSpPr txBox="1"/>
          <p:nvPr/>
        </p:nvSpPr>
        <p:spPr>
          <a:xfrm>
            <a:off x="731520" y="5532120"/>
            <a:ext cx="5303520" cy="320040"/>
          </a:xfrm>
          <a:prstGeom prst="rect">
            <a:avLst/>
          </a:prstGeom>
          <a:noFill/>
          <a:ln/>
        </p:spPr>
        <p:txBody>
          <a:bodyPr wrap="square" lIns="0" tIns="0" rIns="0" bIns="0" rtlCol="0" anchor="t"/>
          <a:lstStyle/>
          <a:p>
            <a:pPr algn="l" indent="0" marL="0">
              <a:buNone/>
            </a:pPr>
            <a:r>
              <a:rPr lang="en-US" sz="1200" i="1" dirty="0">
                <a:solidFill>
                  <a:srgbClr val="8A5A00"/>
                </a:solidFill>
                <a:latin typeface="Calibri" pitchFamily="34" charset="0"/>
                <a:ea typeface="Calibri" pitchFamily="34" charset="-122"/>
                <a:cs typeface="Calibri" pitchFamily="34" charset="-120"/>
              </a:rPr>
              <a:t>DESCRIBES: a passage names the contract</a:t>
            </a:r>
            <a:endParaRPr lang="en-US" sz="1200" dirty="0"/>
          </a:p>
        </p:txBody>
      </p:sp>
      <p:sp>
        <p:nvSpPr>
          <p:cNvPr id="31" name="Text 29"/>
          <p:cNvSpPr txBox="1"/>
          <p:nvPr/>
        </p:nvSpPr>
        <p:spPr>
          <a:xfrm>
            <a:off x="6766560" y="1417320"/>
            <a:ext cx="4754880" cy="685800"/>
          </a:xfrm>
          <a:prstGeom prst="rect">
            <a:avLst/>
          </a:prstGeom>
          <a:noFill/>
          <a:ln/>
        </p:spPr>
        <p:txBody>
          <a:bodyPr wrap="square" lIns="0" tIns="0" rIns="0" bIns="0" rtlCol="0" anchor="b"/>
          <a:lstStyle/>
          <a:p>
            <a:pPr indent="0" marL="0">
              <a:buNone/>
            </a:pPr>
            <a:r>
              <a:rPr lang="en-US" sz="4000" b="1" dirty="0">
                <a:solidFill>
                  <a:srgbClr val="0F5257"/>
                </a:solidFill>
                <a:latin typeface="Cambria" pitchFamily="34" charset="0"/>
                <a:ea typeface="Cambria" pitchFamily="34" charset="-122"/>
                <a:cs typeface="Cambria" pitchFamily="34" charset="-120"/>
              </a:rPr>
              <a:t>1.3%</a:t>
            </a:r>
            <a:endParaRPr lang="en-US" sz="4000" dirty="0"/>
          </a:p>
        </p:txBody>
      </p:sp>
      <p:sp>
        <p:nvSpPr>
          <p:cNvPr id="32" name="Text 30"/>
          <p:cNvSpPr txBox="1"/>
          <p:nvPr/>
        </p:nvSpPr>
        <p:spPr>
          <a:xfrm>
            <a:off x="6766560" y="2148840"/>
            <a:ext cx="4754880" cy="548640"/>
          </a:xfrm>
          <a:prstGeom prst="rect">
            <a:avLst/>
          </a:prstGeom>
          <a:noFill/>
          <a:ln/>
        </p:spPr>
        <p:txBody>
          <a:bodyPr wrap="square" lIns="0" tIns="0" rIns="0" bIns="0" rtlCol="0" anchor="t"/>
          <a:lstStyle/>
          <a:p>
            <a:pPr indent="0" marL="0">
              <a:buNone/>
            </a:pPr>
            <a:r>
              <a:rPr lang="en-US" sz="1400" dirty="0">
                <a:solidFill>
                  <a:srgbClr val="1B2A2E"/>
                </a:solidFill>
                <a:latin typeface="Calibri" pitchFamily="34" charset="0"/>
                <a:ea typeface="Calibri" pitchFamily="34" charset="-122"/>
                <a:cs typeface="Calibri" pitchFamily="34" charset="-120"/>
              </a:rPr>
              <a:t>of demo contracts are named in any report passage (5 strong, 27 weak links)</a:t>
            </a:r>
            <a:endParaRPr lang="en-US" sz="1400" dirty="0"/>
          </a:p>
        </p:txBody>
      </p:sp>
      <p:sp>
        <p:nvSpPr>
          <p:cNvPr id="33" name="Text 31"/>
          <p:cNvSpPr txBox="1"/>
          <p:nvPr/>
        </p:nvSpPr>
        <p:spPr>
          <a:xfrm>
            <a:off x="6766560" y="2788920"/>
            <a:ext cx="4754880" cy="822960"/>
          </a:xfrm>
          <a:prstGeom prst="rect">
            <a:avLst/>
          </a:prstGeom>
          <a:noFill/>
          <a:ln/>
        </p:spPr>
        <p:txBody>
          <a:bodyPr wrap="square" lIns="0" tIns="0" rIns="0" bIns="0" rtlCol="0" anchor="t"/>
          <a:lstStyle/>
          <a:p>
            <a:pPr algn="l" indent="0" marL="0">
              <a:buNone/>
            </a:pPr>
            <a:r>
              <a:rPr lang="en-US" sz="1500" dirty="0">
                <a:solidFill>
                  <a:srgbClr val="1B2A2E"/>
                </a:solidFill>
                <a:latin typeface="Calibri" pitchFamily="34" charset="0"/>
                <a:ea typeface="Calibri" pitchFamily="34" charset="-122"/>
                <a:cs typeface="Calibri" pitchFamily="34" charset="-120"/>
              </a:rPr>
              <a:t>So Vector Search is the primary path; links add “this passage names your contract” where they exist.</a:t>
            </a:r>
            <a:endParaRPr lang="en-US" sz="1500" dirty="0"/>
          </a:p>
        </p:txBody>
      </p:sp>
      <p:sp>
        <p:nvSpPr>
          <p:cNvPr id="34" name="card"/>
          <p:cNvSpPr/>
          <p:nvPr/>
        </p:nvSpPr>
        <p:spPr>
          <a:xfrm>
            <a:off x="6766560" y="3794760"/>
            <a:ext cx="4846320" cy="1920240"/>
          </a:xfrm>
          <a:prstGeom prst="roundRect">
            <a:avLst>
              <a:gd name="adj" fmla="val 3810"/>
            </a:avLst>
          </a:prstGeom>
          <a:solidFill>
            <a:srgbClr val="EEF4F3"/>
          </a:solidFill>
          <a:ln w="12700">
            <a:solidFill>
              <a:srgbClr val="EEF4F3"/>
            </a:solidFill>
            <a:prstDash val="solid"/>
          </a:ln>
        </p:spPr>
      </p:sp>
      <p:sp>
        <p:nvSpPr>
          <p:cNvPr id="35" name="Text 33"/>
          <p:cNvSpPr txBox="1"/>
          <p:nvPr/>
        </p:nvSpPr>
        <p:spPr>
          <a:xfrm>
            <a:off x="6995160" y="3931920"/>
            <a:ext cx="4389120" cy="320040"/>
          </a:xfrm>
          <a:prstGeom prst="rect">
            <a:avLst/>
          </a:prstGeom>
          <a:noFill/>
          <a:ln/>
        </p:spPr>
        <p:txBody>
          <a:bodyPr wrap="square" lIns="0" tIns="0" rIns="0" bIns="0" rtlCol="0" anchor="t"/>
          <a:lstStyle/>
          <a:p>
            <a:pPr algn="l" indent="0" marL="0">
              <a:buNone/>
            </a:pPr>
            <a:r>
              <a:rPr lang="en-US" sz="1400" b="1" dirty="0">
                <a:solidFill>
                  <a:srgbClr val="0F5257"/>
                </a:solidFill>
                <a:latin typeface="Calibri" pitchFamily="34" charset="0"/>
                <a:ea typeface="Calibri" pitchFamily="34" charset="-122"/>
                <a:cs typeface="Calibri" pitchFamily="34" charset="-120"/>
              </a:rPr>
              <a:t>Traced on real data</a:t>
            </a:r>
            <a:endParaRPr lang="en-US" sz="1400" dirty="0"/>
          </a:p>
        </p:txBody>
      </p:sp>
      <p:sp>
        <p:nvSpPr>
          <p:cNvPr id="36" name="Text 34"/>
          <p:cNvSpPr txBox="1"/>
          <p:nvPr/>
        </p:nvSpPr>
        <p:spPr>
          <a:xfrm>
            <a:off x="6995160" y="4297680"/>
            <a:ext cx="4434840" cy="822960"/>
          </a:xfrm>
          <a:prstGeom prst="rect">
            <a:avLst/>
          </a:prstGeom>
          <a:noFill/>
          <a:ln/>
        </p:spPr>
        <p:txBody>
          <a:bodyPr wrap="square" lIns="0" tIns="0" rIns="0" bIns="0" rtlCol="0" anchor="t"/>
          <a:lstStyle/>
          <a:p>
            <a:pPr algn="l" indent="0" marL="0">
              <a:buNone/>
            </a:pPr>
            <a:r>
              <a:rPr lang="en-US" sz="1400" dirty="0">
                <a:solidFill>
                  <a:srgbClr val="1B2A2E"/>
                </a:solidFill>
                <a:latin typeface="Calibri" pitchFamily="34" charset="0"/>
                <a:ea typeface="Calibri" pitchFamily="34" charset="-122"/>
                <a:cs typeface="Calibri" pitchFamily="34" charset="-120"/>
              </a:rPr>
              <a:t>Contract GYTJ201B → supplier → project → ISR passage reporting that this contract was re-bid</a:t>
            </a:r>
            <a:endParaRPr lang="en-US" sz="1400" dirty="0"/>
          </a:p>
        </p:txBody>
      </p:sp>
      <p:sp>
        <p:nvSpPr>
          <p:cNvPr id="37" name="Text 35"/>
          <p:cNvSpPr txBox="1"/>
          <p:nvPr/>
        </p:nvSpPr>
        <p:spPr>
          <a:xfrm>
            <a:off x="6995160" y="5166360"/>
            <a:ext cx="4434840" cy="365760"/>
          </a:xfrm>
          <a:prstGeom prst="rect">
            <a:avLst/>
          </a:prstGeom>
          <a:noFill/>
          <a:ln/>
        </p:spPr>
        <p:txBody>
          <a:bodyPr wrap="square" lIns="0" tIns="0" rIns="0" bIns="0" rtlCol="0" anchor="t"/>
          <a:lstStyle/>
          <a:p>
            <a:pPr algn="l" indent="0" marL="0">
              <a:buNone/>
            </a:pPr>
            <a:r>
              <a:rPr lang="en-US" sz="1300" dirty="0">
                <a:solidFill>
                  <a:srgbClr val="5B6B6E"/>
                </a:solidFill>
                <a:latin typeface="Calibri" pitchFamily="34" charset="0"/>
                <a:ea typeface="Calibri" pitchFamily="34" charset="-122"/>
                <a:cs typeface="Calibri" pitchFamily="34" charset="-120"/>
              </a:rPr>
              <a:t>11 node types · 11 edge types · 0 orphan edges</a:t>
            </a:r>
            <a:endParaRPr lang="en-US" sz="13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6E"/>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7680960" cy="822960"/>
          </a:xfrm>
          <a:prstGeom prst="rect">
            <a:avLst/>
          </a:prstGeom>
          <a:noFill/>
          <a:ln/>
        </p:spPr>
        <p:txBody>
          <a:bodyPr wrap="square" lIns="0" tIns="0" rIns="0" bIns="0" rtlCol="0" anchor="ctr"/>
          <a:lstStyle/>
          <a:p>
            <a:pPr algn="l" indent="0" marL="0">
              <a:buNone/>
            </a:pPr>
            <a:r>
              <a:rPr lang="en-US" sz="3000" b="1" dirty="0">
                <a:solidFill>
                  <a:srgbClr val="0F5257"/>
                </a:solidFill>
                <a:latin typeface="Cambria" pitchFamily="34" charset="0"/>
                <a:ea typeface="Cambria" pitchFamily="34" charset="-122"/>
                <a:cs typeface="Cambria" pitchFamily="34" charset="-120"/>
              </a:rPr>
              <a:t>Plan: how long will this tender take?</a:t>
            </a:r>
            <a:endParaRPr lang="en-US" sz="3000" dirty="0"/>
          </a:p>
        </p:txBody>
      </p:sp>
      <p:sp>
        <p:nvSpPr>
          <p:cNvPr id="3" name="journey line"/>
          <p:cNvSpPr/>
          <p:nvPr/>
        </p:nvSpPr>
        <p:spPr>
          <a:xfrm>
            <a:off x="8613648" y="612648"/>
            <a:ext cx="2743200" cy="0"/>
          </a:xfrm>
          <a:prstGeom prst="line">
            <a:avLst/>
          </a:prstGeom>
          <a:noFill/>
          <a:ln w="19050">
            <a:solidFill>
              <a:srgbClr val="9DBCB8"/>
            </a:solidFill>
            <a:prstDash val="solid"/>
          </a:ln>
        </p:spPr>
      </p:sp>
      <p:sp>
        <p:nvSpPr>
          <p:cNvPr id="4" name="journey Plan"/>
          <p:cNvSpPr/>
          <p:nvPr/>
        </p:nvSpPr>
        <p:spPr>
          <a:xfrm>
            <a:off x="8458200" y="457200"/>
            <a:ext cx="310896" cy="310896"/>
          </a:xfrm>
          <a:prstGeom prst="ellipse">
            <a:avLst/>
          </a:prstGeom>
          <a:solidFill>
            <a:srgbClr val="F3B23C"/>
          </a:solidFill>
          <a:ln w="19050">
            <a:solidFill>
              <a:srgbClr val="F3B23C"/>
            </a:solidFill>
            <a:prstDash val="solid"/>
          </a:ln>
        </p:spPr>
      </p:sp>
      <p:sp>
        <p:nvSpPr>
          <p:cNvPr id="5" name="Text 3"/>
          <p:cNvSpPr txBox="1"/>
          <p:nvPr/>
        </p:nvSpPr>
        <p:spPr>
          <a:xfrm>
            <a:off x="8458200" y="457200"/>
            <a:ext cx="310896" cy="310896"/>
          </a:xfrm>
          <a:prstGeom prst="rect">
            <a:avLst/>
          </a:prstGeom>
          <a:noFill/>
          <a:ln/>
        </p:spPr>
        <p:txBody>
          <a:bodyPr wrap="square" lIns="0" tIns="0" rIns="0" bIns="0" rtlCol="0" anchor="ctr"/>
          <a:lstStyle/>
          <a:p>
            <a:pPr algn="ctr" indent="0" marL="0">
              <a:buNone/>
            </a:pPr>
            <a:r>
              <a:rPr lang="en-US" sz="1100" b="1" dirty="0">
                <a:solidFill>
                  <a:srgbClr val="1B2A2E"/>
                </a:solidFill>
                <a:latin typeface="Calibri" pitchFamily="34" charset="0"/>
                <a:ea typeface="Calibri" pitchFamily="34" charset="-122"/>
                <a:cs typeface="Calibri" pitchFamily="34" charset="-120"/>
              </a:rPr>
              <a:t>1</a:t>
            </a:r>
            <a:endParaRPr lang="en-US" sz="1100" dirty="0"/>
          </a:p>
        </p:txBody>
      </p:sp>
      <p:sp>
        <p:nvSpPr>
          <p:cNvPr id="6" name="Text 4"/>
          <p:cNvSpPr txBox="1"/>
          <p:nvPr/>
        </p:nvSpPr>
        <p:spPr>
          <a:xfrm>
            <a:off x="8156448" y="804672"/>
            <a:ext cx="914400" cy="256032"/>
          </a:xfrm>
          <a:prstGeom prst="rect">
            <a:avLst/>
          </a:prstGeom>
          <a:noFill/>
          <a:ln/>
        </p:spPr>
        <p:txBody>
          <a:bodyPr wrap="square" lIns="0" tIns="0" rIns="0" bIns="0" rtlCol="0" anchor="ctr"/>
          <a:lstStyle/>
          <a:p>
            <a:pPr algn="ctr" indent="0" marL="0">
              <a:buNone/>
            </a:pPr>
            <a:r>
              <a:rPr lang="en-US" sz="1000" b="1" dirty="0">
                <a:solidFill>
                  <a:srgbClr val="1B2A2E"/>
                </a:solidFill>
                <a:latin typeface="Calibri" pitchFamily="34" charset="0"/>
                <a:ea typeface="Calibri" pitchFamily="34" charset="-122"/>
                <a:cs typeface="Calibri" pitchFamily="34" charset="-120"/>
              </a:rPr>
              <a:t>Plan</a:t>
            </a:r>
            <a:endParaRPr lang="en-US" sz="1000" dirty="0"/>
          </a:p>
        </p:txBody>
      </p:sp>
      <p:sp>
        <p:nvSpPr>
          <p:cNvPr id="7" name="journey Tender design"/>
          <p:cNvSpPr/>
          <p:nvPr/>
        </p:nvSpPr>
        <p:spPr>
          <a:xfrm>
            <a:off x="9372600" y="457200"/>
            <a:ext cx="310896" cy="310896"/>
          </a:xfrm>
          <a:prstGeom prst="ellipse">
            <a:avLst/>
          </a:prstGeom>
          <a:solidFill>
            <a:srgbClr val="FFFFFF"/>
          </a:solidFill>
          <a:ln w="19050">
            <a:solidFill>
              <a:srgbClr val="9DBCB8"/>
            </a:solidFill>
            <a:prstDash val="solid"/>
          </a:ln>
        </p:spPr>
      </p:sp>
      <p:sp>
        <p:nvSpPr>
          <p:cNvPr id="8" name="Text 6"/>
          <p:cNvSpPr txBox="1"/>
          <p:nvPr/>
        </p:nvSpPr>
        <p:spPr>
          <a:xfrm>
            <a:off x="9372600" y="457200"/>
            <a:ext cx="310896" cy="310896"/>
          </a:xfrm>
          <a:prstGeom prst="rect">
            <a:avLst/>
          </a:prstGeom>
          <a:noFill/>
          <a:ln/>
        </p:spPr>
        <p:txBody>
          <a:bodyPr wrap="square" lIns="0" tIns="0" rIns="0" bIns="0" rtlCol="0" anchor="ctr"/>
          <a:lstStyle/>
          <a:p>
            <a:pPr algn="ctr" indent="0" marL="0">
              <a:buNone/>
            </a:pPr>
            <a:r>
              <a:rPr lang="en-US" sz="1100" b="1" dirty="0">
                <a:solidFill>
                  <a:srgbClr val="5B6B6E"/>
                </a:solidFill>
                <a:latin typeface="Calibri" pitchFamily="34" charset="0"/>
                <a:ea typeface="Calibri" pitchFamily="34" charset="-122"/>
                <a:cs typeface="Calibri" pitchFamily="34" charset="-120"/>
              </a:rPr>
              <a:t>2</a:t>
            </a:r>
            <a:endParaRPr lang="en-US" sz="1100" dirty="0"/>
          </a:p>
        </p:txBody>
      </p:sp>
      <p:sp>
        <p:nvSpPr>
          <p:cNvPr id="9" name="Text 7"/>
          <p:cNvSpPr txBox="1"/>
          <p:nvPr/>
        </p:nvSpPr>
        <p:spPr>
          <a:xfrm>
            <a:off x="9070848" y="804672"/>
            <a:ext cx="914400" cy="256032"/>
          </a:xfrm>
          <a:prstGeom prst="rect">
            <a:avLst/>
          </a:prstGeom>
          <a:noFill/>
          <a:ln/>
        </p:spPr>
        <p:txBody>
          <a:bodyPr wrap="square" lIns="0" tIns="0" rIns="0" bIns="0" rtlCol="0" anchor="ctr"/>
          <a:lstStyle/>
          <a:p>
            <a:pPr algn="ctr" indent="0" marL="0">
              <a:buNone/>
            </a:pPr>
            <a:r>
              <a:rPr lang="en-US" sz="1000" dirty="0">
                <a:solidFill>
                  <a:srgbClr val="5B6B6E"/>
                </a:solidFill>
                <a:latin typeface="Calibri" pitchFamily="34" charset="0"/>
                <a:ea typeface="Calibri" pitchFamily="34" charset="-122"/>
                <a:cs typeface="Calibri" pitchFamily="34" charset="-120"/>
              </a:rPr>
              <a:t>Tender design</a:t>
            </a:r>
            <a:endParaRPr lang="en-US" sz="1000" dirty="0"/>
          </a:p>
        </p:txBody>
      </p:sp>
      <p:sp>
        <p:nvSpPr>
          <p:cNvPr id="10" name="journey Monitor"/>
          <p:cNvSpPr/>
          <p:nvPr/>
        </p:nvSpPr>
        <p:spPr>
          <a:xfrm>
            <a:off x="10287000" y="457200"/>
            <a:ext cx="310896" cy="310896"/>
          </a:xfrm>
          <a:prstGeom prst="ellipse">
            <a:avLst/>
          </a:prstGeom>
          <a:solidFill>
            <a:srgbClr val="FFFFFF"/>
          </a:solidFill>
          <a:ln w="19050">
            <a:solidFill>
              <a:srgbClr val="9DBCB8"/>
            </a:solidFill>
            <a:prstDash val="solid"/>
          </a:ln>
        </p:spPr>
      </p:sp>
      <p:sp>
        <p:nvSpPr>
          <p:cNvPr id="11" name="Text 9"/>
          <p:cNvSpPr txBox="1"/>
          <p:nvPr/>
        </p:nvSpPr>
        <p:spPr>
          <a:xfrm>
            <a:off x="10287000" y="457200"/>
            <a:ext cx="310896" cy="310896"/>
          </a:xfrm>
          <a:prstGeom prst="rect">
            <a:avLst/>
          </a:prstGeom>
          <a:noFill/>
          <a:ln/>
        </p:spPr>
        <p:txBody>
          <a:bodyPr wrap="square" lIns="0" tIns="0" rIns="0" bIns="0" rtlCol="0" anchor="ctr"/>
          <a:lstStyle/>
          <a:p>
            <a:pPr algn="ctr" indent="0" marL="0">
              <a:buNone/>
            </a:pPr>
            <a:r>
              <a:rPr lang="en-US" sz="1100" b="1" dirty="0">
                <a:solidFill>
                  <a:srgbClr val="5B6B6E"/>
                </a:solidFill>
                <a:latin typeface="Calibri" pitchFamily="34" charset="0"/>
                <a:ea typeface="Calibri" pitchFamily="34" charset="-122"/>
                <a:cs typeface="Calibri" pitchFamily="34" charset="-120"/>
              </a:rPr>
              <a:t>3</a:t>
            </a:r>
            <a:endParaRPr lang="en-US" sz="1100" dirty="0"/>
          </a:p>
        </p:txBody>
      </p:sp>
      <p:sp>
        <p:nvSpPr>
          <p:cNvPr id="12" name="Text 10"/>
          <p:cNvSpPr txBox="1"/>
          <p:nvPr/>
        </p:nvSpPr>
        <p:spPr>
          <a:xfrm>
            <a:off x="9985248" y="804672"/>
            <a:ext cx="914400" cy="256032"/>
          </a:xfrm>
          <a:prstGeom prst="rect">
            <a:avLst/>
          </a:prstGeom>
          <a:noFill/>
          <a:ln/>
        </p:spPr>
        <p:txBody>
          <a:bodyPr wrap="square" lIns="0" tIns="0" rIns="0" bIns="0" rtlCol="0" anchor="ctr"/>
          <a:lstStyle/>
          <a:p>
            <a:pPr algn="ctr" indent="0" marL="0">
              <a:buNone/>
            </a:pPr>
            <a:r>
              <a:rPr lang="en-US" sz="1000" dirty="0">
                <a:solidFill>
                  <a:srgbClr val="5B6B6E"/>
                </a:solidFill>
                <a:latin typeface="Calibri" pitchFamily="34" charset="0"/>
                <a:ea typeface="Calibri" pitchFamily="34" charset="-122"/>
                <a:cs typeface="Calibri" pitchFamily="34" charset="-120"/>
              </a:rPr>
              <a:t>Monitor</a:t>
            </a:r>
            <a:endParaRPr lang="en-US" sz="1000" dirty="0"/>
          </a:p>
        </p:txBody>
      </p:sp>
      <p:sp>
        <p:nvSpPr>
          <p:cNvPr id="13" name="journey Learn"/>
          <p:cNvSpPr/>
          <p:nvPr/>
        </p:nvSpPr>
        <p:spPr>
          <a:xfrm>
            <a:off x="11201400" y="457200"/>
            <a:ext cx="310896" cy="310896"/>
          </a:xfrm>
          <a:prstGeom prst="ellipse">
            <a:avLst/>
          </a:prstGeom>
          <a:solidFill>
            <a:srgbClr val="FFFFFF"/>
          </a:solidFill>
          <a:ln w="19050">
            <a:solidFill>
              <a:srgbClr val="9DBCB8"/>
            </a:solidFill>
            <a:prstDash val="solid"/>
          </a:ln>
        </p:spPr>
      </p:sp>
      <p:sp>
        <p:nvSpPr>
          <p:cNvPr id="14" name="Text 12"/>
          <p:cNvSpPr txBox="1"/>
          <p:nvPr/>
        </p:nvSpPr>
        <p:spPr>
          <a:xfrm>
            <a:off x="11201400" y="457200"/>
            <a:ext cx="310896" cy="310896"/>
          </a:xfrm>
          <a:prstGeom prst="rect">
            <a:avLst/>
          </a:prstGeom>
          <a:noFill/>
          <a:ln/>
        </p:spPr>
        <p:txBody>
          <a:bodyPr wrap="square" lIns="0" tIns="0" rIns="0" bIns="0" rtlCol="0" anchor="ctr"/>
          <a:lstStyle/>
          <a:p>
            <a:pPr algn="ctr" indent="0" marL="0">
              <a:buNone/>
            </a:pPr>
            <a:r>
              <a:rPr lang="en-US" sz="1100" b="1" dirty="0">
                <a:solidFill>
                  <a:srgbClr val="5B6B6E"/>
                </a:solidFill>
                <a:latin typeface="Calibri" pitchFamily="34" charset="0"/>
                <a:ea typeface="Calibri" pitchFamily="34" charset="-122"/>
                <a:cs typeface="Calibri" pitchFamily="34" charset="-120"/>
              </a:rPr>
              <a:t>4</a:t>
            </a:r>
            <a:endParaRPr lang="en-US" sz="1100" dirty="0"/>
          </a:p>
        </p:txBody>
      </p:sp>
      <p:sp>
        <p:nvSpPr>
          <p:cNvPr id="15" name="Text 13"/>
          <p:cNvSpPr txBox="1"/>
          <p:nvPr/>
        </p:nvSpPr>
        <p:spPr>
          <a:xfrm>
            <a:off x="10899648" y="804672"/>
            <a:ext cx="914400" cy="256032"/>
          </a:xfrm>
          <a:prstGeom prst="rect">
            <a:avLst/>
          </a:prstGeom>
          <a:noFill/>
          <a:ln/>
        </p:spPr>
        <p:txBody>
          <a:bodyPr wrap="square" lIns="0" tIns="0" rIns="0" bIns="0" rtlCol="0" anchor="ctr"/>
          <a:lstStyle/>
          <a:p>
            <a:pPr algn="ctr" indent="0" marL="0">
              <a:buNone/>
            </a:pPr>
            <a:r>
              <a:rPr lang="en-US" sz="1000" dirty="0">
                <a:solidFill>
                  <a:srgbClr val="5B6B6E"/>
                </a:solidFill>
                <a:latin typeface="Calibri" pitchFamily="34" charset="0"/>
                <a:ea typeface="Calibri" pitchFamily="34" charset="-122"/>
                <a:cs typeface="Calibri" pitchFamily="34" charset="-120"/>
              </a:rPr>
              <a:t>Learn</a:t>
            </a:r>
            <a:endParaRPr lang="en-US" sz="1000" dirty="0"/>
          </a:p>
        </p:txBody>
      </p:sp>
      <p:sp>
        <p:nvSpPr>
          <p:cNvPr id="16" name="Text 14"/>
          <p:cNvSpPr txBox="1"/>
          <p:nvPr/>
        </p:nvSpPr>
        <p:spPr>
          <a:xfrm>
            <a:off x="548640" y="1371600"/>
            <a:ext cx="3291840" cy="685800"/>
          </a:xfrm>
          <a:prstGeom prst="rect">
            <a:avLst/>
          </a:prstGeom>
          <a:noFill/>
          <a:ln/>
        </p:spPr>
        <p:txBody>
          <a:bodyPr wrap="square" lIns="0" tIns="0" rIns="0" bIns="0" rtlCol="0" anchor="b"/>
          <a:lstStyle/>
          <a:p>
            <a:pPr indent="0" marL="0">
              <a:buNone/>
            </a:pPr>
            <a:r>
              <a:rPr lang="en-US" sz="4000" b="1" dirty="0">
                <a:solidFill>
                  <a:srgbClr val="0F5257"/>
                </a:solidFill>
                <a:latin typeface="Cambria" pitchFamily="34" charset="0"/>
                <a:ea typeface="Cambria" pitchFamily="34" charset="-122"/>
                <a:cs typeface="Cambria" pitchFamily="34" charset="-120"/>
              </a:rPr>
              <a:t>0.81</a:t>
            </a:r>
            <a:endParaRPr lang="en-US" sz="4000" dirty="0"/>
          </a:p>
        </p:txBody>
      </p:sp>
      <p:sp>
        <p:nvSpPr>
          <p:cNvPr id="17" name="Text 15"/>
          <p:cNvSpPr txBox="1"/>
          <p:nvPr/>
        </p:nvSpPr>
        <p:spPr>
          <a:xfrm>
            <a:off x="548640" y="2103120"/>
            <a:ext cx="3291840" cy="548640"/>
          </a:xfrm>
          <a:prstGeom prst="rect">
            <a:avLst/>
          </a:prstGeom>
          <a:noFill/>
          <a:ln/>
        </p:spPr>
        <p:txBody>
          <a:bodyPr wrap="square" lIns="0" tIns="0" rIns="0" bIns="0" rtlCol="0" anchor="t"/>
          <a:lstStyle/>
          <a:p>
            <a:pPr indent="0" marL="0">
              <a:buNone/>
            </a:pPr>
            <a:r>
              <a:rPr lang="en-US" sz="1400" dirty="0">
                <a:solidFill>
                  <a:srgbClr val="1B2A2E"/>
                </a:solidFill>
                <a:latin typeface="Calibri" pitchFamily="34" charset="0"/>
                <a:ea typeface="Calibri" pitchFamily="34" charset="-122"/>
                <a:cs typeface="Calibri" pitchFamily="34" charset="-120"/>
              </a:rPr>
              <a:t>P80 coverage: the range holds for 81% of tenders (target 0.7–0.9)</a:t>
            </a:r>
            <a:endParaRPr lang="en-US" sz="1400" dirty="0"/>
          </a:p>
        </p:txBody>
      </p:sp>
      <p:sp>
        <p:nvSpPr>
          <p:cNvPr id="18" name="Text 16"/>
          <p:cNvSpPr txBox="1"/>
          <p:nvPr/>
        </p:nvSpPr>
        <p:spPr>
          <a:xfrm>
            <a:off x="4023360" y="1371600"/>
            <a:ext cx="3291840" cy="685800"/>
          </a:xfrm>
          <a:prstGeom prst="rect">
            <a:avLst/>
          </a:prstGeom>
          <a:noFill/>
          <a:ln/>
        </p:spPr>
        <p:txBody>
          <a:bodyPr wrap="square" lIns="0" tIns="0" rIns="0" bIns="0" rtlCol="0" anchor="b"/>
          <a:lstStyle/>
          <a:p>
            <a:pPr indent="0" marL="0">
              <a:buNone/>
            </a:pPr>
            <a:r>
              <a:rPr lang="en-US" sz="3400" b="1" dirty="0">
                <a:solidFill>
                  <a:srgbClr val="0F5257"/>
                </a:solidFill>
                <a:latin typeface="Cambria" pitchFamily="34" charset="0"/>
                <a:ea typeface="Cambria" pitchFamily="34" charset="-122"/>
                <a:cs typeface="Cambria" pitchFamily="34" charset="-120"/>
              </a:rPr>
              <a:t>≈ baseline</a:t>
            </a:r>
            <a:endParaRPr lang="en-US" sz="3400" dirty="0"/>
          </a:p>
        </p:txBody>
      </p:sp>
      <p:sp>
        <p:nvSpPr>
          <p:cNvPr id="19" name="Text 17"/>
          <p:cNvSpPr txBox="1"/>
          <p:nvPr/>
        </p:nvSpPr>
        <p:spPr>
          <a:xfrm>
            <a:off x="4023360" y="2103120"/>
            <a:ext cx="3291840" cy="548640"/>
          </a:xfrm>
          <a:prstGeom prst="rect">
            <a:avLst/>
          </a:prstGeom>
          <a:noFill/>
          <a:ln/>
        </p:spPr>
        <p:txBody>
          <a:bodyPr wrap="square" lIns="0" tIns="0" rIns="0" bIns="0" rtlCol="0" anchor="t"/>
          <a:lstStyle/>
          <a:p>
            <a:pPr indent="0" marL="0">
              <a:buNone/>
            </a:pPr>
            <a:r>
              <a:rPr lang="en-US" sz="1400" dirty="0">
                <a:solidFill>
                  <a:srgbClr val="1B2A2E"/>
                </a:solidFill>
                <a:latin typeface="Calibri" pitchFamily="34" charset="0"/>
                <a:ea typeface="Calibri" pitchFamily="34" charset="-122"/>
                <a:cs typeface="Calibri" pitchFamily="34" charset="-120"/>
              </a:rPr>
              <a:t>P50 error 100.4 vs 100.8 days: no sharper point estimate yet</a:t>
            </a:r>
            <a:endParaRPr lang="en-US" sz="1400" dirty="0"/>
          </a:p>
        </p:txBody>
      </p:sp>
      <p:sp>
        <p:nvSpPr>
          <p:cNvPr id="20" name="Text 18"/>
          <p:cNvSpPr txBox="1"/>
          <p:nvPr/>
        </p:nvSpPr>
        <p:spPr>
          <a:xfrm>
            <a:off x="7498080" y="1371600"/>
            <a:ext cx="4114800" cy="685800"/>
          </a:xfrm>
          <a:prstGeom prst="rect">
            <a:avLst/>
          </a:prstGeom>
          <a:noFill/>
          <a:ln/>
        </p:spPr>
        <p:txBody>
          <a:bodyPr wrap="square" lIns="0" tIns="0" rIns="0" bIns="0" rtlCol="0" anchor="b"/>
          <a:lstStyle/>
          <a:p>
            <a:pPr indent="0" marL="0">
              <a:buNone/>
            </a:pPr>
            <a:r>
              <a:rPr lang="en-US" sz="4000" b="1" dirty="0">
                <a:solidFill>
                  <a:srgbClr val="A23B2C"/>
                </a:solidFill>
                <a:latin typeface="Cambria" pitchFamily="34" charset="0"/>
                <a:ea typeface="Cambria" pitchFamily="34" charset="-122"/>
                <a:cs typeface="Cambria" pitchFamily="34" charset="-120"/>
              </a:rPr>
              <a:t>94.7</a:t>
            </a:r>
            <a:endParaRPr lang="en-US" sz="4000" dirty="0"/>
          </a:p>
        </p:txBody>
      </p:sp>
      <p:sp>
        <p:nvSpPr>
          <p:cNvPr id="21" name="Text 19"/>
          <p:cNvSpPr txBox="1"/>
          <p:nvPr/>
        </p:nvSpPr>
        <p:spPr>
          <a:xfrm>
            <a:off x="7498080" y="2103120"/>
            <a:ext cx="4114800" cy="548640"/>
          </a:xfrm>
          <a:prstGeom prst="rect">
            <a:avLst/>
          </a:prstGeom>
          <a:noFill/>
          <a:ln/>
        </p:spPr>
        <p:txBody>
          <a:bodyPr wrap="square" lIns="0" tIns="0" rIns="0" bIns="0" rtlCol="0" anchor="t"/>
          <a:lstStyle/>
          <a:p>
            <a:pPr indent="0" marL="0">
              <a:buNone/>
            </a:pPr>
            <a:r>
              <a:rPr lang="en-US" sz="1400" dirty="0">
                <a:solidFill>
                  <a:srgbClr val="1B2A2E"/>
                </a:solidFill>
                <a:latin typeface="Calibri" pitchFamily="34" charset="0"/>
                <a:ea typeface="Calibri" pitchFamily="34" charset="-122"/>
                <a:cs typeface="Calibri" pitchFamily="34" charset="-120"/>
              </a:rPr>
              <a:t>days MAE without governance features: WGI / CPIA did not help on 500 rows</a:t>
            </a:r>
            <a:endParaRPr lang="en-US" sz="14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3154680"/>
          <a:ext cx="11064240" cy="914400"/>
        </p:xfrm>
        <a:graphic>
          <a:graphicData uri="http://schemas.openxmlformats.org/drawingml/2006/table">
            <a:tbl>
              <a:tblPr/>
              <a:tblGrid>
                <a:gridCol w="4114800"/>
                <a:gridCol w="1097280"/>
                <a:gridCol w="2011680"/>
                <a:gridCol w="1920240"/>
                <a:gridCol w="1920240"/>
              </a:tblGrid>
              <a:tr h="41148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Test set (time split)</a:t>
                      </a:r>
                      <a:endParaRPr lang="en-US" sz="1400" dirty="0">
                        <a:latin typeface="Calibri" charset="0"/>
                        <a:ea typeface="Calibri" charset="0"/>
                        <a:cs typeface="Calibri" charset="0"/>
                      </a:endParaRPr>
                    </a:p>
                  </a:txBody>
                  <a:tcPr marL="109728" marR="109728" marT="0" marB="0" anchor="ctr">
                    <a:lnL w="9525" cap="flat" cmpd="sng" algn="ctr">
                      <a:solidFill>
                        <a:srgbClr val="D6E2E0"/>
                      </a:solidFill>
                      <a:prstDash val="solid"/>
                      <a:round/>
                      <a:headEnd type="none" w="med" len="med"/>
                      <a:tailEnd type="none" w="med" len="med"/>
                    </a:lnL>
                    <a:lnR w="9525" cap="flat" cmpd="sng" algn="ctr">
                      <a:solidFill>
                        <a:srgbClr val="D6E2E0"/>
                      </a:solidFill>
                      <a:prstDash val="solid"/>
                      <a:round/>
                      <a:headEnd type="none" w="med" len="med"/>
                      <a:tailEnd type="none" w="med" len="med"/>
                    </a:lnR>
                    <a:lnT w="9525" cap="flat" cmpd="sng" algn="ctr">
                      <a:solidFill>
                        <a:srgbClr val="D6E2E0"/>
                      </a:solidFill>
                      <a:prstDash val="solid"/>
                      <a:round/>
                      <a:headEnd type="none" w="med" len="med"/>
                      <a:tailEnd type="none" w="med" len="med"/>
                    </a:lnT>
                    <a:lnB w="9525" cap="flat" cmpd="sng" algn="ctr">
                      <a:solidFill>
                        <a:srgbClr val="D6E2E0"/>
                      </a:solidFill>
                      <a:prstDash val="solid"/>
                      <a:round/>
                      <a:headEnd type="none" w="med" len="med"/>
                      <a:tailEnd type="none" w="med" len="med"/>
                    </a:lnB>
                    <a:solidFill>
                      <a:srgbClr val="0F5257"/>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n</a:t>
                      </a:r>
                      <a:endParaRPr lang="en-US" sz="1400" dirty="0">
                        <a:latin typeface="Calibri" charset="0"/>
                        <a:ea typeface="Calibri" charset="0"/>
                        <a:cs typeface="Calibri" charset="0"/>
                      </a:endParaRPr>
                    </a:p>
                  </a:txBody>
                  <a:tcPr marL="109728" marR="109728" marT="0" marB="0" anchor="ctr">
                    <a:lnL w="9525" cap="flat" cmpd="sng" algn="ctr">
                      <a:solidFill>
                        <a:srgbClr val="D6E2E0"/>
                      </a:solidFill>
                      <a:prstDash val="solid"/>
                      <a:round/>
                      <a:headEnd type="none" w="med" len="med"/>
                      <a:tailEnd type="none" w="med" len="med"/>
                    </a:lnL>
                    <a:lnR w="9525" cap="flat" cmpd="sng" algn="ctr">
                      <a:solidFill>
                        <a:srgbClr val="D6E2E0"/>
                      </a:solidFill>
                      <a:prstDash val="solid"/>
                      <a:round/>
                      <a:headEnd type="none" w="med" len="med"/>
                      <a:tailEnd type="none" w="med" len="med"/>
                    </a:lnR>
                    <a:lnT w="9525" cap="flat" cmpd="sng" algn="ctr">
                      <a:solidFill>
                        <a:srgbClr val="D6E2E0"/>
                      </a:solidFill>
                      <a:prstDash val="solid"/>
                      <a:round/>
                      <a:headEnd type="none" w="med" len="med"/>
                      <a:tailEnd type="none" w="med" len="med"/>
                    </a:lnT>
                    <a:lnB w="9525" cap="flat" cmpd="sng" algn="ctr">
                      <a:solidFill>
                        <a:srgbClr val="D6E2E0"/>
                      </a:solidFill>
                      <a:prstDash val="solid"/>
                      <a:round/>
                      <a:headEnd type="none" w="med" len="med"/>
                      <a:tailEnd type="none" w="med" len="med"/>
                    </a:lnB>
                    <a:solidFill>
                      <a:srgbClr val="0F5257"/>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P50 MAE (days)</a:t>
                      </a:r>
                      <a:endParaRPr lang="en-US" sz="1400" dirty="0">
                        <a:latin typeface="Calibri" charset="0"/>
                        <a:ea typeface="Calibri" charset="0"/>
                        <a:cs typeface="Calibri" charset="0"/>
                      </a:endParaRPr>
                    </a:p>
                  </a:txBody>
                  <a:tcPr marL="109728" marR="109728" marT="0" marB="0" anchor="ctr">
                    <a:lnL w="9525" cap="flat" cmpd="sng" algn="ctr">
                      <a:solidFill>
                        <a:srgbClr val="D6E2E0"/>
                      </a:solidFill>
                      <a:prstDash val="solid"/>
                      <a:round/>
                      <a:headEnd type="none" w="med" len="med"/>
                      <a:tailEnd type="none" w="med" len="med"/>
                    </a:lnL>
                    <a:lnR w="9525" cap="flat" cmpd="sng" algn="ctr">
                      <a:solidFill>
                        <a:srgbClr val="D6E2E0"/>
                      </a:solidFill>
                      <a:prstDash val="solid"/>
                      <a:round/>
                      <a:headEnd type="none" w="med" len="med"/>
                      <a:tailEnd type="none" w="med" len="med"/>
                    </a:lnR>
                    <a:lnT w="9525" cap="flat" cmpd="sng" algn="ctr">
                      <a:solidFill>
                        <a:srgbClr val="D6E2E0"/>
                      </a:solidFill>
                      <a:prstDash val="solid"/>
                      <a:round/>
                      <a:headEnd type="none" w="med" len="med"/>
                      <a:tailEnd type="none" w="med" len="med"/>
                    </a:lnT>
                    <a:lnB w="9525" cap="flat" cmpd="sng" algn="ctr">
                      <a:solidFill>
                        <a:srgbClr val="D6E2E0"/>
                      </a:solidFill>
                      <a:prstDash val="solid"/>
                      <a:round/>
                      <a:headEnd type="none" w="med" len="med"/>
                      <a:tailEnd type="none" w="med" len="med"/>
                    </a:lnB>
                    <a:solidFill>
                      <a:srgbClr val="0F5257"/>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Median error</a:t>
                      </a:r>
                      <a:endParaRPr lang="en-US" sz="1400" dirty="0">
                        <a:latin typeface="Calibri" charset="0"/>
                        <a:ea typeface="Calibri" charset="0"/>
                        <a:cs typeface="Calibri" charset="0"/>
                      </a:endParaRPr>
                    </a:p>
                  </a:txBody>
                  <a:tcPr marL="109728" marR="109728" marT="0" marB="0" anchor="ctr">
                    <a:lnL w="9525" cap="flat" cmpd="sng" algn="ctr">
                      <a:solidFill>
                        <a:srgbClr val="D6E2E0"/>
                      </a:solidFill>
                      <a:prstDash val="solid"/>
                      <a:round/>
                      <a:headEnd type="none" w="med" len="med"/>
                      <a:tailEnd type="none" w="med" len="med"/>
                    </a:lnL>
                    <a:lnR w="9525" cap="flat" cmpd="sng" algn="ctr">
                      <a:solidFill>
                        <a:srgbClr val="D6E2E0"/>
                      </a:solidFill>
                      <a:prstDash val="solid"/>
                      <a:round/>
                      <a:headEnd type="none" w="med" len="med"/>
                      <a:tailEnd type="none" w="med" len="med"/>
                    </a:lnR>
                    <a:lnT w="9525" cap="flat" cmpd="sng" algn="ctr">
                      <a:solidFill>
                        <a:srgbClr val="D6E2E0"/>
                      </a:solidFill>
                      <a:prstDash val="solid"/>
                      <a:round/>
                      <a:headEnd type="none" w="med" len="med"/>
                      <a:tailEnd type="none" w="med" len="med"/>
                    </a:lnT>
                    <a:lnB w="9525" cap="flat" cmpd="sng" algn="ctr">
                      <a:solidFill>
                        <a:srgbClr val="D6E2E0"/>
                      </a:solidFill>
                      <a:prstDash val="solid"/>
                      <a:round/>
                      <a:headEnd type="none" w="med" len="med"/>
                      <a:tailEnd type="none" w="med" len="med"/>
                    </a:lnB>
                    <a:solidFill>
                      <a:srgbClr val="0F5257"/>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P80 coverage</a:t>
                      </a:r>
                      <a:endParaRPr lang="en-US" sz="1400" dirty="0">
                        <a:latin typeface="Calibri" charset="0"/>
                        <a:ea typeface="Calibri" charset="0"/>
                        <a:cs typeface="Calibri" charset="0"/>
                      </a:endParaRPr>
                    </a:p>
                  </a:txBody>
                  <a:tcPr marL="109728" marR="109728" marT="0" marB="0" anchor="ctr">
                    <a:lnL w="9525" cap="flat" cmpd="sng" algn="ctr">
                      <a:solidFill>
                        <a:srgbClr val="D6E2E0"/>
                      </a:solidFill>
                      <a:prstDash val="solid"/>
                      <a:round/>
                      <a:headEnd type="none" w="med" len="med"/>
                      <a:tailEnd type="none" w="med" len="med"/>
                    </a:lnL>
                    <a:lnR w="9525" cap="flat" cmpd="sng" algn="ctr">
                      <a:solidFill>
                        <a:srgbClr val="D6E2E0"/>
                      </a:solidFill>
                      <a:prstDash val="solid"/>
                      <a:round/>
                      <a:headEnd type="none" w="med" len="med"/>
                      <a:tailEnd type="none" w="med" len="med"/>
                    </a:lnR>
                    <a:lnT w="9525" cap="flat" cmpd="sng" algn="ctr">
                      <a:solidFill>
                        <a:srgbClr val="D6E2E0"/>
                      </a:solidFill>
                      <a:prstDash val="solid"/>
                      <a:round/>
                      <a:headEnd type="none" w="med" len="med"/>
                      <a:tailEnd type="none" w="med" len="med"/>
                    </a:lnT>
                    <a:lnB w="9525" cap="flat" cmpd="sng" algn="ctr">
                      <a:solidFill>
                        <a:srgbClr val="D6E2E0"/>
                      </a:solidFill>
                      <a:prstDash val="solid"/>
                      <a:round/>
                      <a:headEnd type="none" w="med" len="med"/>
                      <a:tailEnd type="none" w="med" len="med"/>
                    </a:lnB>
                    <a:solidFill>
                      <a:srgbClr val="0F5257"/>
                    </a:solidFill>
                  </a:tcPr>
                </a:tc>
              </a:tr>
              <a:tr h="411480">
                <a:tc>
                  <a:txBody>
                    <a:bodyPr/>
                    <a:lstStyle/>
                    <a:p>
                      <a:pPr indent="0" marL="0">
                        <a:buNone/>
                      </a:pPr>
                      <a:r>
                        <a:rPr lang="en-US" sz="1400" dirty="0">
                          <a:solidFill>
                            <a:srgbClr val="1B2A2E"/>
                          </a:solidFill>
                          <a:latin typeface="Calibri" pitchFamily="34" charset="0"/>
                          <a:ea typeface="Calibri" pitchFamily="34" charset="-122"/>
                          <a:cs typeface="Calibri" pitchFamily="34" charset="-120"/>
                        </a:rPr>
                        <a:t>Prior review: median baseline</a:t>
                      </a:r>
                      <a:endParaRPr lang="en-US" sz="1400" dirty="0">
                        <a:latin typeface="Calibri" charset="0"/>
                        <a:ea typeface="Calibri" charset="0"/>
                        <a:cs typeface="Calibri" charset="0"/>
                      </a:endParaRPr>
                    </a:p>
                  </a:txBody>
                  <a:tcPr marL="109728" marR="109728" marT="0" marB="0" anchor="ctr">
                    <a:lnL w="9525" cap="flat" cmpd="sng" algn="ctr">
                      <a:solidFill>
                        <a:srgbClr val="D6E2E0"/>
                      </a:solidFill>
                      <a:prstDash val="solid"/>
                      <a:round/>
                      <a:headEnd type="none" w="med" len="med"/>
                      <a:tailEnd type="none" w="med" len="med"/>
                    </a:lnL>
                    <a:lnR w="9525" cap="flat" cmpd="sng" algn="ctr">
                      <a:solidFill>
                        <a:srgbClr val="D6E2E0"/>
                      </a:solidFill>
                      <a:prstDash val="solid"/>
                      <a:round/>
                      <a:headEnd type="none" w="med" len="med"/>
                      <a:tailEnd type="none" w="med" len="med"/>
                    </a:lnR>
                    <a:lnT w="9525" cap="flat" cmpd="sng" algn="ctr">
                      <a:solidFill>
                        <a:srgbClr val="D6E2E0"/>
                      </a:solidFill>
                      <a:prstDash val="solid"/>
                      <a:round/>
                      <a:headEnd type="none" w="med" len="med"/>
                      <a:tailEnd type="none" w="med" len="med"/>
                    </a:lnT>
                    <a:lnB w="9525" cap="flat" cmpd="sng" algn="ctr">
                      <a:solidFill>
                        <a:srgbClr val="D6E2E0"/>
                      </a:solidFill>
                      <a:prstDash val="solid"/>
                      <a:round/>
                      <a:headEnd type="none" w="med" len="med"/>
                      <a:tailEnd type="none" w="med" len="med"/>
                    </a:lnB>
                    <a:solidFill>
                      <a:srgbClr val="FFFFFF"/>
                    </a:solidFill>
                  </a:tcPr>
                </a:tc>
                <a:tc>
                  <a:txBody>
                    <a:bodyPr/>
                    <a:lstStyle/>
                    <a:p>
                      <a:pPr indent="0" marL="0">
                        <a:buNone/>
                      </a:pPr>
                      <a:r>
                        <a:rPr lang="en-US" sz="1400" dirty="0">
                          <a:solidFill>
                            <a:srgbClr val="1B2A2E"/>
                          </a:solidFill>
                          <a:latin typeface="Calibri" pitchFamily="34" charset="0"/>
                          <a:ea typeface="Calibri" pitchFamily="34" charset="-122"/>
                          <a:cs typeface="Calibri" pitchFamily="34" charset="-120"/>
                        </a:rPr>
                        <a:t>125</a:t>
                      </a:r>
                      <a:endParaRPr lang="en-US" sz="1400" dirty="0">
                        <a:latin typeface="Calibri" charset="0"/>
                        <a:ea typeface="Calibri" charset="0"/>
                        <a:cs typeface="Calibri" charset="0"/>
                      </a:endParaRPr>
                    </a:p>
                  </a:txBody>
                  <a:tcPr marL="109728" marR="109728" marT="0" marB="0" anchor="ctr">
                    <a:lnL w="9525" cap="flat" cmpd="sng" algn="ctr">
                      <a:solidFill>
                        <a:srgbClr val="D6E2E0"/>
                      </a:solidFill>
                      <a:prstDash val="solid"/>
                      <a:round/>
                      <a:headEnd type="none" w="med" len="med"/>
                      <a:tailEnd type="none" w="med" len="med"/>
                    </a:lnL>
                    <a:lnR w="9525" cap="flat" cmpd="sng" algn="ctr">
                      <a:solidFill>
                        <a:srgbClr val="D6E2E0"/>
                      </a:solidFill>
                      <a:prstDash val="solid"/>
                      <a:round/>
                      <a:headEnd type="none" w="med" len="med"/>
                      <a:tailEnd type="none" w="med" len="med"/>
                    </a:lnR>
                    <a:lnT w="9525" cap="flat" cmpd="sng" algn="ctr">
                      <a:solidFill>
                        <a:srgbClr val="D6E2E0"/>
                      </a:solidFill>
                      <a:prstDash val="solid"/>
                      <a:round/>
                      <a:headEnd type="none" w="med" len="med"/>
                      <a:tailEnd type="none" w="med" len="med"/>
                    </a:lnT>
                    <a:lnB w="9525" cap="flat" cmpd="sng" algn="ctr">
                      <a:solidFill>
                        <a:srgbClr val="D6E2E0"/>
                      </a:solidFill>
                      <a:prstDash val="solid"/>
                      <a:round/>
                      <a:headEnd type="none" w="med" len="med"/>
                      <a:tailEnd type="none" w="med" len="med"/>
                    </a:lnB>
                    <a:solidFill>
                      <a:srgbClr val="FFFFFF"/>
                    </a:solidFill>
                  </a:tcPr>
                </a:tc>
                <a:tc>
                  <a:txBody>
                    <a:bodyPr/>
                    <a:lstStyle/>
                    <a:p>
                      <a:pPr indent="0" marL="0">
                        <a:buNone/>
                      </a:pPr>
                      <a:r>
                        <a:rPr lang="en-US" sz="1400" dirty="0">
                          <a:solidFill>
                            <a:srgbClr val="1B2A2E"/>
                          </a:solidFill>
                          <a:latin typeface="Calibri" pitchFamily="34" charset="0"/>
                          <a:ea typeface="Calibri" pitchFamily="34" charset="-122"/>
                          <a:cs typeface="Calibri" pitchFamily="34" charset="-120"/>
                        </a:rPr>
                        <a:t>100.8</a:t>
                      </a:r>
                      <a:endParaRPr lang="en-US" sz="1400" dirty="0">
                        <a:latin typeface="Calibri" charset="0"/>
                        <a:ea typeface="Calibri" charset="0"/>
                        <a:cs typeface="Calibri" charset="0"/>
                      </a:endParaRPr>
                    </a:p>
                  </a:txBody>
                  <a:tcPr marL="109728" marR="109728" marT="0" marB="0" anchor="ctr">
                    <a:lnL w="9525" cap="flat" cmpd="sng" algn="ctr">
                      <a:solidFill>
                        <a:srgbClr val="D6E2E0"/>
                      </a:solidFill>
                      <a:prstDash val="solid"/>
                      <a:round/>
                      <a:headEnd type="none" w="med" len="med"/>
                      <a:tailEnd type="none" w="med" len="med"/>
                    </a:lnL>
                    <a:lnR w="9525" cap="flat" cmpd="sng" algn="ctr">
                      <a:solidFill>
                        <a:srgbClr val="D6E2E0"/>
                      </a:solidFill>
                      <a:prstDash val="solid"/>
                      <a:round/>
                      <a:headEnd type="none" w="med" len="med"/>
                      <a:tailEnd type="none" w="med" len="med"/>
                    </a:lnR>
                    <a:lnT w="9525" cap="flat" cmpd="sng" algn="ctr">
                      <a:solidFill>
                        <a:srgbClr val="D6E2E0"/>
                      </a:solidFill>
                      <a:prstDash val="solid"/>
                      <a:round/>
                      <a:headEnd type="none" w="med" len="med"/>
                      <a:tailEnd type="none" w="med" len="med"/>
                    </a:lnT>
                    <a:lnB w="9525" cap="flat" cmpd="sng" algn="ctr">
                      <a:solidFill>
                        <a:srgbClr val="D6E2E0"/>
                      </a:solidFill>
                      <a:prstDash val="solid"/>
                      <a:round/>
                      <a:headEnd type="none" w="med" len="med"/>
                      <a:tailEnd type="none" w="med" len="med"/>
                    </a:lnB>
                    <a:solidFill>
                      <a:srgbClr val="FFFFFF"/>
                    </a:solidFill>
                  </a:tcPr>
                </a:tc>
                <a:tc>
                  <a:txBody>
                    <a:bodyPr/>
                    <a:lstStyle/>
                    <a:p>
                      <a:pPr indent="0" marL="0">
                        <a:buNone/>
                      </a:pPr>
                      <a:r>
                        <a:rPr lang="en-US" sz="1400" dirty="0">
                          <a:solidFill>
                            <a:srgbClr val="1B2A2E"/>
                          </a:solidFill>
                          <a:latin typeface="Calibri" pitchFamily="34" charset="0"/>
                          <a:ea typeface="Calibri" pitchFamily="34" charset="-122"/>
                          <a:cs typeface="Calibri" pitchFamily="34" charset="-120"/>
                        </a:rPr>
                        <a:t>70.5</a:t>
                      </a:r>
                      <a:endParaRPr lang="en-US" sz="1400" dirty="0">
                        <a:latin typeface="Calibri" charset="0"/>
                        <a:ea typeface="Calibri" charset="0"/>
                        <a:cs typeface="Calibri" charset="0"/>
                      </a:endParaRPr>
                    </a:p>
                  </a:txBody>
                  <a:tcPr marL="109728" marR="109728" marT="0" marB="0" anchor="ctr">
                    <a:lnL w="9525" cap="flat" cmpd="sng" algn="ctr">
                      <a:solidFill>
                        <a:srgbClr val="D6E2E0"/>
                      </a:solidFill>
                      <a:prstDash val="solid"/>
                      <a:round/>
                      <a:headEnd type="none" w="med" len="med"/>
                      <a:tailEnd type="none" w="med" len="med"/>
                    </a:lnL>
                    <a:lnR w="9525" cap="flat" cmpd="sng" algn="ctr">
                      <a:solidFill>
                        <a:srgbClr val="D6E2E0"/>
                      </a:solidFill>
                      <a:prstDash val="solid"/>
                      <a:round/>
                      <a:headEnd type="none" w="med" len="med"/>
                      <a:tailEnd type="none" w="med" len="med"/>
                    </a:lnR>
                    <a:lnT w="9525" cap="flat" cmpd="sng" algn="ctr">
                      <a:solidFill>
                        <a:srgbClr val="D6E2E0"/>
                      </a:solidFill>
                      <a:prstDash val="solid"/>
                      <a:round/>
                      <a:headEnd type="none" w="med" len="med"/>
                      <a:tailEnd type="none" w="med" len="med"/>
                    </a:lnT>
                    <a:lnB w="9525" cap="flat" cmpd="sng" algn="ctr">
                      <a:solidFill>
                        <a:srgbClr val="D6E2E0"/>
                      </a:solidFill>
                      <a:prstDash val="solid"/>
                      <a:round/>
                      <a:headEnd type="none" w="med" len="med"/>
                      <a:tailEnd type="none" w="med" len="med"/>
                    </a:lnB>
                    <a:solidFill>
                      <a:srgbClr val="FFFFFF"/>
                    </a:solidFill>
                  </a:tcPr>
                </a:tc>
                <a:tc>
                  <a:txBody>
                    <a:bodyPr/>
                    <a:lstStyle/>
                    <a:p>
                      <a:pPr indent="0" marL="0">
                        <a:buNone/>
                      </a:pPr>
                      <a:r>
                        <a:rPr lang="en-US" sz="1400" dirty="0">
                          <a:solidFill>
                            <a:srgbClr val="1B2A2E"/>
                          </a:solidFill>
                          <a:latin typeface="Calibri" pitchFamily="34" charset="0"/>
                          <a:ea typeface="Calibri" pitchFamily="34" charset="-122"/>
                          <a:cs typeface="Calibri" pitchFamily="34" charset="-120"/>
                        </a:rPr>
                        <a:t>0.800</a:t>
                      </a:r>
                      <a:endParaRPr lang="en-US" sz="1400" dirty="0">
                        <a:latin typeface="Calibri" charset="0"/>
                        <a:ea typeface="Calibri" charset="0"/>
                        <a:cs typeface="Calibri" charset="0"/>
                      </a:endParaRPr>
                    </a:p>
                  </a:txBody>
                  <a:tcPr marL="109728" marR="109728" marT="0" marB="0" anchor="ctr">
                    <a:lnL w="9525" cap="flat" cmpd="sng" algn="ctr">
                      <a:solidFill>
                        <a:srgbClr val="D6E2E0"/>
                      </a:solidFill>
                      <a:prstDash val="solid"/>
                      <a:round/>
                      <a:headEnd type="none" w="med" len="med"/>
                      <a:tailEnd type="none" w="med" len="med"/>
                    </a:lnL>
                    <a:lnR w="9525" cap="flat" cmpd="sng" algn="ctr">
                      <a:solidFill>
                        <a:srgbClr val="D6E2E0"/>
                      </a:solidFill>
                      <a:prstDash val="solid"/>
                      <a:round/>
                      <a:headEnd type="none" w="med" len="med"/>
                      <a:tailEnd type="none" w="med" len="med"/>
                    </a:lnR>
                    <a:lnT w="9525" cap="flat" cmpd="sng" algn="ctr">
                      <a:solidFill>
                        <a:srgbClr val="D6E2E0"/>
                      </a:solidFill>
                      <a:prstDash val="solid"/>
                      <a:round/>
                      <a:headEnd type="none" w="med" len="med"/>
                      <a:tailEnd type="none" w="med" len="med"/>
                    </a:lnT>
                    <a:lnB w="9525" cap="flat" cmpd="sng" algn="ctr">
                      <a:solidFill>
                        <a:srgbClr val="D6E2E0"/>
                      </a:solidFill>
                      <a:prstDash val="solid"/>
                      <a:round/>
                      <a:headEnd type="none" w="med" len="med"/>
                      <a:tailEnd type="none" w="med" len="med"/>
                    </a:lnB>
                    <a:solidFill>
                      <a:srgbClr val="FFFFFF"/>
                    </a:solidFill>
                  </a:tcPr>
                </a:tc>
              </a:tr>
              <a:tr h="411480">
                <a:tc>
                  <a:txBody>
                    <a:bodyPr/>
                    <a:lstStyle/>
                    <a:p>
                      <a:pPr indent="0" marL="0">
                        <a:buNone/>
                      </a:pPr>
                      <a:r>
                        <a:rPr lang="en-US" sz="1400" b="1" dirty="0">
                          <a:solidFill>
                            <a:srgbClr val="1B2A2E"/>
                          </a:solidFill>
                          <a:latin typeface="Calibri" pitchFamily="34" charset="0"/>
                          <a:ea typeface="Calibri" pitchFamily="34" charset="-122"/>
                          <a:cs typeface="Calibri" pitchFamily="34" charset="-120"/>
                        </a:rPr>
                        <a:t>Prior review: quantile GBT (champion)</a:t>
                      </a:r>
                      <a:endParaRPr lang="en-US" sz="1400" dirty="0">
                        <a:latin typeface="Calibri" charset="0"/>
                        <a:ea typeface="Calibri" charset="0"/>
                        <a:cs typeface="Calibri" charset="0"/>
                      </a:endParaRPr>
                    </a:p>
                  </a:txBody>
                  <a:tcPr marL="109728" marR="109728" marT="0" marB="0" anchor="ctr">
                    <a:lnL w="9525" cap="flat" cmpd="sng" algn="ctr">
                      <a:solidFill>
                        <a:srgbClr val="D6E2E0"/>
                      </a:solidFill>
                      <a:prstDash val="solid"/>
                      <a:round/>
                      <a:headEnd type="none" w="med" len="med"/>
                      <a:tailEnd type="none" w="med" len="med"/>
                    </a:lnL>
                    <a:lnR w="9525" cap="flat" cmpd="sng" algn="ctr">
                      <a:solidFill>
                        <a:srgbClr val="D6E2E0"/>
                      </a:solidFill>
                      <a:prstDash val="solid"/>
                      <a:round/>
                      <a:headEnd type="none" w="med" len="med"/>
                      <a:tailEnd type="none" w="med" len="med"/>
                    </a:lnR>
                    <a:lnT w="9525" cap="flat" cmpd="sng" algn="ctr">
                      <a:solidFill>
                        <a:srgbClr val="D6E2E0"/>
                      </a:solidFill>
                      <a:prstDash val="solid"/>
                      <a:round/>
                      <a:headEnd type="none" w="med" len="med"/>
                      <a:tailEnd type="none" w="med" len="med"/>
                    </a:lnT>
                    <a:lnB w="9525" cap="flat" cmpd="sng" algn="ctr">
                      <a:solidFill>
                        <a:srgbClr val="D6E2E0"/>
                      </a:solidFill>
                      <a:prstDash val="solid"/>
                      <a:round/>
                      <a:headEnd type="none" w="med" len="med"/>
                      <a:tailEnd type="none" w="med" len="med"/>
                    </a:lnB>
                    <a:solidFill>
                      <a:srgbClr val="E3EFEC"/>
                    </a:solidFill>
                  </a:tcPr>
                </a:tc>
                <a:tc>
                  <a:txBody>
                    <a:bodyPr/>
                    <a:lstStyle/>
                    <a:p>
                      <a:pPr indent="0" marL="0">
                        <a:buNone/>
                      </a:pPr>
                      <a:r>
                        <a:rPr lang="en-US" sz="1400" dirty="0">
                          <a:solidFill>
                            <a:srgbClr val="1B2A2E"/>
                          </a:solidFill>
                          <a:latin typeface="Calibri" pitchFamily="34" charset="0"/>
                          <a:ea typeface="Calibri" pitchFamily="34" charset="-122"/>
                          <a:cs typeface="Calibri" pitchFamily="34" charset="-120"/>
                        </a:rPr>
                        <a:t>125</a:t>
                      </a:r>
                      <a:endParaRPr lang="en-US" sz="1400" dirty="0">
                        <a:latin typeface="Calibri" charset="0"/>
                        <a:ea typeface="Calibri" charset="0"/>
                        <a:cs typeface="Calibri" charset="0"/>
                      </a:endParaRPr>
                    </a:p>
                  </a:txBody>
                  <a:tcPr marL="109728" marR="109728" marT="0" marB="0" anchor="ctr">
                    <a:lnL w="9525" cap="flat" cmpd="sng" algn="ctr">
                      <a:solidFill>
                        <a:srgbClr val="D6E2E0"/>
                      </a:solidFill>
                      <a:prstDash val="solid"/>
                      <a:round/>
                      <a:headEnd type="none" w="med" len="med"/>
                      <a:tailEnd type="none" w="med" len="med"/>
                    </a:lnL>
                    <a:lnR w="9525" cap="flat" cmpd="sng" algn="ctr">
                      <a:solidFill>
                        <a:srgbClr val="D6E2E0"/>
                      </a:solidFill>
                      <a:prstDash val="solid"/>
                      <a:round/>
                      <a:headEnd type="none" w="med" len="med"/>
                      <a:tailEnd type="none" w="med" len="med"/>
                    </a:lnR>
                    <a:lnT w="9525" cap="flat" cmpd="sng" algn="ctr">
                      <a:solidFill>
                        <a:srgbClr val="D6E2E0"/>
                      </a:solidFill>
                      <a:prstDash val="solid"/>
                      <a:round/>
                      <a:headEnd type="none" w="med" len="med"/>
                      <a:tailEnd type="none" w="med" len="med"/>
                    </a:lnT>
                    <a:lnB w="9525" cap="flat" cmpd="sng" algn="ctr">
                      <a:solidFill>
                        <a:srgbClr val="D6E2E0"/>
                      </a:solidFill>
                      <a:prstDash val="solid"/>
                      <a:round/>
                      <a:headEnd type="none" w="med" len="med"/>
                      <a:tailEnd type="none" w="med" len="med"/>
                    </a:lnB>
                    <a:solidFill>
                      <a:srgbClr val="E3EFEC"/>
                    </a:solidFill>
                  </a:tcPr>
                </a:tc>
                <a:tc>
                  <a:txBody>
                    <a:bodyPr/>
                    <a:lstStyle/>
                    <a:p>
                      <a:pPr indent="0" marL="0">
                        <a:buNone/>
                      </a:pPr>
                      <a:r>
                        <a:rPr lang="en-US" sz="1400" dirty="0">
                          <a:solidFill>
                            <a:srgbClr val="1B2A2E"/>
                          </a:solidFill>
                          <a:latin typeface="Calibri" pitchFamily="34" charset="0"/>
                          <a:ea typeface="Calibri" pitchFamily="34" charset="-122"/>
                          <a:cs typeface="Calibri" pitchFamily="34" charset="-120"/>
                        </a:rPr>
                        <a:t>100.4</a:t>
                      </a:r>
                      <a:endParaRPr lang="en-US" sz="1400" dirty="0">
                        <a:latin typeface="Calibri" charset="0"/>
                        <a:ea typeface="Calibri" charset="0"/>
                        <a:cs typeface="Calibri" charset="0"/>
                      </a:endParaRPr>
                    </a:p>
                  </a:txBody>
                  <a:tcPr marL="109728" marR="109728" marT="0" marB="0" anchor="ctr">
                    <a:lnL w="9525" cap="flat" cmpd="sng" algn="ctr">
                      <a:solidFill>
                        <a:srgbClr val="D6E2E0"/>
                      </a:solidFill>
                      <a:prstDash val="solid"/>
                      <a:round/>
                      <a:headEnd type="none" w="med" len="med"/>
                      <a:tailEnd type="none" w="med" len="med"/>
                    </a:lnL>
                    <a:lnR w="9525" cap="flat" cmpd="sng" algn="ctr">
                      <a:solidFill>
                        <a:srgbClr val="D6E2E0"/>
                      </a:solidFill>
                      <a:prstDash val="solid"/>
                      <a:round/>
                      <a:headEnd type="none" w="med" len="med"/>
                      <a:tailEnd type="none" w="med" len="med"/>
                    </a:lnR>
                    <a:lnT w="9525" cap="flat" cmpd="sng" algn="ctr">
                      <a:solidFill>
                        <a:srgbClr val="D6E2E0"/>
                      </a:solidFill>
                      <a:prstDash val="solid"/>
                      <a:round/>
                      <a:headEnd type="none" w="med" len="med"/>
                      <a:tailEnd type="none" w="med" len="med"/>
                    </a:lnT>
                    <a:lnB w="9525" cap="flat" cmpd="sng" algn="ctr">
                      <a:solidFill>
                        <a:srgbClr val="D6E2E0"/>
                      </a:solidFill>
                      <a:prstDash val="solid"/>
                      <a:round/>
                      <a:headEnd type="none" w="med" len="med"/>
                      <a:tailEnd type="none" w="med" len="med"/>
                    </a:lnB>
                    <a:solidFill>
                      <a:srgbClr val="E3EFEC"/>
                    </a:solidFill>
                  </a:tcPr>
                </a:tc>
                <a:tc>
                  <a:txBody>
                    <a:bodyPr/>
                    <a:lstStyle/>
                    <a:p>
                      <a:pPr indent="0" marL="0">
                        <a:buNone/>
                      </a:pPr>
                      <a:r>
                        <a:rPr lang="en-US" sz="1400" dirty="0">
                          <a:solidFill>
                            <a:srgbClr val="1B2A2E"/>
                          </a:solidFill>
                          <a:latin typeface="Calibri" pitchFamily="34" charset="0"/>
                          <a:ea typeface="Calibri" pitchFamily="34" charset="-122"/>
                          <a:cs typeface="Calibri" pitchFamily="34" charset="-120"/>
                        </a:rPr>
                        <a:t>80.5</a:t>
                      </a:r>
                      <a:endParaRPr lang="en-US" sz="1400" dirty="0">
                        <a:latin typeface="Calibri" charset="0"/>
                        <a:ea typeface="Calibri" charset="0"/>
                        <a:cs typeface="Calibri" charset="0"/>
                      </a:endParaRPr>
                    </a:p>
                  </a:txBody>
                  <a:tcPr marL="109728" marR="109728" marT="0" marB="0" anchor="ctr">
                    <a:lnL w="9525" cap="flat" cmpd="sng" algn="ctr">
                      <a:solidFill>
                        <a:srgbClr val="D6E2E0"/>
                      </a:solidFill>
                      <a:prstDash val="solid"/>
                      <a:round/>
                      <a:headEnd type="none" w="med" len="med"/>
                      <a:tailEnd type="none" w="med" len="med"/>
                    </a:lnL>
                    <a:lnR w="9525" cap="flat" cmpd="sng" algn="ctr">
                      <a:solidFill>
                        <a:srgbClr val="D6E2E0"/>
                      </a:solidFill>
                      <a:prstDash val="solid"/>
                      <a:round/>
                      <a:headEnd type="none" w="med" len="med"/>
                      <a:tailEnd type="none" w="med" len="med"/>
                    </a:lnR>
                    <a:lnT w="9525" cap="flat" cmpd="sng" algn="ctr">
                      <a:solidFill>
                        <a:srgbClr val="D6E2E0"/>
                      </a:solidFill>
                      <a:prstDash val="solid"/>
                      <a:round/>
                      <a:headEnd type="none" w="med" len="med"/>
                      <a:tailEnd type="none" w="med" len="med"/>
                    </a:lnT>
                    <a:lnB w="9525" cap="flat" cmpd="sng" algn="ctr">
                      <a:solidFill>
                        <a:srgbClr val="D6E2E0"/>
                      </a:solidFill>
                      <a:prstDash val="solid"/>
                      <a:round/>
                      <a:headEnd type="none" w="med" len="med"/>
                      <a:tailEnd type="none" w="med" len="med"/>
                    </a:lnB>
                    <a:solidFill>
                      <a:srgbClr val="E3EFEC"/>
                    </a:solidFill>
                  </a:tcPr>
                </a:tc>
                <a:tc>
                  <a:txBody>
                    <a:bodyPr/>
                    <a:lstStyle/>
                    <a:p>
                      <a:pPr indent="0" marL="0">
                        <a:buNone/>
                      </a:pPr>
                      <a:r>
                        <a:rPr lang="en-US" sz="1400" dirty="0">
                          <a:solidFill>
                            <a:srgbClr val="1B2A2E"/>
                          </a:solidFill>
                          <a:latin typeface="Calibri" pitchFamily="34" charset="0"/>
                          <a:ea typeface="Calibri" pitchFamily="34" charset="-122"/>
                          <a:cs typeface="Calibri" pitchFamily="34" charset="-120"/>
                        </a:rPr>
                        <a:t>0.808</a:t>
                      </a:r>
                      <a:endParaRPr lang="en-US" sz="1400" dirty="0">
                        <a:latin typeface="Calibri" charset="0"/>
                        <a:ea typeface="Calibri" charset="0"/>
                        <a:cs typeface="Calibri" charset="0"/>
                      </a:endParaRPr>
                    </a:p>
                  </a:txBody>
                  <a:tcPr marL="109728" marR="109728" marT="0" marB="0" anchor="ctr">
                    <a:lnL w="9525" cap="flat" cmpd="sng" algn="ctr">
                      <a:solidFill>
                        <a:srgbClr val="D6E2E0"/>
                      </a:solidFill>
                      <a:prstDash val="solid"/>
                      <a:round/>
                      <a:headEnd type="none" w="med" len="med"/>
                      <a:tailEnd type="none" w="med" len="med"/>
                    </a:lnL>
                    <a:lnR w="9525" cap="flat" cmpd="sng" algn="ctr">
                      <a:solidFill>
                        <a:srgbClr val="D6E2E0"/>
                      </a:solidFill>
                      <a:prstDash val="solid"/>
                      <a:round/>
                      <a:headEnd type="none" w="med" len="med"/>
                      <a:tailEnd type="none" w="med" len="med"/>
                    </a:lnR>
                    <a:lnT w="9525" cap="flat" cmpd="sng" algn="ctr">
                      <a:solidFill>
                        <a:srgbClr val="D6E2E0"/>
                      </a:solidFill>
                      <a:prstDash val="solid"/>
                      <a:round/>
                      <a:headEnd type="none" w="med" len="med"/>
                      <a:tailEnd type="none" w="med" len="med"/>
                    </a:lnT>
                    <a:lnB w="9525" cap="flat" cmpd="sng" algn="ctr">
                      <a:solidFill>
                        <a:srgbClr val="D6E2E0"/>
                      </a:solidFill>
                      <a:prstDash val="solid"/>
                      <a:round/>
                      <a:headEnd type="none" w="med" len="med"/>
                      <a:tailEnd type="none" w="med" len="med"/>
                    </a:lnB>
                    <a:solidFill>
                      <a:srgbClr val="E3EFEC"/>
                    </a:solidFill>
                  </a:tcPr>
                </a:tc>
              </a:tr>
              <a:tr h="411480">
                <a:tc>
                  <a:txBody>
                    <a:bodyPr/>
                    <a:lstStyle/>
                    <a:p>
                      <a:pPr indent="0" marL="0">
                        <a:buNone/>
                      </a:pPr>
                      <a:r>
                        <a:rPr lang="en-US" sz="1400" dirty="0">
                          <a:solidFill>
                            <a:srgbClr val="1B2A2E"/>
                          </a:solidFill>
                          <a:latin typeface="Calibri" pitchFamily="34" charset="0"/>
                          <a:ea typeface="Calibri" pitchFamily="34" charset="-122"/>
                          <a:cs typeface="Calibri" pitchFamily="34" charset="-120"/>
                        </a:rPr>
                        <a:t>Post review: median baseline</a:t>
                      </a:r>
                      <a:endParaRPr lang="en-US" sz="1400" dirty="0">
                        <a:latin typeface="Calibri" charset="0"/>
                        <a:ea typeface="Calibri" charset="0"/>
                        <a:cs typeface="Calibri" charset="0"/>
                      </a:endParaRPr>
                    </a:p>
                  </a:txBody>
                  <a:tcPr marL="109728" marR="109728" marT="0" marB="0" anchor="ctr">
                    <a:lnL w="9525" cap="flat" cmpd="sng" algn="ctr">
                      <a:solidFill>
                        <a:srgbClr val="D6E2E0"/>
                      </a:solidFill>
                      <a:prstDash val="solid"/>
                      <a:round/>
                      <a:headEnd type="none" w="med" len="med"/>
                      <a:tailEnd type="none" w="med" len="med"/>
                    </a:lnL>
                    <a:lnR w="9525" cap="flat" cmpd="sng" algn="ctr">
                      <a:solidFill>
                        <a:srgbClr val="D6E2E0"/>
                      </a:solidFill>
                      <a:prstDash val="solid"/>
                      <a:round/>
                      <a:headEnd type="none" w="med" len="med"/>
                      <a:tailEnd type="none" w="med" len="med"/>
                    </a:lnR>
                    <a:lnT w="9525" cap="flat" cmpd="sng" algn="ctr">
                      <a:solidFill>
                        <a:srgbClr val="D6E2E0"/>
                      </a:solidFill>
                      <a:prstDash val="solid"/>
                      <a:round/>
                      <a:headEnd type="none" w="med" len="med"/>
                      <a:tailEnd type="none" w="med" len="med"/>
                    </a:lnT>
                    <a:lnB w="9525" cap="flat" cmpd="sng" algn="ctr">
                      <a:solidFill>
                        <a:srgbClr val="D6E2E0"/>
                      </a:solidFill>
                      <a:prstDash val="solid"/>
                      <a:round/>
                      <a:headEnd type="none" w="med" len="med"/>
                      <a:tailEnd type="none" w="med" len="med"/>
                    </a:lnB>
                    <a:solidFill>
                      <a:srgbClr val="FFFFFF"/>
                    </a:solidFill>
                  </a:tcPr>
                </a:tc>
                <a:tc>
                  <a:txBody>
                    <a:bodyPr/>
                    <a:lstStyle/>
                    <a:p>
                      <a:pPr indent="0" marL="0">
                        <a:buNone/>
                      </a:pPr>
                      <a:r>
                        <a:rPr lang="en-US" sz="1400" dirty="0">
                          <a:solidFill>
                            <a:srgbClr val="1B2A2E"/>
                          </a:solidFill>
                          <a:latin typeface="Calibri" pitchFamily="34" charset="0"/>
                          <a:ea typeface="Calibri" pitchFamily="34" charset="-122"/>
                          <a:cs typeface="Calibri" pitchFamily="34" charset="-120"/>
                        </a:rPr>
                        <a:t>519</a:t>
                      </a:r>
                      <a:endParaRPr lang="en-US" sz="1400" dirty="0">
                        <a:latin typeface="Calibri" charset="0"/>
                        <a:ea typeface="Calibri" charset="0"/>
                        <a:cs typeface="Calibri" charset="0"/>
                      </a:endParaRPr>
                    </a:p>
                  </a:txBody>
                  <a:tcPr marL="109728" marR="109728" marT="0" marB="0" anchor="ctr">
                    <a:lnL w="9525" cap="flat" cmpd="sng" algn="ctr">
                      <a:solidFill>
                        <a:srgbClr val="D6E2E0"/>
                      </a:solidFill>
                      <a:prstDash val="solid"/>
                      <a:round/>
                      <a:headEnd type="none" w="med" len="med"/>
                      <a:tailEnd type="none" w="med" len="med"/>
                    </a:lnL>
                    <a:lnR w="9525" cap="flat" cmpd="sng" algn="ctr">
                      <a:solidFill>
                        <a:srgbClr val="D6E2E0"/>
                      </a:solidFill>
                      <a:prstDash val="solid"/>
                      <a:round/>
                      <a:headEnd type="none" w="med" len="med"/>
                      <a:tailEnd type="none" w="med" len="med"/>
                    </a:lnR>
                    <a:lnT w="9525" cap="flat" cmpd="sng" algn="ctr">
                      <a:solidFill>
                        <a:srgbClr val="D6E2E0"/>
                      </a:solidFill>
                      <a:prstDash val="solid"/>
                      <a:round/>
                      <a:headEnd type="none" w="med" len="med"/>
                      <a:tailEnd type="none" w="med" len="med"/>
                    </a:lnT>
                    <a:lnB w="9525" cap="flat" cmpd="sng" algn="ctr">
                      <a:solidFill>
                        <a:srgbClr val="D6E2E0"/>
                      </a:solidFill>
                      <a:prstDash val="solid"/>
                      <a:round/>
                      <a:headEnd type="none" w="med" len="med"/>
                      <a:tailEnd type="none" w="med" len="med"/>
                    </a:lnB>
                    <a:solidFill>
                      <a:srgbClr val="FFFFFF"/>
                    </a:solidFill>
                  </a:tcPr>
                </a:tc>
                <a:tc>
                  <a:txBody>
                    <a:bodyPr/>
                    <a:lstStyle/>
                    <a:p>
                      <a:pPr indent="0" marL="0">
                        <a:buNone/>
                      </a:pPr>
                      <a:r>
                        <a:rPr lang="en-US" sz="1400" dirty="0">
                          <a:solidFill>
                            <a:srgbClr val="1B2A2E"/>
                          </a:solidFill>
                          <a:latin typeface="Calibri" pitchFamily="34" charset="0"/>
                          <a:ea typeface="Calibri" pitchFamily="34" charset="-122"/>
                          <a:cs typeface="Calibri" pitchFamily="34" charset="-120"/>
                        </a:rPr>
                        <a:t>70.3</a:t>
                      </a:r>
                      <a:endParaRPr lang="en-US" sz="1400" dirty="0">
                        <a:latin typeface="Calibri" charset="0"/>
                        <a:ea typeface="Calibri" charset="0"/>
                        <a:cs typeface="Calibri" charset="0"/>
                      </a:endParaRPr>
                    </a:p>
                  </a:txBody>
                  <a:tcPr marL="109728" marR="109728" marT="0" marB="0" anchor="ctr">
                    <a:lnL w="9525" cap="flat" cmpd="sng" algn="ctr">
                      <a:solidFill>
                        <a:srgbClr val="D6E2E0"/>
                      </a:solidFill>
                      <a:prstDash val="solid"/>
                      <a:round/>
                      <a:headEnd type="none" w="med" len="med"/>
                      <a:tailEnd type="none" w="med" len="med"/>
                    </a:lnL>
                    <a:lnR w="9525" cap="flat" cmpd="sng" algn="ctr">
                      <a:solidFill>
                        <a:srgbClr val="D6E2E0"/>
                      </a:solidFill>
                      <a:prstDash val="solid"/>
                      <a:round/>
                      <a:headEnd type="none" w="med" len="med"/>
                      <a:tailEnd type="none" w="med" len="med"/>
                    </a:lnR>
                    <a:lnT w="9525" cap="flat" cmpd="sng" algn="ctr">
                      <a:solidFill>
                        <a:srgbClr val="D6E2E0"/>
                      </a:solidFill>
                      <a:prstDash val="solid"/>
                      <a:round/>
                      <a:headEnd type="none" w="med" len="med"/>
                      <a:tailEnd type="none" w="med" len="med"/>
                    </a:lnT>
                    <a:lnB w="9525" cap="flat" cmpd="sng" algn="ctr">
                      <a:solidFill>
                        <a:srgbClr val="D6E2E0"/>
                      </a:solidFill>
                      <a:prstDash val="solid"/>
                      <a:round/>
                      <a:headEnd type="none" w="med" len="med"/>
                      <a:tailEnd type="none" w="med" len="med"/>
                    </a:lnB>
                    <a:solidFill>
                      <a:srgbClr val="FFFFFF"/>
                    </a:solidFill>
                  </a:tcPr>
                </a:tc>
                <a:tc>
                  <a:txBody>
                    <a:bodyPr/>
                    <a:lstStyle/>
                    <a:p>
                      <a:pPr indent="0" marL="0">
                        <a:buNone/>
                      </a:pPr>
                      <a:r>
                        <a:rPr lang="en-US" sz="1400" dirty="0">
                          <a:solidFill>
                            <a:srgbClr val="1B2A2E"/>
                          </a:solidFill>
                          <a:latin typeface="Calibri" pitchFamily="34" charset="0"/>
                          <a:ea typeface="Calibri" pitchFamily="34" charset="-122"/>
                          <a:cs typeface="Calibri" pitchFamily="34" charset="-120"/>
                        </a:rPr>
                        <a:t>57.5</a:t>
                      </a:r>
                      <a:endParaRPr lang="en-US" sz="1400" dirty="0">
                        <a:latin typeface="Calibri" charset="0"/>
                        <a:ea typeface="Calibri" charset="0"/>
                        <a:cs typeface="Calibri" charset="0"/>
                      </a:endParaRPr>
                    </a:p>
                  </a:txBody>
                  <a:tcPr marL="109728" marR="109728" marT="0" marB="0" anchor="ctr">
                    <a:lnL w="9525" cap="flat" cmpd="sng" algn="ctr">
                      <a:solidFill>
                        <a:srgbClr val="D6E2E0"/>
                      </a:solidFill>
                      <a:prstDash val="solid"/>
                      <a:round/>
                      <a:headEnd type="none" w="med" len="med"/>
                      <a:tailEnd type="none" w="med" len="med"/>
                    </a:lnL>
                    <a:lnR w="9525" cap="flat" cmpd="sng" algn="ctr">
                      <a:solidFill>
                        <a:srgbClr val="D6E2E0"/>
                      </a:solidFill>
                      <a:prstDash val="solid"/>
                      <a:round/>
                      <a:headEnd type="none" w="med" len="med"/>
                      <a:tailEnd type="none" w="med" len="med"/>
                    </a:lnR>
                    <a:lnT w="9525" cap="flat" cmpd="sng" algn="ctr">
                      <a:solidFill>
                        <a:srgbClr val="D6E2E0"/>
                      </a:solidFill>
                      <a:prstDash val="solid"/>
                      <a:round/>
                      <a:headEnd type="none" w="med" len="med"/>
                      <a:tailEnd type="none" w="med" len="med"/>
                    </a:lnT>
                    <a:lnB w="9525" cap="flat" cmpd="sng" algn="ctr">
                      <a:solidFill>
                        <a:srgbClr val="D6E2E0"/>
                      </a:solidFill>
                      <a:prstDash val="solid"/>
                      <a:round/>
                      <a:headEnd type="none" w="med" len="med"/>
                      <a:tailEnd type="none" w="med" len="med"/>
                    </a:lnB>
                    <a:solidFill>
                      <a:srgbClr val="FFFFFF"/>
                    </a:solidFill>
                  </a:tcPr>
                </a:tc>
                <a:tc>
                  <a:txBody>
                    <a:bodyPr/>
                    <a:lstStyle/>
                    <a:p>
                      <a:pPr indent="0" marL="0">
                        <a:buNone/>
                      </a:pPr>
                      <a:r>
                        <a:rPr lang="en-US" sz="1400" dirty="0">
                          <a:solidFill>
                            <a:srgbClr val="1B2A2E"/>
                          </a:solidFill>
                          <a:latin typeface="Calibri" pitchFamily="34" charset="0"/>
                          <a:ea typeface="Calibri" pitchFamily="34" charset="-122"/>
                          <a:cs typeface="Calibri" pitchFamily="34" charset="-120"/>
                        </a:rPr>
                        <a:t>0.827</a:t>
                      </a:r>
                      <a:endParaRPr lang="en-US" sz="1400" dirty="0">
                        <a:latin typeface="Calibri" charset="0"/>
                        <a:ea typeface="Calibri" charset="0"/>
                        <a:cs typeface="Calibri" charset="0"/>
                      </a:endParaRPr>
                    </a:p>
                  </a:txBody>
                  <a:tcPr marL="109728" marR="109728" marT="0" marB="0" anchor="ctr">
                    <a:lnL w="9525" cap="flat" cmpd="sng" algn="ctr">
                      <a:solidFill>
                        <a:srgbClr val="D6E2E0"/>
                      </a:solidFill>
                      <a:prstDash val="solid"/>
                      <a:round/>
                      <a:headEnd type="none" w="med" len="med"/>
                      <a:tailEnd type="none" w="med" len="med"/>
                    </a:lnL>
                    <a:lnR w="9525" cap="flat" cmpd="sng" algn="ctr">
                      <a:solidFill>
                        <a:srgbClr val="D6E2E0"/>
                      </a:solidFill>
                      <a:prstDash val="solid"/>
                      <a:round/>
                      <a:headEnd type="none" w="med" len="med"/>
                      <a:tailEnd type="none" w="med" len="med"/>
                    </a:lnR>
                    <a:lnT w="9525" cap="flat" cmpd="sng" algn="ctr">
                      <a:solidFill>
                        <a:srgbClr val="D6E2E0"/>
                      </a:solidFill>
                      <a:prstDash val="solid"/>
                      <a:round/>
                      <a:headEnd type="none" w="med" len="med"/>
                      <a:tailEnd type="none" w="med" len="med"/>
                    </a:lnT>
                    <a:lnB w="9525" cap="flat" cmpd="sng" algn="ctr">
                      <a:solidFill>
                        <a:srgbClr val="D6E2E0"/>
                      </a:solidFill>
                      <a:prstDash val="solid"/>
                      <a:round/>
                      <a:headEnd type="none" w="med" len="med"/>
                      <a:tailEnd type="none" w="med" len="med"/>
                    </a:lnB>
                    <a:solidFill>
                      <a:srgbClr val="FFFFFF"/>
                    </a:solidFill>
                  </a:tcPr>
                </a:tc>
              </a:tr>
              <a:tr h="411480">
                <a:tc>
                  <a:txBody>
                    <a:bodyPr/>
                    <a:lstStyle/>
                    <a:p>
                      <a:pPr indent="0" marL="0">
                        <a:buNone/>
                      </a:pPr>
                      <a:r>
                        <a:rPr lang="en-US" sz="1400" b="1" dirty="0">
                          <a:solidFill>
                            <a:srgbClr val="1B2A2E"/>
                          </a:solidFill>
                          <a:latin typeface="Calibri" pitchFamily="34" charset="0"/>
                          <a:ea typeface="Calibri" pitchFamily="34" charset="-122"/>
                          <a:cs typeface="Calibri" pitchFamily="34" charset="-120"/>
                        </a:rPr>
                        <a:t>Post review: quantile GBT</a:t>
                      </a:r>
                      <a:endParaRPr lang="en-US" sz="1400" dirty="0">
                        <a:latin typeface="Calibri" charset="0"/>
                        <a:ea typeface="Calibri" charset="0"/>
                        <a:cs typeface="Calibri" charset="0"/>
                      </a:endParaRPr>
                    </a:p>
                  </a:txBody>
                  <a:tcPr marL="109728" marR="109728" marT="0" marB="0" anchor="ctr">
                    <a:lnL w="9525" cap="flat" cmpd="sng" algn="ctr">
                      <a:solidFill>
                        <a:srgbClr val="D6E2E0"/>
                      </a:solidFill>
                      <a:prstDash val="solid"/>
                      <a:round/>
                      <a:headEnd type="none" w="med" len="med"/>
                      <a:tailEnd type="none" w="med" len="med"/>
                    </a:lnL>
                    <a:lnR w="9525" cap="flat" cmpd="sng" algn="ctr">
                      <a:solidFill>
                        <a:srgbClr val="D6E2E0"/>
                      </a:solidFill>
                      <a:prstDash val="solid"/>
                      <a:round/>
                      <a:headEnd type="none" w="med" len="med"/>
                      <a:tailEnd type="none" w="med" len="med"/>
                    </a:lnR>
                    <a:lnT w="9525" cap="flat" cmpd="sng" algn="ctr">
                      <a:solidFill>
                        <a:srgbClr val="D6E2E0"/>
                      </a:solidFill>
                      <a:prstDash val="solid"/>
                      <a:round/>
                      <a:headEnd type="none" w="med" len="med"/>
                      <a:tailEnd type="none" w="med" len="med"/>
                    </a:lnT>
                    <a:lnB w="9525" cap="flat" cmpd="sng" algn="ctr">
                      <a:solidFill>
                        <a:srgbClr val="D6E2E0"/>
                      </a:solidFill>
                      <a:prstDash val="solid"/>
                      <a:round/>
                      <a:headEnd type="none" w="med" len="med"/>
                      <a:tailEnd type="none" w="med" len="med"/>
                    </a:lnB>
                    <a:solidFill>
                      <a:srgbClr val="E3EFEC"/>
                    </a:solidFill>
                  </a:tcPr>
                </a:tc>
                <a:tc>
                  <a:txBody>
                    <a:bodyPr/>
                    <a:lstStyle/>
                    <a:p>
                      <a:pPr indent="0" marL="0">
                        <a:buNone/>
                      </a:pPr>
                      <a:r>
                        <a:rPr lang="en-US" sz="1400" dirty="0">
                          <a:solidFill>
                            <a:srgbClr val="1B2A2E"/>
                          </a:solidFill>
                          <a:latin typeface="Calibri" pitchFamily="34" charset="0"/>
                          <a:ea typeface="Calibri" pitchFamily="34" charset="-122"/>
                          <a:cs typeface="Calibri" pitchFamily="34" charset="-120"/>
                        </a:rPr>
                        <a:t>519</a:t>
                      </a:r>
                      <a:endParaRPr lang="en-US" sz="1400" dirty="0">
                        <a:latin typeface="Calibri" charset="0"/>
                        <a:ea typeface="Calibri" charset="0"/>
                        <a:cs typeface="Calibri" charset="0"/>
                      </a:endParaRPr>
                    </a:p>
                  </a:txBody>
                  <a:tcPr marL="109728" marR="109728" marT="0" marB="0" anchor="ctr">
                    <a:lnL w="9525" cap="flat" cmpd="sng" algn="ctr">
                      <a:solidFill>
                        <a:srgbClr val="D6E2E0"/>
                      </a:solidFill>
                      <a:prstDash val="solid"/>
                      <a:round/>
                      <a:headEnd type="none" w="med" len="med"/>
                      <a:tailEnd type="none" w="med" len="med"/>
                    </a:lnL>
                    <a:lnR w="9525" cap="flat" cmpd="sng" algn="ctr">
                      <a:solidFill>
                        <a:srgbClr val="D6E2E0"/>
                      </a:solidFill>
                      <a:prstDash val="solid"/>
                      <a:round/>
                      <a:headEnd type="none" w="med" len="med"/>
                      <a:tailEnd type="none" w="med" len="med"/>
                    </a:lnR>
                    <a:lnT w="9525" cap="flat" cmpd="sng" algn="ctr">
                      <a:solidFill>
                        <a:srgbClr val="D6E2E0"/>
                      </a:solidFill>
                      <a:prstDash val="solid"/>
                      <a:round/>
                      <a:headEnd type="none" w="med" len="med"/>
                      <a:tailEnd type="none" w="med" len="med"/>
                    </a:lnT>
                    <a:lnB w="9525" cap="flat" cmpd="sng" algn="ctr">
                      <a:solidFill>
                        <a:srgbClr val="D6E2E0"/>
                      </a:solidFill>
                      <a:prstDash val="solid"/>
                      <a:round/>
                      <a:headEnd type="none" w="med" len="med"/>
                      <a:tailEnd type="none" w="med" len="med"/>
                    </a:lnB>
                    <a:solidFill>
                      <a:srgbClr val="E3EFEC"/>
                    </a:solidFill>
                  </a:tcPr>
                </a:tc>
                <a:tc>
                  <a:txBody>
                    <a:bodyPr/>
                    <a:lstStyle/>
                    <a:p>
                      <a:pPr indent="0" marL="0">
                        <a:buNone/>
                      </a:pPr>
                      <a:r>
                        <a:rPr lang="en-US" sz="1400" dirty="0">
                          <a:solidFill>
                            <a:srgbClr val="1B2A2E"/>
                          </a:solidFill>
                          <a:latin typeface="Calibri" pitchFamily="34" charset="0"/>
                          <a:ea typeface="Calibri" pitchFamily="34" charset="-122"/>
                          <a:cs typeface="Calibri" pitchFamily="34" charset="-120"/>
                        </a:rPr>
                        <a:t>69.5</a:t>
                      </a:r>
                      <a:endParaRPr lang="en-US" sz="1400" dirty="0">
                        <a:latin typeface="Calibri" charset="0"/>
                        <a:ea typeface="Calibri" charset="0"/>
                        <a:cs typeface="Calibri" charset="0"/>
                      </a:endParaRPr>
                    </a:p>
                  </a:txBody>
                  <a:tcPr marL="109728" marR="109728" marT="0" marB="0" anchor="ctr">
                    <a:lnL w="9525" cap="flat" cmpd="sng" algn="ctr">
                      <a:solidFill>
                        <a:srgbClr val="D6E2E0"/>
                      </a:solidFill>
                      <a:prstDash val="solid"/>
                      <a:round/>
                      <a:headEnd type="none" w="med" len="med"/>
                      <a:tailEnd type="none" w="med" len="med"/>
                    </a:lnL>
                    <a:lnR w="9525" cap="flat" cmpd="sng" algn="ctr">
                      <a:solidFill>
                        <a:srgbClr val="D6E2E0"/>
                      </a:solidFill>
                      <a:prstDash val="solid"/>
                      <a:round/>
                      <a:headEnd type="none" w="med" len="med"/>
                      <a:tailEnd type="none" w="med" len="med"/>
                    </a:lnR>
                    <a:lnT w="9525" cap="flat" cmpd="sng" algn="ctr">
                      <a:solidFill>
                        <a:srgbClr val="D6E2E0"/>
                      </a:solidFill>
                      <a:prstDash val="solid"/>
                      <a:round/>
                      <a:headEnd type="none" w="med" len="med"/>
                      <a:tailEnd type="none" w="med" len="med"/>
                    </a:lnT>
                    <a:lnB w="9525" cap="flat" cmpd="sng" algn="ctr">
                      <a:solidFill>
                        <a:srgbClr val="D6E2E0"/>
                      </a:solidFill>
                      <a:prstDash val="solid"/>
                      <a:round/>
                      <a:headEnd type="none" w="med" len="med"/>
                      <a:tailEnd type="none" w="med" len="med"/>
                    </a:lnB>
                    <a:solidFill>
                      <a:srgbClr val="E3EFEC"/>
                    </a:solidFill>
                  </a:tcPr>
                </a:tc>
                <a:tc>
                  <a:txBody>
                    <a:bodyPr/>
                    <a:lstStyle/>
                    <a:p>
                      <a:pPr indent="0" marL="0">
                        <a:buNone/>
                      </a:pPr>
                      <a:r>
                        <a:rPr lang="en-US" sz="1400" dirty="0">
                          <a:solidFill>
                            <a:srgbClr val="1B2A2E"/>
                          </a:solidFill>
                          <a:latin typeface="Calibri" pitchFamily="34" charset="0"/>
                          <a:ea typeface="Calibri" pitchFamily="34" charset="-122"/>
                          <a:cs typeface="Calibri" pitchFamily="34" charset="-120"/>
                        </a:rPr>
                        <a:t>52.3</a:t>
                      </a:r>
                      <a:endParaRPr lang="en-US" sz="1400" dirty="0">
                        <a:latin typeface="Calibri" charset="0"/>
                        <a:ea typeface="Calibri" charset="0"/>
                        <a:cs typeface="Calibri" charset="0"/>
                      </a:endParaRPr>
                    </a:p>
                  </a:txBody>
                  <a:tcPr marL="109728" marR="109728" marT="0" marB="0" anchor="ctr">
                    <a:lnL w="9525" cap="flat" cmpd="sng" algn="ctr">
                      <a:solidFill>
                        <a:srgbClr val="D6E2E0"/>
                      </a:solidFill>
                      <a:prstDash val="solid"/>
                      <a:round/>
                      <a:headEnd type="none" w="med" len="med"/>
                      <a:tailEnd type="none" w="med" len="med"/>
                    </a:lnL>
                    <a:lnR w="9525" cap="flat" cmpd="sng" algn="ctr">
                      <a:solidFill>
                        <a:srgbClr val="D6E2E0"/>
                      </a:solidFill>
                      <a:prstDash val="solid"/>
                      <a:round/>
                      <a:headEnd type="none" w="med" len="med"/>
                      <a:tailEnd type="none" w="med" len="med"/>
                    </a:lnR>
                    <a:lnT w="9525" cap="flat" cmpd="sng" algn="ctr">
                      <a:solidFill>
                        <a:srgbClr val="D6E2E0"/>
                      </a:solidFill>
                      <a:prstDash val="solid"/>
                      <a:round/>
                      <a:headEnd type="none" w="med" len="med"/>
                      <a:tailEnd type="none" w="med" len="med"/>
                    </a:lnT>
                    <a:lnB w="9525" cap="flat" cmpd="sng" algn="ctr">
                      <a:solidFill>
                        <a:srgbClr val="D6E2E0"/>
                      </a:solidFill>
                      <a:prstDash val="solid"/>
                      <a:round/>
                      <a:headEnd type="none" w="med" len="med"/>
                      <a:tailEnd type="none" w="med" len="med"/>
                    </a:lnB>
                    <a:solidFill>
                      <a:srgbClr val="E3EFEC"/>
                    </a:solidFill>
                  </a:tcPr>
                </a:tc>
                <a:tc>
                  <a:txBody>
                    <a:bodyPr/>
                    <a:lstStyle/>
                    <a:p>
                      <a:pPr indent="0" marL="0">
                        <a:buNone/>
                      </a:pPr>
                      <a:r>
                        <a:rPr lang="en-US" sz="1400" dirty="0">
                          <a:solidFill>
                            <a:srgbClr val="1B2A2E"/>
                          </a:solidFill>
                          <a:latin typeface="Calibri" pitchFamily="34" charset="0"/>
                          <a:ea typeface="Calibri" pitchFamily="34" charset="-122"/>
                          <a:cs typeface="Calibri" pitchFamily="34" charset="-120"/>
                        </a:rPr>
                        <a:t>0.825</a:t>
                      </a:r>
                      <a:endParaRPr lang="en-US" sz="1400" dirty="0">
                        <a:latin typeface="Calibri" charset="0"/>
                        <a:ea typeface="Calibri" charset="0"/>
                        <a:cs typeface="Calibri" charset="0"/>
                      </a:endParaRPr>
                    </a:p>
                  </a:txBody>
                  <a:tcPr marL="109728" marR="109728" marT="0" marB="0" anchor="ctr">
                    <a:lnL w="9525" cap="flat" cmpd="sng" algn="ctr">
                      <a:solidFill>
                        <a:srgbClr val="D6E2E0"/>
                      </a:solidFill>
                      <a:prstDash val="solid"/>
                      <a:round/>
                      <a:headEnd type="none" w="med" len="med"/>
                      <a:tailEnd type="none" w="med" len="med"/>
                    </a:lnL>
                    <a:lnR w="9525" cap="flat" cmpd="sng" algn="ctr">
                      <a:solidFill>
                        <a:srgbClr val="D6E2E0"/>
                      </a:solidFill>
                      <a:prstDash val="solid"/>
                      <a:round/>
                      <a:headEnd type="none" w="med" len="med"/>
                      <a:tailEnd type="none" w="med" len="med"/>
                    </a:lnR>
                    <a:lnT w="9525" cap="flat" cmpd="sng" algn="ctr">
                      <a:solidFill>
                        <a:srgbClr val="D6E2E0"/>
                      </a:solidFill>
                      <a:prstDash val="solid"/>
                      <a:round/>
                      <a:headEnd type="none" w="med" len="med"/>
                      <a:tailEnd type="none" w="med" len="med"/>
                    </a:lnT>
                    <a:lnB w="9525" cap="flat" cmpd="sng" algn="ctr">
                      <a:solidFill>
                        <a:srgbClr val="D6E2E0"/>
                      </a:solidFill>
                      <a:prstDash val="solid"/>
                      <a:round/>
                      <a:headEnd type="none" w="med" len="med"/>
                      <a:tailEnd type="none" w="med" len="med"/>
                    </a:lnB>
                    <a:solidFill>
                      <a:srgbClr val="E3EFEC"/>
                    </a:solidFill>
                  </a:tcPr>
                </a:tc>
              </a:tr>
            </a:tbl>
          </a:graphicData>
        </a:graphic>
      </p:graphicFrame>
      <p:sp>
        <p:nvSpPr>
          <p:cNvPr id="23" name="Text 20"/>
          <p:cNvSpPr txBox="1"/>
          <p:nvPr/>
        </p:nvSpPr>
        <p:spPr>
          <a:xfrm>
            <a:off x="548640" y="5532120"/>
            <a:ext cx="11064240" cy="548640"/>
          </a:xfrm>
          <a:prstGeom prst="rect">
            <a:avLst/>
          </a:prstGeom>
          <a:noFill/>
          <a:ln/>
        </p:spPr>
        <p:txBody>
          <a:bodyPr wrap="square" lIns="0" tIns="0" rIns="0" bIns="0" rtlCol="0" anchor="t"/>
          <a:lstStyle/>
          <a:p>
            <a:pPr algn="l" indent="0" marL="0">
              <a:buNone/>
            </a:pPr>
            <a:r>
              <a:rPr lang="en-US" sz="1300" dirty="0">
                <a:solidFill>
                  <a:srgbClr val="5B6B6E"/>
                </a:solidFill>
                <a:latin typeface="Calibri" pitchFamily="34" charset="0"/>
                <a:ea typeface="Calibri" pitchFamily="34" charset="-122"/>
                <a:cs typeface="Calibri" pitchFamily="34" charset="-120"/>
              </a:rPr>
              <a:t>Features known at the start notice only · governance from the latest PUBLISHED year · promoted to champion only if no worse on the latest time slice</a:t>
            </a:r>
            <a:endParaRPr lang="en-US" sz="13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6E"/>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7680960" cy="822960"/>
          </a:xfrm>
          <a:prstGeom prst="rect">
            <a:avLst/>
          </a:prstGeom>
          <a:noFill/>
          <a:ln/>
        </p:spPr>
        <p:txBody>
          <a:bodyPr wrap="square" lIns="0" tIns="0" rIns="0" bIns="0" rtlCol="0" anchor="ctr"/>
          <a:lstStyle/>
          <a:p>
            <a:pPr algn="l" indent="0" marL="0">
              <a:buNone/>
            </a:pPr>
            <a:r>
              <a:rPr lang="en-US" sz="3000" b="1" dirty="0">
                <a:solidFill>
                  <a:srgbClr val="0F5257"/>
                </a:solidFill>
                <a:latin typeface="Cambria" pitchFamily="34" charset="0"/>
                <a:ea typeface="Cambria" pitchFamily="34" charset="-122"/>
                <a:cs typeface="Cambria" pitchFamily="34" charset="-120"/>
              </a:rPr>
              <a:t>Plan: will it need re-bidding?</a:t>
            </a:r>
            <a:endParaRPr lang="en-US" sz="3000" dirty="0"/>
          </a:p>
        </p:txBody>
      </p:sp>
      <p:sp>
        <p:nvSpPr>
          <p:cNvPr id="3" name="journey line"/>
          <p:cNvSpPr/>
          <p:nvPr/>
        </p:nvSpPr>
        <p:spPr>
          <a:xfrm>
            <a:off x="8613648" y="612648"/>
            <a:ext cx="2743200" cy="0"/>
          </a:xfrm>
          <a:prstGeom prst="line">
            <a:avLst/>
          </a:prstGeom>
          <a:noFill/>
          <a:ln w="19050">
            <a:solidFill>
              <a:srgbClr val="9DBCB8"/>
            </a:solidFill>
            <a:prstDash val="solid"/>
          </a:ln>
        </p:spPr>
      </p:sp>
      <p:sp>
        <p:nvSpPr>
          <p:cNvPr id="4" name="journey Plan"/>
          <p:cNvSpPr/>
          <p:nvPr/>
        </p:nvSpPr>
        <p:spPr>
          <a:xfrm>
            <a:off x="8458200" y="457200"/>
            <a:ext cx="310896" cy="310896"/>
          </a:xfrm>
          <a:prstGeom prst="ellipse">
            <a:avLst/>
          </a:prstGeom>
          <a:solidFill>
            <a:srgbClr val="F3B23C"/>
          </a:solidFill>
          <a:ln w="19050">
            <a:solidFill>
              <a:srgbClr val="F3B23C"/>
            </a:solidFill>
            <a:prstDash val="solid"/>
          </a:ln>
        </p:spPr>
      </p:sp>
      <p:sp>
        <p:nvSpPr>
          <p:cNvPr id="5" name="Text 3"/>
          <p:cNvSpPr txBox="1"/>
          <p:nvPr/>
        </p:nvSpPr>
        <p:spPr>
          <a:xfrm>
            <a:off x="8458200" y="457200"/>
            <a:ext cx="310896" cy="310896"/>
          </a:xfrm>
          <a:prstGeom prst="rect">
            <a:avLst/>
          </a:prstGeom>
          <a:noFill/>
          <a:ln/>
        </p:spPr>
        <p:txBody>
          <a:bodyPr wrap="square" lIns="0" tIns="0" rIns="0" bIns="0" rtlCol="0" anchor="ctr"/>
          <a:lstStyle/>
          <a:p>
            <a:pPr algn="ctr" indent="0" marL="0">
              <a:buNone/>
            </a:pPr>
            <a:r>
              <a:rPr lang="en-US" sz="1100" b="1" dirty="0">
                <a:solidFill>
                  <a:srgbClr val="1B2A2E"/>
                </a:solidFill>
                <a:latin typeface="Calibri" pitchFamily="34" charset="0"/>
                <a:ea typeface="Calibri" pitchFamily="34" charset="-122"/>
                <a:cs typeface="Calibri" pitchFamily="34" charset="-120"/>
              </a:rPr>
              <a:t>1</a:t>
            </a:r>
            <a:endParaRPr lang="en-US" sz="1100" dirty="0"/>
          </a:p>
        </p:txBody>
      </p:sp>
      <p:sp>
        <p:nvSpPr>
          <p:cNvPr id="6" name="Text 4"/>
          <p:cNvSpPr txBox="1"/>
          <p:nvPr/>
        </p:nvSpPr>
        <p:spPr>
          <a:xfrm>
            <a:off x="8156448" y="804672"/>
            <a:ext cx="914400" cy="256032"/>
          </a:xfrm>
          <a:prstGeom prst="rect">
            <a:avLst/>
          </a:prstGeom>
          <a:noFill/>
          <a:ln/>
        </p:spPr>
        <p:txBody>
          <a:bodyPr wrap="square" lIns="0" tIns="0" rIns="0" bIns="0" rtlCol="0" anchor="ctr"/>
          <a:lstStyle/>
          <a:p>
            <a:pPr algn="ctr" indent="0" marL="0">
              <a:buNone/>
            </a:pPr>
            <a:r>
              <a:rPr lang="en-US" sz="1000" b="1" dirty="0">
                <a:solidFill>
                  <a:srgbClr val="1B2A2E"/>
                </a:solidFill>
                <a:latin typeface="Calibri" pitchFamily="34" charset="0"/>
                <a:ea typeface="Calibri" pitchFamily="34" charset="-122"/>
                <a:cs typeface="Calibri" pitchFamily="34" charset="-120"/>
              </a:rPr>
              <a:t>Plan</a:t>
            </a:r>
            <a:endParaRPr lang="en-US" sz="1000" dirty="0"/>
          </a:p>
        </p:txBody>
      </p:sp>
      <p:sp>
        <p:nvSpPr>
          <p:cNvPr id="7" name="journey Tender design"/>
          <p:cNvSpPr/>
          <p:nvPr/>
        </p:nvSpPr>
        <p:spPr>
          <a:xfrm>
            <a:off x="9372600" y="457200"/>
            <a:ext cx="310896" cy="310896"/>
          </a:xfrm>
          <a:prstGeom prst="ellipse">
            <a:avLst/>
          </a:prstGeom>
          <a:solidFill>
            <a:srgbClr val="FFFFFF"/>
          </a:solidFill>
          <a:ln w="19050">
            <a:solidFill>
              <a:srgbClr val="9DBCB8"/>
            </a:solidFill>
            <a:prstDash val="solid"/>
          </a:ln>
        </p:spPr>
      </p:sp>
      <p:sp>
        <p:nvSpPr>
          <p:cNvPr id="8" name="Text 6"/>
          <p:cNvSpPr txBox="1"/>
          <p:nvPr/>
        </p:nvSpPr>
        <p:spPr>
          <a:xfrm>
            <a:off x="9372600" y="457200"/>
            <a:ext cx="310896" cy="310896"/>
          </a:xfrm>
          <a:prstGeom prst="rect">
            <a:avLst/>
          </a:prstGeom>
          <a:noFill/>
          <a:ln/>
        </p:spPr>
        <p:txBody>
          <a:bodyPr wrap="square" lIns="0" tIns="0" rIns="0" bIns="0" rtlCol="0" anchor="ctr"/>
          <a:lstStyle/>
          <a:p>
            <a:pPr algn="ctr" indent="0" marL="0">
              <a:buNone/>
            </a:pPr>
            <a:r>
              <a:rPr lang="en-US" sz="1100" b="1" dirty="0">
                <a:solidFill>
                  <a:srgbClr val="5B6B6E"/>
                </a:solidFill>
                <a:latin typeface="Calibri" pitchFamily="34" charset="0"/>
                <a:ea typeface="Calibri" pitchFamily="34" charset="-122"/>
                <a:cs typeface="Calibri" pitchFamily="34" charset="-120"/>
              </a:rPr>
              <a:t>2</a:t>
            </a:r>
            <a:endParaRPr lang="en-US" sz="1100" dirty="0"/>
          </a:p>
        </p:txBody>
      </p:sp>
      <p:sp>
        <p:nvSpPr>
          <p:cNvPr id="9" name="Text 7"/>
          <p:cNvSpPr txBox="1"/>
          <p:nvPr/>
        </p:nvSpPr>
        <p:spPr>
          <a:xfrm>
            <a:off x="9070848" y="804672"/>
            <a:ext cx="914400" cy="256032"/>
          </a:xfrm>
          <a:prstGeom prst="rect">
            <a:avLst/>
          </a:prstGeom>
          <a:noFill/>
          <a:ln/>
        </p:spPr>
        <p:txBody>
          <a:bodyPr wrap="square" lIns="0" tIns="0" rIns="0" bIns="0" rtlCol="0" anchor="ctr"/>
          <a:lstStyle/>
          <a:p>
            <a:pPr algn="ctr" indent="0" marL="0">
              <a:buNone/>
            </a:pPr>
            <a:r>
              <a:rPr lang="en-US" sz="1000" dirty="0">
                <a:solidFill>
                  <a:srgbClr val="5B6B6E"/>
                </a:solidFill>
                <a:latin typeface="Calibri" pitchFamily="34" charset="0"/>
                <a:ea typeface="Calibri" pitchFamily="34" charset="-122"/>
                <a:cs typeface="Calibri" pitchFamily="34" charset="-120"/>
              </a:rPr>
              <a:t>Tender design</a:t>
            </a:r>
            <a:endParaRPr lang="en-US" sz="1000" dirty="0"/>
          </a:p>
        </p:txBody>
      </p:sp>
      <p:sp>
        <p:nvSpPr>
          <p:cNvPr id="10" name="journey Monitor"/>
          <p:cNvSpPr/>
          <p:nvPr/>
        </p:nvSpPr>
        <p:spPr>
          <a:xfrm>
            <a:off x="10287000" y="457200"/>
            <a:ext cx="310896" cy="310896"/>
          </a:xfrm>
          <a:prstGeom prst="ellipse">
            <a:avLst/>
          </a:prstGeom>
          <a:solidFill>
            <a:srgbClr val="FFFFFF"/>
          </a:solidFill>
          <a:ln w="19050">
            <a:solidFill>
              <a:srgbClr val="9DBCB8"/>
            </a:solidFill>
            <a:prstDash val="solid"/>
          </a:ln>
        </p:spPr>
      </p:sp>
      <p:sp>
        <p:nvSpPr>
          <p:cNvPr id="11" name="Text 9"/>
          <p:cNvSpPr txBox="1"/>
          <p:nvPr/>
        </p:nvSpPr>
        <p:spPr>
          <a:xfrm>
            <a:off x="10287000" y="457200"/>
            <a:ext cx="310896" cy="310896"/>
          </a:xfrm>
          <a:prstGeom prst="rect">
            <a:avLst/>
          </a:prstGeom>
          <a:noFill/>
          <a:ln/>
        </p:spPr>
        <p:txBody>
          <a:bodyPr wrap="square" lIns="0" tIns="0" rIns="0" bIns="0" rtlCol="0" anchor="ctr"/>
          <a:lstStyle/>
          <a:p>
            <a:pPr algn="ctr" indent="0" marL="0">
              <a:buNone/>
            </a:pPr>
            <a:r>
              <a:rPr lang="en-US" sz="1100" b="1" dirty="0">
                <a:solidFill>
                  <a:srgbClr val="5B6B6E"/>
                </a:solidFill>
                <a:latin typeface="Calibri" pitchFamily="34" charset="0"/>
                <a:ea typeface="Calibri" pitchFamily="34" charset="-122"/>
                <a:cs typeface="Calibri" pitchFamily="34" charset="-120"/>
              </a:rPr>
              <a:t>3</a:t>
            </a:r>
            <a:endParaRPr lang="en-US" sz="1100" dirty="0"/>
          </a:p>
        </p:txBody>
      </p:sp>
      <p:sp>
        <p:nvSpPr>
          <p:cNvPr id="12" name="Text 10"/>
          <p:cNvSpPr txBox="1"/>
          <p:nvPr/>
        </p:nvSpPr>
        <p:spPr>
          <a:xfrm>
            <a:off x="9985248" y="804672"/>
            <a:ext cx="914400" cy="256032"/>
          </a:xfrm>
          <a:prstGeom prst="rect">
            <a:avLst/>
          </a:prstGeom>
          <a:noFill/>
          <a:ln/>
        </p:spPr>
        <p:txBody>
          <a:bodyPr wrap="square" lIns="0" tIns="0" rIns="0" bIns="0" rtlCol="0" anchor="ctr"/>
          <a:lstStyle/>
          <a:p>
            <a:pPr algn="ctr" indent="0" marL="0">
              <a:buNone/>
            </a:pPr>
            <a:r>
              <a:rPr lang="en-US" sz="1000" dirty="0">
                <a:solidFill>
                  <a:srgbClr val="5B6B6E"/>
                </a:solidFill>
                <a:latin typeface="Calibri" pitchFamily="34" charset="0"/>
                <a:ea typeface="Calibri" pitchFamily="34" charset="-122"/>
                <a:cs typeface="Calibri" pitchFamily="34" charset="-120"/>
              </a:rPr>
              <a:t>Monitor</a:t>
            </a:r>
            <a:endParaRPr lang="en-US" sz="1000" dirty="0"/>
          </a:p>
        </p:txBody>
      </p:sp>
      <p:sp>
        <p:nvSpPr>
          <p:cNvPr id="13" name="journey Learn"/>
          <p:cNvSpPr/>
          <p:nvPr/>
        </p:nvSpPr>
        <p:spPr>
          <a:xfrm>
            <a:off x="11201400" y="457200"/>
            <a:ext cx="310896" cy="310896"/>
          </a:xfrm>
          <a:prstGeom prst="ellipse">
            <a:avLst/>
          </a:prstGeom>
          <a:solidFill>
            <a:srgbClr val="FFFFFF"/>
          </a:solidFill>
          <a:ln w="19050">
            <a:solidFill>
              <a:srgbClr val="9DBCB8"/>
            </a:solidFill>
            <a:prstDash val="solid"/>
          </a:ln>
        </p:spPr>
      </p:sp>
      <p:sp>
        <p:nvSpPr>
          <p:cNvPr id="14" name="Text 12"/>
          <p:cNvSpPr txBox="1"/>
          <p:nvPr/>
        </p:nvSpPr>
        <p:spPr>
          <a:xfrm>
            <a:off x="11201400" y="457200"/>
            <a:ext cx="310896" cy="310896"/>
          </a:xfrm>
          <a:prstGeom prst="rect">
            <a:avLst/>
          </a:prstGeom>
          <a:noFill/>
          <a:ln/>
        </p:spPr>
        <p:txBody>
          <a:bodyPr wrap="square" lIns="0" tIns="0" rIns="0" bIns="0" rtlCol="0" anchor="ctr"/>
          <a:lstStyle/>
          <a:p>
            <a:pPr algn="ctr" indent="0" marL="0">
              <a:buNone/>
            </a:pPr>
            <a:r>
              <a:rPr lang="en-US" sz="1100" b="1" dirty="0">
                <a:solidFill>
                  <a:srgbClr val="5B6B6E"/>
                </a:solidFill>
                <a:latin typeface="Calibri" pitchFamily="34" charset="0"/>
                <a:ea typeface="Calibri" pitchFamily="34" charset="-122"/>
                <a:cs typeface="Calibri" pitchFamily="34" charset="-120"/>
              </a:rPr>
              <a:t>4</a:t>
            </a:r>
            <a:endParaRPr lang="en-US" sz="1100" dirty="0"/>
          </a:p>
        </p:txBody>
      </p:sp>
      <p:sp>
        <p:nvSpPr>
          <p:cNvPr id="15" name="Text 13"/>
          <p:cNvSpPr txBox="1"/>
          <p:nvPr/>
        </p:nvSpPr>
        <p:spPr>
          <a:xfrm>
            <a:off x="10899648" y="804672"/>
            <a:ext cx="914400" cy="256032"/>
          </a:xfrm>
          <a:prstGeom prst="rect">
            <a:avLst/>
          </a:prstGeom>
          <a:noFill/>
          <a:ln/>
        </p:spPr>
        <p:txBody>
          <a:bodyPr wrap="square" lIns="0" tIns="0" rIns="0" bIns="0" rtlCol="0" anchor="ctr"/>
          <a:lstStyle/>
          <a:p>
            <a:pPr algn="ctr" indent="0" marL="0">
              <a:buNone/>
            </a:pPr>
            <a:r>
              <a:rPr lang="en-US" sz="1000" dirty="0">
                <a:solidFill>
                  <a:srgbClr val="5B6B6E"/>
                </a:solidFill>
                <a:latin typeface="Calibri" pitchFamily="34" charset="0"/>
                <a:ea typeface="Calibri" pitchFamily="34" charset="-122"/>
                <a:cs typeface="Calibri" pitchFamily="34" charset="-120"/>
              </a:rPr>
              <a:t>Learn</a:t>
            </a:r>
            <a:endParaRPr lang="en-US" sz="1000" dirty="0"/>
          </a:p>
        </p:txBody>
      </p:sp>
      <p:graphicFrame>
        <p:nvGraphicFramePr>
          <p:cNvPr id="16" name="Chart 0" descr=""/>
          <p:cNvGraphicFramePr/>
          <p:nvPr/>
        </p:nvGraphicFramePr>
        <p:xfrm>
          <a:off x="548640" y="1371600"/>
          <a:ext cx="5852160" cy="4480560"/>
        </p:xfrm>
        <a:graphic xmlns:a="http://schemas.openxmlformats.org/drawingml/2006/main">
          <a:graphicData uri="http://schemas.openxmlformats.org/drawingml/2006/chart">
            <c:chart xmlns:c="http://schemas.openxmlformats.org/drawingml/2006/chart" r:id="rId1"/>
          </a:graphicData>
        </a:graphic>
      </p:graphicFrame>
      <p:sp>
        <p:nvSpPr>
          <p:cNvPr id="17" name="Text 14"/>
          <p:cNvSpPr txBox="1"/>
          <p:nvPr/>
        </p:nvSpPr>
        <p:spPr>
          <a:xfrm>
            <a:off x="6766560" y="1417320"/>
            <a:ext cx="4846320" cy="548640"/>
          </a:xfrm>
          <a:prstGeom prst="rect">
            <a:avLst/>
          </a:prstGeom>
          <a:noFill/>
          <a:ln/>
        </p:spPr>
        <p:txBody>
          <a:bodyPr wrap="square" lIns="0" tIns="0" rIns="0" bIns="0" rtlCol="0" anchor="b"/>
          <a:lstStyle/>
          <a:p>
            <a:pPr algn="l" indent="0" marL="0">
              <a:buNone/>
            </a:pPr>
            <a:r>
              <a:rPr lang="en-US" sz="2800" b="1" dirty="0">
                <a:solidFill>
                  <a:srgbClr val="0F5257"/>
                </a:solidFill>
                <a:latin typeface="Calibri" pitchFamily="34" charset="0"/>
                <a:ea typeface="Calibri" pitchFamily="34" charset="-122"/>
                <a:cs typeface="Calibri" pitchFamily="34" charset="-120"/>
              </a:rPr>
              <a:t>97%</a:t>
            </a:r>
            <a:endParaRPr lang="en-US" sz="2800" dirty="0"/>
          </a:p>
        </p:txBody>
      </p:sp>
      <p:sp>
        <p:nvSpPr>
          <p:cNvPr id="18" name="Text 15"/>
          <p:cNvSpPr txBox="1"/>
          <p:nvPr/>
        </p:nvSpPr>
        <p:spPr>
          <a:xfrm>
            <a:off x="6766560" y="1984248"/>
            <a:ext cx="4846320" cy="640080"/>
          </a:xfrm>
          <a:prstGeom prst="rect">
            <a:avLst/>
          </a:prstGeom>
          <a:noFill/>
          <a:ln/>
        </p:spPr>
        <p:txBody>
          <a:bodyPr wrap="square" lIns="0" tIns="0" rIns="0" bIns="0" rtlCol="0" anchor="t"/>
          <a:lstStyle/>
          <a:p>
            <a:pPr algn="l" indent="0" marL="0">
              <a:buNone/>
            </a:pPr>
            <a:r>
              <a:rPr lang="en-US" sz="1400" dirty="0">
                <a:solidFill>
                  <a:srgbClr val="1B2A2E"/>
                </a:solidFill>
                <a:latin typeface="Calibri" pitchFamily="34" charset="0"/>
                <a:ea typeface="Calibri" pitchFamily="34" charset="-122"/>
                <a:cs typeface="Calibri" pitchFamily="34" charset="-120"/>
              </a:rPr>
              <a:t>precision of the re-advertisement rule (29 of 30 sampled; 44 / 44 outside P157054)</a:t>
            </a:r>
            <a:endParaRPr lang="en-US" sz="1400" dirty="0"/>
          </a:p>
        </p:txBody>
      </p:sp>
      <p:sp>
        <p:nvSpPr>
          <p:cNvPr id="19" name="Text 16"/>
          <p:cNvSpPr txBox="1"/>
          <p:nvPr/>
        </p:nvSpPr>
        <p:spPr>
          <a:xfrm>
            <a:off x="6766560" y="2743200"/>
            <a:ext cx="4846320" cy="548640"/>
          </a:xfrm>
          <a:prstGeom prst="rect">
            <a:avLst/>
          </a:prstGeom>
          <a:noFill/>
          <a:ln/>
        </p:spPr>
        <p:txBody>
          <a:bodyPr wrap="square" lIns="0" tIns="0" rIns="0" bIns="0" rtlCol="0" anchor="b"/>
          <a:lstStyle/>
          <a:p>
            <a:pPr algn="l" indent="0" marL="0">
              <a:buNone/>
            </a:pPr>
            <a:r>
              <a:rPr lang="en-US" sz="2800" b="1" dirty="0">
                <a:solidFill>
                  <a:srgbClr val="0F5257"/>
                </a:solidFill>
                <a:latin typeface="Calibri" pitchFamily="34" charset="0"/>
                <a:ea typeface="Calibri" pitchFamily="34" charset="-122"/>
                <a:cs typeface="Calibri" pitchFamily="34" charset="-120"/>
              </a:rPr>
              <a:t>0.032 vs 0.039</a:t>
            </a:r>
            <a:endParaRPr lang="en-US" sz="2800" dirty="0"/>
          </a:p>
        </p:txBody>
      </p:sp>
      <p:sp>
        <p:nvSpPr>
          <p:cNvPr id="20" name="Text 17"/>
          <p:cNvSpPr txBox="1"/>
          <p:nvPr/>
        </p:nvSpPr>
        <p:spPr>
          <a:xfrm>
            <a:off x="6766560" y="3310128"/>
            <a:ext cx="4846320" cy="640080"/>
          </a:xfrm>
          <a:prstGeom prst="rect">
            <a:avLst/>
          </a:prstGeom>
          <a:noFill/>
          <a:ln/>
        </p:spPr>
        <p:txBody>
          <a:bodyPr wrap="square" lIns="0" tIns="0" rIns="0" bIns="0" rtlCol="0" anchor="t"/>
          <a:lstStyle/>
          <a:p>
            <a:pPr algn="l" indent="0" marL="0">
              <a:buNone/>
            </a:pPr>
            <a:r>
              <a:rPr lang="en-US" sz="1400" dirty="0">
                <a:solidFill>
                  <a:srgbClr val="1B2A2E"/>
                </a:solidFill>
                <a:latin typeface="Calibri" pitchFamily="34" charset="0"/>
                <a:ea typeface="Calibri" pitchFamily="34" charset="-122"/>
                <a:cs typeface="Calibri" pitchFamily="34" charset="-120"/>
              </a:rPr>
              <a:t>Brier score: grouped rates beat one global rate on the latest period</a:t>
            </a:r>
            <a:endParaRPr lang="en-US" sz="1400" dirty="0"/>
          </a:p>
        </p:txBody>
      </p:sp>
      <p:sp>
        <p:nvSpPr>
          <p:cNvPr id="21" name="Text 18"/>
          <p:cNvSpPr txBox="1"/>
          <p:nvPr/>
        </p:nvSpPr>
        <p:spPr>
          <a:xfrm>
            <a:off x="6766560" y="4069080"/>
            <a:ext cx="4846320" cy="548640"/>
          </a:xfrm>
          <a:prstGeom prst="rect">
            <a:avLst/>
          </a:prstGeom>
          <a:noFill/>
          <a:ln/>
        </p:spPr>
        <p:txBody>
          <a:bodyPr wrap="square" lIns="0" tIns="0" rIns="0" bIns="0" rtlCol="0" anchor="b"/>
          <a:lstStyle/>
          <a:p>
            <a:pPr algn="l" indent="0" marL="0">
              <a:buNone/>
            </a:pPr>
            <a:r>
              <a:rPr lang="en-US" sz="2800" b="1" dirty="0">
                <a:solidFill>
                  <a:srgbClr val="A23B2C"/>
                </a:solidFill>
                <a:latin typeface="Calibri" pitchFamily="34" charset="0"/>
                <a:ea typeface="Calibri" pitchFamily="34" charset="-122"/>
                <a:cs typeface="Calibri" pitchFamily="34" charset="-120"/>
              </a:rPr>
              <a:t>AUC 0.46</a:t>
            </a:r>
            <a:endParaRPr lang="en-US" sz="2800" dirty="0"/>
          </a:p>
        </p:txBody>
      </p:sp>
      <p:sp>
        <p:nvSpPr>
          <p:cNvPr id="22" name="Text 19"/>
          <p:cNvSpPr txBox="1"/>
          <p:nvPr/>
        </p:nvSpPr>
        <p:spPr>
          <a:xfrm>
            <a:off x="6766560" y="4636008"/>
            <a:ext cx="4846320" cy="640080"/>
          </a:xfrm>
          <a:prstGeom prst="rect">
            <a:avLst/>
          </a:prstGeom>
          <a:noFill/>
          <a:ln/>
        </p:spPr>
        <p:txBody>
          <a:bodyPr wrap="square" lIns="0" tIns="0" rIns="0" bIns="0" rtlCol="0" anchor="t"/>
          <a:lstStyle/>
          <a:p>
            <a:pPr algn="l" indent="0" marL="0">
              <a:buNone/>
            </a:pPr>
            <a:r>
              <a:rPr lang="en-US" sz="1400" dirty="0">
                <a:solidFill>
                  <a:srgbClr val="1B2A2E"/>
                </a:solidFill>
                <a:latin typeface="Calibri" pitchFamily="34" charset="0"/>
                <a:ea typeface="Calibri" pitchFamily="34" charset="-122"/>
                <a:cs typeface="Calibri" pitchFamily="34" charset="-120"/>
              </a:rPr>
              <a:t>classifier not kept: rates with 90% intervals instead</a:t>
            </a:r>
            <a:endParaRPr lang="en-US" sz="1400" dirty="0"/>
          </a:p>
        </p:txBody>
      </p:sp>
      <p:sp>
        <p:nvSpPr>
          <p:cNvPr id="23" name="card"/>
          <p:cNvSpPr/>
          <p:nvPr/>
        </p:nvSpPr>
        <p:spPr>
          <a:xfrm>
            <a:off x="6766560" y="5349240"/>
            <a:ext cx="4846320" cy="777240"/>
          </a:xfrm>
          <a:prstGeom prst="roundRect">
            <a:avLst>
              <a:gd name="adj" fmla="val 9412"/>
            </a:avLst>
          </a:prstGeom>
          <a:solidFill>
            <a:srgbClr val="FDF1D8"/>
          </a:solidFill>
          <a:ln w="12700">
            <a:solidFill>
              <a:srgbClr val="FDF1D8"/>
            </a:solidFill>
            <a:prstDash val="solid"/>
          </a:ln>
        </p:spPr>
      </p:sp>
      <p:sp>
        <p:nvSpPr>
          <p:cNvPr id="24" name="Text 21"/>
          <p:cNvSpPr txBox="1"/>
          <p:nvPr/>
        </p:nvSpPr>
        <p:spPr>
          <a:xfrm>
            <a:off x="6949440" y="5458968"/>
            <a:ext cx="4480560" cy="557784"/>
          </a:xfrm>
          <a:prstGeom prst="rect">
            <a:avLst/>
          </a:prstGeom>
          <a:noFill/>
          <a:ln/>
        </p:spPr>
        <p:txBody>
          <a:bodyPr wrap="square" lIns="0" tIns="0" rIns="0" bIns="0" rtlCol="0" anchor="ctr"/>
          <a:lstStyle/>
          <a:p>
            <a:pPr indent="0" marL="0">
              <a:buNone/>
            </a:pPr>
            <a:r>
              <a:rPr lang="en-US" sz="1300" b="1" dirty="0">
                <a:solidFill>
                  <a:srgbClr val="8A5A00"/>
                </a:solidFill>
                <a:latin typeface="Calibri" pitchFamily="34" charset="0"/>
                <a:ea typeface="Calibri" pitchFamily="34" charset="-122"/>
                <a:cs typeface="Calibri" pitchFamily="34" charset="-120"/>
              </a:rPr>
              <a:t>Stated limitation  </a:t>
            </a:r>
            <a:pPr indent="0" marL="0">
              <a:buNone/>
            </a:pPr>
            <a:r>
              <a:rPr lang="en-US" sz="1300" dirty="0">
                <a:solidFill>
                  <a:srgbClr val="1B2A2E"/>
                </a:solidFill>
                <a:latin typeface="Calibri" pitchFamily="34" charset="0"/>
                <a:ea typeface="Calibri" pitchFamily="34" charset="-122"/>
                <a:cs typeface="Calibri" pitchFamily="34" charset="-120"/>
              </a:rPr>
              <a:t>one project holds 79% of positives; recent rates are a lower bound (re-advertisement takes a median 134 days).</a:t>
            </a:r>
            <a:endParaRPr lang="en-US" sz="13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6E"/>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7680960" cy="822960"/>
          </a:xfrm>
          <a:prstGeom prst="rect">
            <a:avLst/>
          </a:prstGeom>
          <a:noFill/>
          <a:ln/>
        </p:spPr>
        <p:txBody>
          <a:bodyPr wrap="square" lIns="0" tIns="0" rIns="0" bIns="0" rtlCol="0" anchor="ctr"/>
          <a:lstStyle/>
          <a:p>
            <a:pPr algn="l" indent="0" marL="0">
              <a:buNone/>
            </a:pPr>
            <a:r>
              <a:rPr lang="en-US" sz="3000" b="1" dirty="0">
                <a:solidFill>
                  <a:srgbClr val="0F5257"/>
                </a:solidFill>
                <a:latin typeface="Cambria" pitchFamily="34" charset="0"/>
                <a:ea typeface="Cambria" pitchFamily="34" charset="-122"/>
                <a:cs typeface="Cambria" pitchFamily="34" charset="-120"/>
              </a:rPr>
              <a:t>Plan: a cited brief, built step by step</a:t>
            </a:r>
            <a:endParaRPr lang="en-US" sz="3000" dirty="0"/>
          </a:p>
        </p:txBody>
      </p:sp>
      <p:sp>
        <p:nvSpPr>
          <p:cNvPr id="3" name="journey line"/>
          <p:cNvSpPr/>
          <p:nvPr/>
        </p:nvSpPr>
        <p:spPr>
          <a:xfrm>
            <a:off x="8613648" y="612648"/>
            <a:ext cx="2743200" cy="0"/>
          </a:xfrm>
          <a:prstGeom prst="line">
            <a:avLst/>
          </a:prstGeom>
          <a:noFill/>
          <a:ln w="19050">
            <a:solidFill>
              <a:srgbClr val="9DBCB8"/>
            </a:solidFill>
            <a:prstDash val="solid"/>
          </a:ln>
        </p:spPr>
      </p:sp>
      <p:sp>
        <p:nvSpPr>
          <p:cNvPr id="4" name="journey Plan"/>
          <p:cNvSpPr/>
          <p:nvPr/>
        </p:nvSpPr>
        <p:spPr>
          <a:xfrm>
            <a:off x="8458200" y="457200"/>
            <a:ext cx="310896" cy="310896"/>
          </a:xfrm>
          <a:prstGeom prst="ellipse">
            <a:avLst/>
          </a:prstGeom>
          <a:solidFill>
            <a:srgbClr val="F3B23C"/>
          </a:solidFill>
          <a:ln w="19050">
            <a:solidFill>
              <a:srgbClr val="F3B23C"/>
            </a:solidFill>
            <a:prstDash val="solid"/>
          </a:ln>
        </p:spPr>
      </p:sp>
      <p:sp>
        <p:nvSpPr>
          <p:cNvPr id="5" name="Text 3"/>
          <p:cNvSpPr txBox="1"/>
          <p:nvPr/>
        </p:nvSpPr>
        <p:spPr>
          <a:xfrm>
            <a:off x="8458200" y="457200"/>
            <a:ext cx="310896" cy="310896"/>
          </a:xfrm>
          <a:prstGeom prst="rect">
            <a:avLst/>
          </a:prstGeom>
          <a:noFill/>
          <a:ln/>
        </p:spPr>
        <p:txBody>
          <a:bodyPr wrap="square" lIns="0" tIns="0" rIns="0" bIns="0" rtlCol="0" anchor="ctr"/>
          <a:lstStyle/>
          <a:p>
            <a:pPr algn="ctr" indent="0" marL="0">
              <a:buNone/>
            </a:pPr>
            <a:r>
              <a:rPr lang="en-US" sz="1100" b="1" dirty="0">
                <a:solidFill>
                  <a:srgbClr val="1B2A2E"/>
                </a:solidFill>
                <a:latin typeface="Calibri" pitchFamily="34" charset="0"/>
                <a:ea typeface="Calibri" pitchFamily="34" charset="-122"/>
                <a:cs typeface="Calibri" pitchFamily="34" charset="-120"/>
              </a:rPr>
              <a:t>1</a:t>
            </a:r>
            <a:endParaRPr lang="en-US" sz="1100" dirty="0"/>
          </a:p>
        </p:txBody>
      </p:sp>
      <p:sp>
        <p:nvSpPr>
          <p:cNvPr id="6" name="Text 4"/>
          <p:cNvSpPr txBox="1"/>
          <p:nvPr/>
        </p:nvSpPr>
        <p:spPr>
          <a:xfrm>
            <a:off x="8156448" y="804672"/>
            <a:ext cx="914400" cy="256032"/>
          </a:xfrm>
          <a:prstGeom prst="rect">
            <a:avLst/>
          </a:prstGeom>
          <a:noFill/>
          <a:ln/>
        </p:spPr>
        <p:txBody>
          <a:bodyPr wrap="square" lIns="0" tIns="0" rIns="0" bIns="0" rtlCol="0" anchor="ctr"/>
          <a:lstStyle/>
          <a:p>
            <a:pPr algn="ctr" indent="0" marL="0">
              <a:buNone/>
            </a:pPr>
            <a:r>
              <a:rPr lang="en-US" sz="1000" b="1" dirty="0">
                <a:solidFill>
                  <a:srgbClr val="1B2A2E"/>
                </a:solidFill>
                <a:latin typeface="Calibri" pitchFamily="34" charset="0"/>
                <a:ea typeface="Calibri" pitchFamily="34" charset="-122"/>
                <a:cs typeface="Calibri" pitchFamily="34" charset="-120"/>
              </a:rPr>
              <a:t>Plan</a:t>
            </a:r>
            <a:endParaRPr lang="en-US" sz="1000" dirty="0"/>
          </a:p>
        </p:txBody>
      </p:sp>
      <p:sp>
        <p:nvSpPr>
          <p:cNvPr id="7" name="journey Tender design"/>
          <p:cNvSpPr/>
          <p:nvPr/>
        </p:nvSpPr>
        <p:spPr>
          <a:xfrm>
            <a:off x="9372600" y="457200"/>
            <a:ext cx="310896" cy="310896"/>
          </a:xfrm>
          <a:prstGeom prst="ellipse">
            <a:avLst/>
          </a:prstGeom>
          <a:solidFill>
            <a:srgbClr val="FFFFFF"/>
          </a:solidFill>
          <a:ln w="19050">
            <a:solidFill>
              <a:srgbClr val="9DBCB8"/>
            </a:solidFill>
            <a:prstDash val="solid"/>
          </a:ln>
        </p:spPr>
      </p:sp>
      <p:sp>
        <p:nvSpPr>
          <p:cNvPr id="8" name="Text 6"/>
          <p:cNvSpPr txBox="1"/>
          <p:nvPr/>
        </p:nvSpPr>
        <p:spPr>
          <a:xfrm>
            <a:off x="9372600" y="457200"/>
            <a:ext cx="310896" cy="310896"/>
          </a:xfrm>
          <a:prstGeom prst="rect">
            <a:avLst/>
          </a:prstGeom>
          <a:noFill/>
          <a:ln/>
        </p:spPr>
        <p:txBody>
          <a:bodyPr wrap="square" lIns="0" tIns="0" rIns="0" bIns="0" rtlCol="0" anchor="ctr"/>
          <a:lstStyle/>
          <a:p>
            <a:pPr algn="ctr" indent="0" marL="0">
              <a:buNone/>
            </a:pPr>
            <a:r>
              <a:rPr lang="en-US" sz="1100" b="1" dirty="0">
                <a:solidFill>
                  <a:srgbClr val="5B6B6E"/>
                </a:solidFill>
                <a:latin typeface="Calibri" pitchFamily="34" charset="0"/>
                <a:ea typeface="Calibri" pitchFamily="34" charset="-122"/>
                <a:cs typeface="Calibri" pitchFamily="34" charset="-120"/>
              </a:rPr>
              <a:t>2</a:t>
            </a:r>
            <a:endParaRPr lang="en-US" sz="1100" dirty="0"/>
          </a:p>
        </p:txBody>
      </p:sp>
      <p:sp>
        <p:nvSpPr>
          <p:cNvPr id="9" name="Text 7"/>
          <p:cNvSpPr txBox="1"/>
          <p:nvPr/>
        </p:nvSpPr>
        <p:spPr>
          <a:xfrm>
            <a:off x="9070848" y="804672"/>
            <a:ext cx="914400" cy="256032"/>
          </a:xfrm>
          <a:prstGeom prst="rect">
            <a:avLst/>
          </a:prstGeom>
          <a:noFill/>
          <a:ln/>
        </p:spPr>
        <p:txBody>
          <a:bodyPr wrap="square" lIns="0" tIns="0" rIns="0" bIns="0" rtlCol="0" anchor="ctr"/>
          <a:lstStyle/>
          <a:p>
            <a:pPr algn="ctr" indent="0" marL="0">
              <a:buNone/>
            </a:pPr>
            <a:r>
              <a:rPr lang="en-US" sz="1000" dirty="0">
                <a:solidFill>
                  <a:srgbClr val="5B6B6E"/>
                </a:solidFill>
                <a:latin typeface="Calibri" pitchFamily="34" charset="0"/>
                <a:ea typeface="Calibri" pitchFamily="34" charset="-122"/>
                <a:cs typeface="Calibri" pitchFamily="34" charset="-120"/>
              </a:rPr>
              <a:t>Tender design</a:t>
            </a:r>
            <a:endParaRPr lang="en-US" sz="1000" dirty="0"/>
          </a:p>
        </p:txBody>
      </p:sp>
      <p:sp>
        <p:nvSpPr>
          <p:cNvPr id="10" name="journey Monitor"/>
          <p:cNvSpPr/>
          <p:nvPr/>
        </p:nvSpPr>
        <p:spPr>
          <a:xfrm>
            <a:off x="10287000" y="457200"/>
            <a:ext cx="310896" cy="310896"/>
          </a:xfrm>
          <a:prstGeom prst="ellipse">
            <a:avLst/>
          </a:prstGeom>
          <a:solidFill>
            <a:srgbClr val="FFFFFF"/>
          </a:solidFill>
          <a:ln w="19050">
            <a:solidFill>
              <a:srgbClr val="9DBCB8"/>
            </a:solidFill>
            <a:prstDash val="solid"/>
          </a:ln>
        </p:spPr>
      </p:sp>
      <p:sp>
        <p:nvSpPr>
          <p:cNvPr id="11" name="Text 9"/>
          <p:cNvSpPr txBox="1"/>
          <p:nvPr/>
        </p:nvSpPr>
        <p:spPr>
          <a:xfrm>
            <a:off x="10287000" y="457200"/>
            <a:ext cx="310896" cy="310896"/>
          </a:xfrm>
          <a:prstGeom prst="rect">
            <a:avLst/>
          </a:prstGeom>
          <a:noFill/>
          <a:ln/>
        </p:spPr>
        <p:txBody>
          <a:bodyPr wrap="square" lIns="0" tIns="0" rIns="0" bIns="0" rtlCol="0" anchor="ctr"/>
          <a:lstStyle/>
          <a:p>
            <a:pPr algn="ctr" indent="0" marL="0">
              <a:buNone/>
            </a:pPr>
            <a:r>
              <a:rPr lang="en-US" sz="1100" b="1" dirty="0">
                <a:solidFill>
                  <a:srgbClr val="5B6B6E"/>
                </a:solidFill>
                <a:latin typeface="Calibri" pitchFamily="34" charset="0"/>
                <a:ea typeface="Calibri" pitchFamily="34" charset="-122"/>
                <a:cs typeface="Calibri" pitchFamily="34" charset="-120"/>
              </a:rPr>
              <a:t>3</a:t>
            </a:r>
            <a:endParaRPr lang="en-US" sz="1100" dirty="0"/>
          </a:p>
        </p:txBody>
      </p:sp>
      <p:sp>
        <p:nvSpPr>
          <p:cNvPr id="12" name="Text 10"/>
          <p:cNvSpPr txBox="1"/>
          <p:nvPr/>
        </p:nvSpPr>
        <p:spPr>
          <a:xfrm>
            <a:off x="9985248" y="804672"/>
            <a:ext cx="914400" cy="256032"/>
          </a:xfrm>
          <a:prstGeom prst="rect">
            <a:avLst/>
          </a:prstGeom>
          <a:noFill/>
          <a:ln/>
        </p:spPr>
        <p:txBody>
          <a:bodyPr wrap="square" lIns="0" tIns="0" rIns="0" bIns="0" rtlCol="0" anchor="ctr"/>
          <a:lstStyle/>
          <a:p>
            <a:pPr algn="ctr" indent="0" marL="0">
              <a:buNone/>
            </a:pPr>
            <a:r>
              <a:rPr lang="en-US" sz="1000" dirty="0">
                <a:solidFill>
                  <a:srgbClr val="5B6B6E"/>
                </a:solidFill>
                <a:latin typeface="Calibri" pitchFamily="34" charset="0"/>
                <a:ea typeface="Calibri" pitchFamily="34" charset="-122"/>
                <a:cs typeface="Calibri" pitchFamily="34" charset="-120"/>
              </a:rPr>
              <a:t>Monitor</a:t>
            </a:r>
            <a:endParaRPr lang="en-US" sz="1000" dirty="0"/>
          </a:p>
        </p:txBody>
      </p:sp>
      <p:sp>
        <p:nvSpPr>
          <p:cNvPr id="13" name="journey Learn"/>
          <p:cNvSpPr/>
          <p:nvPr/>
        </p:nvSpPr>
        <p:spPr>
          <a:xfrm>
            <a:off x="11201400" y="457200"/>
            <a:ext cx="310896" cy="310896"/>
          </a:xfrm>
          <a:prstGeom prst="ellipse">
            <a:avLst/>
          </a:prstGeom>
          <a:solidFill>
            <a:srgbClr val="FFFFFF"/>
          </a:solidFill>
          <a:ln w="19050">
            <a:solidFill>
              <a:srgbClr val="9DBCB8"/>
            </a:solidFill>
            <a:prstDash val="solid"/>
          </a:ln>
        </p:spPr>
      </p:sp>
      <p:sp>
        <p:nvSpPr>
          <p:cNvPr id="14" name="Text 12"/>
          <p:cNvSpPr txBox="1"/>
          <p:nvPr/>
        </p:nvSpPr>
        <p:spPr>
          <a:xfrm>
            <a:off x="11201400" y="457200"/>
            <a:ext cx="310896" cy="310896"/>
          </a:xfrm>
          <a:prstGeom prst="rect">
            <a:avLst/>
          </a:prstGeom>
          <a:noFill/>
          <a:ln/>
        </p:spPr>
        <p:txBody>
          <a:bodyPr wrap="square" lIns="0" tIns="0" rIns="0" bIns="0" rtlCol="0" anchor="ctr"/>
          <a:lstStyle/>
          <a:p>
            <a:pPr algn="ctr" indent="0" marL="0">
              <a:buNone/>
            </a:pPr>
            <a:r>
              <a:rPr lang="en-US" sz="1100" b="1" dirty="0">
                <a:solidFill>
                  <a:srgbClr val="5B6B6E"/>
                </a:solidFill>
                <a:latin typeface="Calibri" pitchFamily="34" charset="0"/>
                <a:ea typeface="Calibri" pitchFamily="34" charset="-122"/>
                <a:cs typeface="Calibri" pitchFamily="34" charset="-120"/>
              </a:rPr>
              <a:t>4</a:t>
            </a:r>
            <a:endParaRPr lang="en-US" sz="1100" dirty="0"/>
          </a:p>
        </p:txBody>
      </p:sp>
      <p:sp>
        <p:nvSpPr>
          <p:cNvPr id="15" name="Text 13"/>
          <p:cNvSpPr txBox="1"/>
          <p:nvPr/>
        </p:nvSpPr>
        <p:spPr>
          <a:xfrm>
            <a:off x="10899648" y="804672"/>
            <a:ext cx="914400" cy="256032"/>
          </a:xfrm>
          <a:prstGeom prst="rect">
            <a:avLst/>
          </a:prstGeom>
          <a:noFill/>
          <a:ln/>
        </p:spPr>
        <p:txBody>
          <a:bodyPr wrap="square" lIns="0" tIns="0" rIns="0" bIns="0" rtlCol="0" anchor="ctr"/>
          <a:lstStyle/>
          <a:p>
            <a:pPr algn="ctr" indent="0" marL="0">
              <a:buNone/>
            </a:pPr>
            <a:r>
              <a:rPr lang="en-US" sz="1000" dirty="0">
                <a:solidFill>
                  <a:srgbClr val="5B6B6E"/>
                </a:solidFill>
                <a:latin typeface="Calibri" pitchFamily="34" charset="0"/>
                <a:ea typeface="Calibri" pitchFamily="34" charset="-122"/>
                <a:cs typeface="Calibri" pitchFamily="34" charset="-120"/>
              </a:rPr>
              <a:t>Learn</a:t>
            </a:r>
            <a:endParaRPr lang="en-US" sz="1000" dirty="0"/>
          </a:p>
        </p:txBody>
      </p:sp>
      <p:pic>
        <p:nvPicPr>
          <p:cNvPr id="16" name="Image 0" descr="RAG request flow: facts from SQL and models, evidence from graph-scoped hybrid search with rerank and gate, answer checked by mechanical checks and one verifier call">    </p:cNvPr>
          <p:cNvPicPr>
            <a:picLocks noChangeAspect="1"/>
          </p:cNvPicPr>
          <p:nvPr/>
        </p:nvPicPr>
        <p:blipFill>
          <a:blip r:embed="rId1"/>
          <a:stretch>
            <a:fillRect/>
          </a:stretch>
        </p:blipFill>
        <p:spPr>
          <a:xfrm>
            <a:off x="685800" y="1325880"/>
            <a:ext cx="10789920" cy="4965192"/>
          </a:xfrm>
          <a:prstGeom prst="rect">
            <a:avLst/>
          </a:prstGeom>
        </p:spPr>
      </p:pic>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6E"/>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7680960" cy="822960"/>
          </a:xfrm>
          <a:prstGeom prst="rect">
            <a:avLst/>
          </a:prstGeom>
          <a:noFill/>
          <a:ln/>
        </p:spPr>
        <p:txBody>
          <a:bodyPr wrap="square" lIns="0" tIns="0" rIns="0" bIns="0" rtlCol="0" anchor="ctr"/>
          <a:lstStyle/>
          <a:p>
            <a:pPr algn="l" indent="0" marL="0">
              <a:buNone/>
            </a:pPr>
            <a:r>
              <a:rPr lang="en-US" sz="3000" b="1" dirty="0">
                <a:solidFill>
                  <a:srgbClr val="0F5257"/>
                </a:solidFill>
                <a:latin typeface="Cambria" pitchFamily="34" charset="0"/>
                <a:ea typeface="Cambria" pitchFamily="34" charset="-122"/>
                <a:cs typeface="Cambria" pitchFamily="34" charset="-120"/>
              </a:rPr>
              <a:t>Tender design: learn from past notices</a:t>
            </a:r>
            <a:endParaRPr lang="en-US" sz="3000" dirty="0"/>
          </a:p>
        </p:txBody>
      </p:sp>
      <p:sp>
        <p:nvSpPr>
          <p:cNvPr id="3" name="journey line"/>
          <p:cNvSpPr/>
          <p:nvPr/>
        </p:nvSpPr>
        <p:spPr>
          <a:xfrm>
            <a:off x="8613648" y="612648"/>
            <a:ext cx="2743200" cy="0"/>
          </a:xfrm>
          <a:prstGeom prst="line">
            <a:avLst/>
          </a:prstGeom>
          <a:noFill/>
          <a:ln w="19050">
            <a:solidFill>
              <a:srgbClr val="9DBCB8"/>
            </a:solidFill>
            <a:prstDash val="solid"/>
          </a:ln>
        </p:spPr>
      </p:sp>
      <p:sp>
        <p:nvSpPr>
          <p:cNvPr id="4" name="journey Plan"/>
          <p:cNvSpPr/>
          <p:nvPr/>
        </p:nvSpPr>
        <p:spPr>
          <a:xfrm>
            <a:off x="8458200" y="457200"/>
            <a:ext cx="310896" cy="310896"/>
          </a:xfrm>
          <a:prstGeom prst="ellipse">
            <a:avLst/>
          </a:prstGeom>
          <a:solidFill>
            <a:srgbClr val="FFFFFF"/>
          </a:solidFill>
          <a:ln w="19050">
            <a:solidFill>
              <a:srgbClr val="9DBCB8"/>
            </a:solidFill>
            <a:prstDash val="solid"/>
          </a:ln>
        </p:spPr>
      </p:sp>
      <p:sp>
        <p:nvSpPr>
          <p:cNvPr id="5" name="Text 3"/>
          <p:cNvSpPr txBox="1"/>
          <p:nvPr/>
        </p:nvSpPr>
        <p:spPr>
          <a:xfrm>
            <a:off x="8458200" y="457200"/>
            <a:ext cx="310896" cy="310896"/>
          </a:xfrm>
          <a:prstGeom prst="rect">
            <a:avLst/>
          </a:prstGeom>
          <a:noFill/>
          <a:ln/>
        </p:spPr>
        <p:txBody>
          <a:bodyPr wrap="square" lIns="0" tIns="0" rIns="0" bIns="0" rtlCol="0" anchor="ctr"/>
          <a:lstStyle/>
          <a:p>
            <a:pPr algn="ctr" indent="0" marL="0">
              <a:buNone/>
            </a:pPr>
            <a:r>
              <a:rPr lang="en-US" sz="1100" b="1" dirty="0">
                <a:solidFill>
                  <a:srgbClr val="5B6B6E"/>
                </a:solidFill>
                <a:latin typeface="Calibri" pitchFamily="34" charset="0"/>
                <a:ea typeface="Calibri" pitchFamily="34" charset="-122"/>
                <a:cs typeface="Calibri" pitchFamily="34" charset="-120"/>
              </a:rPr>
              <a:t>1</a:t>
            </a:r>
            <a:endParaRPr lang="en-US" sz="1100" dirty="0"/>
          </a:p>
        </p:txBody>
      </p:sp>
      <p:sp>
        <p:nvSpPr>
          <p:cNvPr id="6" name="Text 4"/>
          <p:cNvSpPr txBox="1"/>
          <p:nvPr/>
        </p:nvSpPr>
        <p:spPr>
          <a:xfrm>
            <a:off x="8156448" y="804672"/>
            <a:ext cx="914400" cy="256032"/>
          </a:xfrm>
          <a:prstGeom prst="rect">
            <a:avLst/>
          </a:prstGeom>
          <a:noFill/>
          <a:ln/>
        </p:spPr>
        <p:txBody>
          <a:bodyPr wrap="square" lIns="0" tIns="0" rIns="0" bIns="0" rtlCol="0" anchor="ctr"/>
          <a:lstStyle/>
          <a:p>
            <a:pPr algn="ctr" indent="0" marL="0">
              <a:buNone/>
            </a:pPr>
            <a:r>
              <a:rPr lang="en-US" sz="1000" dirty="0">
                <a:solidFill>
                  <a:srgbClr val="5B6B6E"/>
                </a:solidFill>
                <a:latin typeface="Calibri" pitchFamily="34" charset="0"/>
                <a:ea typeface="Calibri" pitchFamily="34" charset="-122"/>
                <a:cs typeface="Calibri" pitchFamily="34" charset="-120"/>
              </a:rPr>
              <a:t>Plan</a:t>
            </a:r>
            <a:endParaRPr lang="en-US" sz="1000" dirty="0"/>
          </a:p>
        </p:txBody>
      </p:sp>
      <p:sp>
        <p:nvSpPr>
          <p:cNvPr id="7" name="journey Tender design"/>
          <p:cNvSpPr/>
          <p:nvPr/>
        </p:nvSpPr>
        <p:spPr>
          <a:xfrm>
            <a:off x="9372600" y="457200"/>
            <a:ext cx="310896" cy="310896"/>
          </a:xfrm>
          <a:prstGeom prst="ellipse">
            <a:avLst/>
          </a:prstGeom>
          <a:solidFill>
            <a:srgbClr val="F3B23C"/>
          </a:solidFill>
          <a:ln w="19050">
            <a:solidFill>
              <a:srgbClr val="F3B23C"/>
            </a:solidFill>
            <a:prstDash val="solid"/>
          </a:ln>
        </p:spPr>
      </p:sp>
      <p:sp>
        <p:nvSpPr>
          <p:cNvPr id="8" name="Text 6"/>
          <p:cNvSpPr txBox="1"/>
          <p:nvPr/>
        </p:nvSpPr>
        <p:spPr>
          <a:xfrm>
            <a:off x="9372600" y="457200"/>
            <a:ext cx="310896" cy="310896"/>
          </a:xfrm>
          <a:prstGeom prst="rect">
            <a:avLst/>
          </a:prstGeom>
          <a:noFill/>
          <a:ln/>
        </p:spPr>
        <p:txBody>
          <a:bodyPr wrap="square" lIns="0" tIns="0" rIns="0" bIns="0" rtlCol="0" anchor="ctr"/>
          <a:lstStyle/>
          <a:p>
            <a:pPr algn="ctr" indent="0" marL="0">
              <a:buNone/>
            </a:pPr>
            <a:r>
              <a:rPr lang="en-US" sz="1100" b="1" dirty="0">
                <a:solidFill>
                  <a:srgbClr val="1B2A2E"/>
                </a:solidFill>
                <a:latin typeface="Calibri" pitchFamily="34" charset="0"/>
                <a:ea typeface="Calibri" pitchFamily="34" charset="-122"/>
                <a:cs typeface="Calibri" pitchFamily="34" charset="-120"/>
              </a:rPr>
              <a:t>2</a:t>
            </a:r>
            <a:endParaRPr lang="en-US" sz="1100" dirty="0"/>
          </a:p>
        </p:txBody>
      </p:sp>
      <p:sp>
        <p:nvSpPr>
          <p:cNvPr id="9" name="Text 7"/>
          <p:cNvSpPr txBox="1"/>
          <p:nvPr/>
        </p:nvSpPr>
        <p:spPr>
          <a:xfrm>
            <a:off x="9070848" y="804672"/>
            <a:ext cx="914400" cy="256032"/>
          </a:xfrm>
          <a:prstGeom prst="rect">
            <a:avLst/>
          </a:prstGeom>
          <a:noFill/>
          <a:ln/>
        </p:spPr>
        <p:txBody>
          <a:bodyPr wrap="square" lIns="0" tIns="0" rIns="0" bIns="0" rtlCol="0" anchor="ctr"/>
          <a:lstStyle/>
          <a:p>
            <a:pPr algn="ctr" indent="0" marL="0">
              <a:buNone/>
            </a:pPr>
            <a:r>
              <a:rPr lang="en-US" sz="1000" b="1" dirty="0">
                <a:solidFill>
                  <a:srgbClr val="1B2A2E"/>
                </a:solidFill>
                <a:latin typeface="Calibri" pitchFamily="34" charset="0"/>
                <a:ea typeface="Calibri" pitchFamily="34" charset="-122"/>
                <a:cs typeface="Calibri" pitchFamily="34" charset="-120"/>
              </a:rPr>
              <a:t>Tender design</a:t>
            </a:r>
            <a:endParaRPr lang="en-US" sz="1000" dirty="0"/>
          </a:p>
        </p:txBody>
      </p:sp>
      <p:sp>
        <p:nvSpPr>
          <p:cNvPr id="10" name="journey Monitor"/>
          <p:cNvSpPr/>
          <p:nvPr/>
        </p:nvSpPr>
        <p:spPr>
          <a:xfrm>
            <a:off x="10287000" y="457200"/>
            <a:ext cx="310896" cy="310896"/>
          </a:xfrm>
          <a:prstGeom prst="ellipse">
            <a:avLst/>
          </a:prstGeom>
          <a:solidFill>
            <a:srgbClr val="FFFFFF"/>
          </a:solidFill>
          <a:ln w="19050">
            <a:solidFill>
              <a:srgbClr val="9DBCB8"/>
            </a:solidFill>
            <a:prstDash val="solid"/>
          </a:ln>
        </p:spPr>
      </p:sp>
      <p:sp>
        <p:nvSpPr>
          <p:cNvPr id="11" name="Text 9"/>
          <p:cNvSpPr txBox="1"/>
          <p:nvPr/>
        </p:nvSpPr>
        <p:spPr>
          <a:xfrm>
            <a:off x="10287000" y="457200"/>
            <a:ext cx="310896" cy="310896"/>
          </a:xfrm>
          <a:prstGeom prst="rect">
            <a:avLst/>
          </a:prstGeom>
          <a:noFill/>
          <a:ln/>
        </p:spPr>
        <p:txBody>
          <a:bodyPr wrap="square" lIns="0" tIns="0" rIns="0" bIns="0" rtlCol="0" anchor="ctr"/>
          <a:lstStyle/>
          <a:p>
            <a:pPr algn="ctr" indent="0" marL="0">
              <a:buNone/>
            </a:pPr>
            <a:r>
              <a:rPr lang="en-US" sz="1100" b="1" dirty="0">
                <a:solidFill>
                  <a:srgbClr val="5B6B6E"/>
                </a:solidFill>
                <a:latin typeface="Calibri" pitchFamily="34" charset="0"/>
                <a:ea typeface="Calibri" pitchFamily="34" charset="-122"/>
                <a:cs typeface="Calibri" pitchFamily="34" charset="-120"/>
              </a:rPr>
              <a:t>3</a:t>
            </a:r>
            <a:endParaRPr lang="en-US" sz="1100" dirty="0"/>
          </a:p>
        </p:txBody>
      </p:sp>
      <p:sp>
        <p:nvSpPr>
          <p:cNvPr id="12" name="Text 10"/>
          <p:cNvSpPr txBox="1"/>
          <p:nvPr/>
        </p:nvSpPr>
        <p:spPr>
          <a:xfrm>
            <a:off x="9985248" y="804672"/>
            <a:ext cx="914400" cy="256032"/>
          </a:xfrm>
          <a:prstGeom prst="rect">
            <a:avLst/>
          </a:prstGeom>
          <a:noFill/>
          <a:ln/>
        </p:spPr>
        <p:txBody>
          <a:bodyPr wrap="square" lIns="0" tIns="0" rIns="0" bIns="0" rtlCol="0" anchor="ctr"/>
          <a:lstStyle/>
          <a:p>
            <a:pPr algn="ctr" indent="0" marL="0">
              <a:buNone/>
            </a:pPr>
            <a:r>
              <a:rPr lang="en-US" sz="1000" dirty="0">
                <a:solidFill>
                  <a:srgbClr val="5B6B6E"/>
                </a:solidFill>
                <a:latin typeface="Calibri" pitchFamily="34" charset="0"/>
                <a:ea typeface="Calibri" pitchFamily="34" charset="-122"/>
                <a:cs typeface="Calibri" pitchFamily="34" charset="-120"/>
              </a:rPr>
              <a:t>Monitor</a:t>
            </a:r>
            <a:endParaRPr lang="en-US" sz="1000" dirty="0"/>
          </a:p>
        </p:txBody>
      </p:sp>
      <p:sp>
        <p:nvSpPr>
          <p:cNvPr id="13" name="journey Learn"/>
          <p:cNvSpPr/>
          <p:nvPr/>
        </p:nvSpPr>
        <p:spPr>
          <a:xfrm>
            <a:off x="11201400" y="457200"/>
            <a:ext cx="310896" cy="310896"/>
          </a:xfrm>
          <a:prstGeom prst="ellipse">
            <a:avLst/>
          </a:prstGeom>
          <a:solidFill>
            <a:srgbClr val="FFFFFF"/>
          </a:solidFill>
          <a:ln w="19050">
            <a:solidFill>
              <a:srgbClr val="9DBCB8"/>
            </a:solidFill>
            <a:prstDash val="solid"/>
          </a:ln>
        </p:spPr>
      </p:sp>
      <p:sp>
        <p:nvSpPr>
          <p:cNvPr id="14" name="Text 12"/>
          <p:cNvSpPr txBox="1"/>
          <p:nvPr/>
        </p:nvSpPr>
        <p:spPr>
          <a:xfrm>
            <a:off x="11201400" y="457200"/>
            <a:ext cx="310896" cy="310896"/>
          </a:xfrm>
          <a:prstGeom prst="rect">
            <a:avLst/>
          </a:prstGeom>
          <a:noFill/>
          <a:ln/>
        </p:spPr>
        <p:txBody>
          <a:bodyPr wrap="square" lIns="0" tIns="0" rIns="0" bIns="0" rtlCol="0" anchor="ctr"/>
          <a:lstStyle/>
          <a:p>
            <a:pPr algn="ctr" indent="0" marL="0">
              <a:buNone/>
            </a:pPr>
            <a:r>
              <a:rPr lang="en-US" sz="1100" b="1" dirty="0">
                <a:solidFill>
                  <a:srgbClr val="5B6B6E"/>
                </a:solidFill>
                <a:latin typeface="Calibri" pitchFamily="34" charset="0"/>
                <a:ea typeface="Calibri" pitchFamily="34" charset="-122"/>
                <a:cs typeface="Calibri" pitchFamily="34" charset="-120"/>
              </a:rPr>
              <a:t>4</a:t>
            </a:r>
            <a:endParaRPr lang="en-US" sz="1100" dirty="0"/>
          </a:p>
        </p:txBody>
      </p:sp>
      <p:sp>
        <p:nvSpPr>
          <p:cNvPr id="15" name="Text 13"/>
          <p:cNvSpPr txBox="1"/>
          <p:nvPr/>
        </p:nvSpPr>
        <p:spPr>
          <a:xfrm>
            <a:off x="10899648" y="804672"/>
            <a:ext cx="914400" cy="256032"/>
          </a:xfrm>
          <a:prstGeom prst="rect">
            <a:avLst/>
          </a:prstGeom>
          <a:noFill/>
          <a:ln/>
        </p:spPr>
        <p:txBody>
          <a:bodyPr wrap="square" lIns="0" tIns="0" rIns="0" bIns="0" rtlCol="0" anchor="ctr"/>
          <a:lstStyle/>
          <a:p>
            <a:pPr algn="ctr" indent="0" marL="0">
              <a:buNone/>
            </a:pPr>
            <a:r>
              <a:rPr lang="en-US" sz="1000" dirty="0">
                <a:solidFill>
                  <a:srgbClr val="5B6B6E"/>
                </a:solidFill>
                <a:latin typeface="Calibri" pitchFamily="34" charset="0"/>
                <a:ea typeface="Calibri" pitchFamily="34" charset="-122"/>
                <a:cs typeface="Calibri" pitchFamily="34" charset="-120"/>
              </a:rPr>
              <a:t>Learn</a:t>
            </a:r>
            <a:endParaRPr lang="en-US" sz="1000" dirty="0"/>
          </a:p>
        </p:txBody>
      </p:sp>
      <p:sp>
        <p:nvSpPr>
          <p:cNvPr id="16" name="Text 14"/>
          <p:cNvSpPr txBox="1"/>
          <p:nvPr/>
        </p:nvSpPr>
        <p:spPr>
          <a:xfrm>
            <a:off x="548640" y="1463040"/>
            <a:ext cx="5120640" cy="3017520"/>
          </a:xfrm>
          <a:prstGeom prst="rect">
            <a:avLst/>
          </a:prstGeom>
          <a:noFill/>
          <a:ln/>
        </p:spPr>
        <p:txBody>
          <a:bodyPr wrap="square" lIns="0" tIns="0" rIns="0" bIns="0" rtlCol="0" anchor="t"/>
          <a:lstStyle/>
          <a:p>
            <a:pPr marL="203200" indent="-203200">
              <a:spcAft>
                <a:spcPts val="800"/>
              </a:spcAft>
              <a:buSzPct val="100000"/>
              <a:buChar char="•"/>
            </a:pPr>
            <a:r>
              <a:rPr lang="en-US" sz="1500" dirty="0">
                <a:solidFill>
                  <a:srgbClr val="1B2A2E"/>
                </a:solidFill>
                <a:latin typeface="Calibri" pitchFamily="34" charset="0"/>
                <a:ea typeface="Calibri" pitchFamily="34" charset="-122"/>
                <a:cs typeface="Calibri" pitchFamily="34" charset="-120"/>
              </a:rPr>
              <a:t>Past REOI / IFB text for similar packages: scope, lots, qualification criteria (4,338 notice passages)</a:t>
            </a:r>
            <a:endParaRPr lang="en-US" sz="1500" dirty="0"/>
          </a:p>
          <a:p>
            <a:pPr marL="203200" indent="-203200">
              <a:spcAft>
                <a:spcPts val="800"/>
              </a:spcAft>
              <a:buSzPct val="100000"/>
              <a:buChar char="•"/>
            </a:pPr>
            <a:r>
              <a:rPr lang="en-US" sz="1500" dirty="0">
                <a:solidFill>
                  <a:srgbClr val="1B2A2E"/>
                </a:solidFill>
                <a:latin typeface="Calibri" pitchFamily="34" charset="0"/>
                <a:ea typeface="Calibri" pitchFamily="34" charset="-122"/>
                <a:cs typeface="Calibri" pitchFamily="34" charset="-120"/>
              </a:rPr>
              <a:t>PAD procurement sections: planned arrangements and risks</a:t>
            </a:r>
            <a:endParaRPr lang="en-US" sz="1500" dirty="0"/>
          </a:p>
          <a:p>
            <a:pPr marL="203200" indent="-203200">
              <a:spcAft>
                <a:spcPts val="800"/>
              </a:spcAft>
              <a:buSzPct val="100000"/>
              <a:buChar char="•"/>
            </a:pPr>
            <a:r>
              <a:rPr lang="en-US" sz="1500" dirty="0">
                <a:solidFill>
                  <a:srgbClr val="1B2A2E"/>
                </a:solidFill>
                <a:latin typeface="Calibri" pitchFamily="34" charset="0"/>
                <a:ea typeface="Calibri" pitchFamily="34" charset="-122"/>
                <a:cs typeface="Calibri" pitchFamily="34" charset="-120"/>
              </a:rPr>
              <a:t>ICR and IEG lessons with verbatim quotes, by theme</a:t>
            </a:r>
            <a:endParaRPr lang="en-US" sz="1500" dirty="0"/>
          </a:p>
          <a:p>
            <a:pPr marL="203200" indent="-203200">
              <a:spcAft>
                <a:spcPts val="800"/>
              </a:spcAft>
              <a:buSzPct val="100000"/>
              <a:buChar char="•"/>
            </a:pPr>
            <a:r>
              <a:rPr lang="en-US" sz="1500" dirty="0">
                <a:solidFill>
                  <a:srgbClr val="1B2A2E"/>
                </a:solidFill>
                <a:latin typeface="Calibri" pitchFamily="34" charset="0"/>
                <a:ea typeface="Calibri" pitchFamily="34" charset="-122"/>
                <a:cs typeface="Calibri" pitchFamily="34" charset="-120"/>
              </a:rPr>
              <a:t>Ask about a reference or project ID and it is matched exactly</a:t>
            </a:r>
            <a:endParaRPr lang="en-US" sz="1500" dirty="0"/>
          </a:p>
        </p:txBody>
      </p:sp>
      <p:graphicFrame>
        <p:nvGraphicFramePr>
          <p:cNvPr id="17" name="Chart 0" descr=""/>
          <p:cNvGraphicFramePr/>
          <p:nvPr/>
        </p:nvGraphicFramePr>
        <p:xfrm>
          <a:off x="6035040" y="1325880"/>
          <a:ext cx="5577840" cy="3840480"/>
        </p:xfrm>
        <a:graphic xmlns:a="http://schemas.openxmlformats.org/drawingml/2006/main">
          <a:graphicData uri="http://schemas.openxmlformats.org/drawingml/2006/chart">
            <c:chart xmlns:c="http://schemas.openxmlformats.org/drawingml/2006/chart" r:id="rId1"/>
          </a:graphicData>
        </a:graphic>
      </p:graphicFrame>
      <p:sp>
        <p:nvSpPr>
          <p:cNvPr id="18" name="card"/>
          <p:cNvSpPr/>
          <p:nvPr/>
        </p:nvSpPr>
        <p:spPr>
          <a:xfrm>
            <a:off x="548640" y="5349240"/>
            <a:ext cx="11064240" cy="777240"/>
          </a:xfrm>
          <a:prstGeom prst="roundRect">
            <a:avLst>
              <a:gd name="adj" fmla="val 9412"/>
            </a:avLst>
          </a:prstGeom>
          <a:solidFill>
            <a:srgbClr val="FDF1D8"/>
          </a:solidFill>
          <a:ln w="12700">
            <a:solidFill>
              <a:srgbClr val="FDF1D8"/>
            </a:solidFill>
            <a:prstDash val="solid"/>
          </a:ln>
        </p:spPr>
      </p:sp>
      <p:sp>
        <p:nvSpPr>
          <p:cNvPr id="19" name="Text 16"/>
          <p:cNvSpPr txBox="1"/>
          <p:nvPr/>
        </p:nvSpPr>
        <p:spPr>
          <a:xfrm>
            <a:off x="731520" y="5458968"/>
            <a:ext cx="10698480" cy="557784"/>
          </a:xfrm>
          <a:prstGeom prst="rect">
            <a:avLst/>
          </a:prstGeom>
          <a:noFill/>
          <a:ln/>
        </p:spPr>
        <p:txBody>
          <a:bodyPr wrap="square" lIns="0" tIns="0" rIns="0" bIns="0" rtlCol="0" anchor="ctr"/>
          <a:lstStyle/>
          <a:p>
            <a:pPr indent="0" marL="0">
              <a:buNone/>
            </a:pPr>
            <a:r>
              <a:rPr lang="en-US" sz="1300" b="1" dirty="0">
                <a:solidFill>
                  <a:srgbClr val="8A5A00"/>
                </a:solidFill>
                <a:latin typeface="Calibri" pitchFamily="34" charset="0"/>
                <a:ea typeface="Calibri" pitchFamily="34" charset="-122"/>
                <a:cs typeface="Calibri" pitchFamily="34" charset="-120"/>
              </a:rPr>
              <a:t>Stated limitation  </a:t>
            </a:r>
            <a:pPr indent="0" marL="0">
              <a:buNone/>
            </a:pPr>
            <a:r>
              <a:rPr lang="en-US" sz="1300" dirty="0">
                <a:solidFill>
                  <a:srgbClr val="1B2A2E"/>
                </a:solidFill>
                <a:latin typeface="Calibri" pitchFamily="34" charset="0"/>
                <a:ea typeface="Calibri" pitchFamily="34" charset="-122"/>
                <a:cs typeface="Calibri" pitchFamily="34" charset="-120"/>
              </a:rPr>
              <a:t>standard bidding documents, ToRs and bid evaluation reports are not public data. Tender-design recall@5 is 0.33 strict / 0.67 lenient on only 3 test questions.</a:t>
            </a:r>
            <a:endParaRPr lang="en-US" sz="13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6E"/>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7680960" cy="822960"/>
          </a:xfrm>
          <a:prstGeom prst="rect">
            <a:avLst/>
          </a:prstGeom>
          <a:noFill/>
          <a:ln/>
        </p:spPr>
        <p:txBody>
          <a:bodyPr wrap="square" lIns="0" tIns="0" rIns="0" bIns="0" rtlCol="0" anchor="ctr"/>
          <a:lstStyle/>
          <a:p>
            <a:pPr algn="l" indent="0" marL="0">
              <a:buNone/>
            </a:pPr>
            <a:r>
              <a:rPr lang="en-US" sz="3000" b="1" dirty="0">
                <a:solidFill>
                  <a:srgbClr val="0F5257"/>
                </a:solidFill>
                <a:latin typeface="Cambria" pitchFamily="34" charset="0"/>
                <a:ea typeface="Cambria" pitchFamily="34" charset="-122"/>
                <a:cs typeface="Cambria" pitchFamily="34" charset="-120"/>
              </a:rPr>
              <a:t>Every claim is checked before it is shown</a:t>
            </a:r>
            <a:endParaRPr lang="en-US" sz="3000" dirty="0"/>
          </a:p>
        </p:txBody>
      </p:sp>
      <p:sp>
        <p:nvSpPr>
          <p:cNvPr id="3" name="journey line"/>
          <p:cNvSpPr/>
          <p:nvPr/>
        </p:nvSpPr>
        <p:spPr>
          <a:xfrm>
            <a:off x="8613648" y="612648"/>
            <a:ext cx="2743200" cy="0"/>
          </a:xfrm>
          <a:prstGeom prst="line">
            <a:avLst/>
          </a:prstGeom>
          <a:noFill/>
          <a:ln w="19050">
            <a:solidFill>
              <a:srgbClr val="9DBCB8"/>
            </a:solidFill>
            <a:prstDash val="solid"/>
          </a:ln>
        </p:spPr>
      </p:sp>
      <p:sp>
        <p:nvSpPr>
          <p:cNvPr id="4" name="journey Plan"/>
          <p:cNvSpPr/>
          <p:nvPr/>
        </p:nvSpPr>
        <p:spPr>
          <a:xfrm>
            <a:off x="8458200" y="457200"/>
            <a:ext cx="310896" cy="310896"/>
          </a:xfrm>
          <a:prstGeom prst="ellipse">
            <a:avLst/>
          </a:prstGeom>
          <a:solidFill>
            <a:srgbClr val="FFFFFF"/>
          </a:solidFill>
          <a:ln w="19050">
            <a:solidFill>
              <a:srgbClr val="9DBCB8"/>
            </a:solidFill>
            <a:prstDash val="solid"/>
          </a:ln>
        </p:spPr>
      </p:sp>
      <p:sp>
        <p:nvSpPr>
          <p:cNvPr id="5" name="Text 3"/>
          <p:cNvSpPr txBox="1"/>
          <p:nvPr/>
        </p:nvSpPr>
        <p:spPr>
          <a:xfrm>
            <a:off x="8458200" y="457200"/>
            <a:ext cx="310896" cy="310896"/>
          </a:xfrm>
          <a:prstGeom prst="rect">
            <a:avLst/>
          </a:prstGeom>
          <a:noFill/>
          <a:ln/>
        </p:spPr>
        <p:txBody>
          <a:bodyPr wrap="square" lIns="0" tIns="0" rIns="0" bIns="0" rtlCol="0" anchor="ctr"/>
          <a:lstStyle/>
          <a:p>
            <a:pPr algn="ctr" indent="0" marL="0">
              <a:buNone/>
            </a:pPr>
            <a:r>
              <a:rPr lang="en-US" sz="1100" b="1" dirty="0">
                <a:solidFill>
                  <a:srgbClr val="5B6B6E"/>
                </a:solidFill>
                <a:latin typeface="Calibri" pitchFamily="34" charset="0"/>
                <a:ea typeface="Calibri" pitchFamily="34" charset="-122"/>
                <a:cs typeface="Calibri" pitchFamily="34" charset="-120"/>
              </a:rPr>
              <a:t>1</a:t>
            </a:r>
            <a:endParaRPr lang="en-US" sz="1100" dirty="0"/>
          </a:p>
        </p:txBody>
      </p:sp>
      <p:sp>
        <p:nvSpPr>
          <p:cNvPr id="6" name="Text 4"/>
          <p:cNvSpPr txBox="1"/>
          <p:nvPr/>
        </p:nvSpPr>
        <p:spPr>
          <a:xfrm>
            <a:off x="8156448" y="804672"/>
            <a:ext cx="914400" cy="256032"/>
          </a:xfrm>
          <a:prstGeom prst="rect">
            <a:avLst/>
          </a:prstGeom>
          <a:noFill/>
          <a:ln/>
        </p:spPr>
        <p:txBody>
          <a:bodyPr wrap="square" lIns="0" tIns="0" rIns="0" bIns="0" rtlCol="0" anchor="ctr"/>
          <a:lstStyle/>
          <a:p>
            <a:pPr algn="ctr" indent="0" marL="0">
              <a:buNone/>
            </a:pPr>
            <a:r>
              <a:rPr lang="en-US" sz="1000" dirty="0">
                <a:solidFill>
                  <a:srgbClr val="5B6B6E"/>
                </a:solidFill>
                <a:latin typeface="Calibri" pitchFamily="34" charset="0"/>
                <a:ea typeface="Calibri" pitchFamily="34" charset="-122"/>
                <a:cs typeface="Calibri" pitchFamily="34" charset="-120"/>
              </a:rPr>
              <a:t>Plan</a:t>
            </a:r>
            <a:endParaRPr lang="en-US" sz="1000" dirty="0"/>
          </a:p>
        </p:txBody>
      </p:sp>
      <p:sp>
        <p:nvSpPr>
          <p:cNvPr id="7" name="journey Tender design"/>
          <p:cNvSpPr/>
          <p:nvPr/>
        </p:nvSpPr>
        <p:spPr>
          <a:xfrm>
            <a:off x="9372600" y="457200"/>
            <a:ext cx="310896" cy="310896"/>
          </a:xfrm>
          <a:prstGeom prst="ellipse">
            <a:avLst/>
          </a:prstGeom>
          <a:solidFill>
            <a:srgbClr val="F3B23C"/>
          </a:solidFill>
          <a:ln w="19050">
            <a:solidFill>
              <a:srgbClr val="F3B23C"/>
            </a:solidFill>
            <a:prstDash val="solid"/>
          </a:ln>
        </p:spPr>
      </p:sp>
      <p:sp>
        <p:nvSpPr>
          <p:cNvPr id="8" name="Text 6"/>
          <p:cNvSpPr txBox="1"/>
          <p:nvPr/>
        </p:nvSpPr>
        <p:spPr>
          <a:xfrm>
            <a:off x="9372600" y="457200"/>
            <a:ext cx="310896" cy="310896"/>
          </a:xfrm>
          <a:prstGeom prst="rect">
            <a:avLst/>
          </a:prstGeom>
          <a:noFill/>
          <a:ln/>
        </p:spPr>
        <p:txBody>
          <a:bodyPr wrap="square" lIns="0" tIns="0" rIns="0" bIns="0" rtlCol="0" anchor="ctr"/>
          <a:lstStyle/>
          <a:p>
            <a:pPr algn="ctr" indent="0" marL="0">
              <a:buNone/>
            </a:pPr>
            <a:r>
              <a:rPr lang="en-US" sz="1100" b="1" dirty="0">
                <a:solidFill>
                  <a:srgbClr val="1B2A2E"/>
                </a:solidFill>
                <a:latin typeface="Calibri" pitchFamily="34" charset="0"/>
                <a:ea typeface="Calibri" pitchFamily="34" charset="-122"/>
                <a:cs typeface="Calibri" pitchFamily="34" charset="-120"/>
              </a:rPr>
              <a:t>2</a:t>
            </a:r>
            <a:endParaRPr lang="en-US" sz="1100" dirty="0"/>
          </a:p>
        </p:txBody>
      </p:sp>
      <p:sp>
        <p:nvSpPr>
          <p:cNvPr id="9" name="Text 7"/>
          <p:cNvSpPr txBox="1"/>
          <p:nvPr/>
        </p:nvSpPr>
        <p:spPr>
          <a:xfrm>
            <a:off x="9070848" y="804672"/>
            <a:ext cx="914400" cy="256032"/>
          </a:xfrm>
          <a:prstGeom prst="rect">
            <a:avLst/>
          </a:prstGeom>
          <a:noFill/>
          <a:ln/>
        </p:spPr>
        <p:txBody>
          <a:bodyPr wrap="square" lIns="0" tIns="0" rIns="0" bIns="0" rtlCol="0" anchor="ctr"/>
          <a:lstStyle/>
          <a:p>
            <a:pPr algn="ctr" indent="0" marL="0">
              <a:buNone/>
            </a:pPr>
            <a:r>
              <a:rPr lang="en-US" sz="1000" b="1" dirty="0">
                <a:solidFill>
                  <a:srgbClr val="1B2A2E"/>
                </a:solidFill>
                <a:latin typeface="Calibri" pitchFamily="34" charset="0"/>
                <a:ea typeface="Calibri" pitchFamily="34" charset="-122"/>
                <a:cs typeface="Calibri" pitchFamily="34" charset="-120"/>
              </a:rPr>
              <a:t>Tender design</a:t>
            </a:r>
            <a:endParaRPr lang="en-US" sz="1000" dirty="0"/>
          </a:p>
        </p:txBody>
      </p:sp>
      <p:sp>
        <p:nvSpPr>
          <p:cNvPr id="10" name="journey Monitor"/>
          <p:cNvSpPr/>
          <p:nvPr/>
        </p:nvSpPr>
        <p:spPr>
          <a:xfrm>
            <a:off x="10287000" y="457200"/>
            <a:ext cx="310896" cy="310896"/>
          </a:xfrm>
          <a:prstGeom prst="ellipse">
            <a:avLst/>
          </a:prstGeom>
          <a:solidFill>
            <a:srgbClr val="FFFFFF"/>
          </a:solidFill>
          <a:ln w="19050">
            <a:solidFill>
              <a:srgbClr val="9DBCB8"/>
            </a:solidFill>
            <a:prstDash val="solid"/>
          </a:ln>
        </p:spPr>
      </p:sp>
      <p:sp>
        <p:nvSpPr>
          <p:cNvPr id="11" name="Text 9"/>
          <p:cNvSpPr txBox="1"/>
          <p:nvPr/>
        </p:nvSpPr>
        <p:spPr>
          <a:xfrm>
            <a:off x="10287000" y="457200"/>
            <a:ext cx="310896" cy="310896"/>
          </a:xfrm>
          <a:prstGeom prst="rect">
            <a:avLst/>
          </a:prstGeom>
          <a:noFill/>
          <a:ln/>
        </p:spPr>
        <p:txBody>
          <a:bodyPr wrap="square" lIns="0" tIns="0" rIns="0" bIns="0" rtlCol="0" anchor="ctr"/>
          <a:lstStyle/>
          <a:p>
            <a:pPr algn="ctr" indent="0" marL="0">
              <a:buNone/>
            </a:pPr>
            <a:r>
              <a:rPr lang="en-US" sz="1100" b="1" dirty="0">
                <a:solidFill>
                  <a:srgbClr val="5B6B6E"/>
                </a:solidFill>
                <a:latin typeface="Calibri" pitchFamily="34" charset="0"/>
                <a:ea typeface="Calibri" pitchFamily="34" charset="-122"/>
                <a:cs typeface="Calibri" pitchFamily="34" charset="-120"/>
              </a:rPr>
              <a:t>3</a:t>
            </a:r>
            <a:endParaRPr lang="en-US" sz="1100" dirty="0"/>
          </a:p>
        </p:txBody>
      </p:sp>
      <p:sp>
        <p:nvSpPr>
          <p:cNvPr id="12" name="Text 10"/>
          <p:cNvSpPr txBox="1"/>
          <p:nvPr/>
        </p:nvSpPr>
        <p:spPr>
          <a:xfrm>
            <a:off x="9985248" y="804672"/>
            <a:ext cx="914400" cy="256032"/>
          </a:xfrm>
          <a:prstGeom prst="rect">
            <a:avLst/>
          </a:prstGeom>
          <a:noFill/>
          <a:ln/>
        </p:spPr>
        <p:txBody>
          <a:bodyPr wrap="square" lIns="0" tIns="0" rIns="0" bIns="0" rtlCol="0" anchor="ctr"/>
          <a:lstStyle/>
          <a:p>
            <a:pPr algn="ctr" indent="0" marL="0">
              <a:buNone/>
            </a:pPr>
            <a:r>
              <a:rPr lang="en-US" sz="1000" dirty="0">
                <a:solidFill>
                  <a:srgbClr val="5B6B6E"/>
                </a:solidFill>
                <a:latin typeface="Calibri" pitchFamily="34" charset="0"/>
                <a:ea typeface="Calibri" pitchFamily="34" charset="-122"/>
                <a:cs typeface="Calibri" pitchFamily="34" charset="-120"/>
              </a:rPr>
              <a:t>Monitor</a:t>
            </a:r>
            <a:endParaRPr lang="en-US" sz="1000" dirty="0"/>
          </a:p>
        </p:txBody>
      </p:sp>
      <p:sp>
        <p:nvSpPr>
          <p:cNvPr id="13" name="journey Learn"/>
          <p:cNvSpPr/>
          <p:nvPr/>
        </p:nvSpPr>
        <p:spPr>
          <a:xfrm>
            <a:off x="11201400" y="457200"/>
            <a:ext cx="310896" cy="310896"/>
          </a:xfrm>
          <a:prstGeom prst="ellipse">
            <a:avLst/>
          </a:prstGeom>
          <a:solidFill>
            <a:srgbClr val="FFFFFF"/>
          </a:solidFill>
          <a:ln w="19050">
            <a:solidFill>
              <a:srgbClr val="9DBCB8"/>
            </a:solidFill>
            <a:prstDash val="solid"/>
          </a:ln>
        </p:spPr>
      </p:sp>
      <p:sp>
        <p:nvSpPr>
          <p:cNvPr id="14" name="Text 12"/>
          <p:cNvSpPr txBox="1"/>
          <p:nvPr/>
        </p:nvSpPr>
        <p:spPr>
          <a:xfrm>
            <a:off x="11201400" y="457200"/>
            <a:ext cx="310896" cy="310896"/>
          </a:xfrm>
          <a:prstGeom prst="rect">
            <a:avLst/>
          </a:prstGeom>
          <a:noFill/>
          <a:ln/>
        </p:spPr>
        <p:txBody>
          <a:bodyPr wrap="square" lIns="0" tIns="0" rIns="0" bIns="0" rtlCol="0" anchor="ctr"/>
          <a:lstStyle/>
          <a:p>
            <a:pPr algn="ctr" indent="0" marL="0">
              <a:buNone/>
            </a:pPr>
            <a:r>
              <a:rPr lang="en-US" sz="1100" b="1" dirty="0">
                <a:solidFill>
                  <a:srgbClr val="5B6B6E"/>
                </a:solidFill>
                <a:latin typeface="Calibri" pitchFamily="34" charset="0"/>
                <a:ea typeface="Calibri" pitchFamily="34" charset="-122"/>
                <a:cs typeface="Calibri" pitchFamily="34" charset="-120"/>
              </a:rPr>
              <a:t>4</a:t>
            </a:r>
            <a:endParaRPr lang="en-US" sz="1100" dirty="0"/>
          </a:p>
        </p:txBody>
      </p:sp>
      <p:sp>
        <p:nvSpPr>
          <p:cNvPr id="15" name="Text 13"/>
          <p:cNvSpPr txBox="1"/>
          <p:nvPr/>
        </p:nvSpPr>
        <p:spPr>
          <a:xfrm>
            <a:off x="10899648" y="804672"/>
            <a:ext cx="914400" cy="256032"/>
          </a:xfrm>
          <a:prstGeom prst="rect">
            <a:avLst/>
          </a:prstGeom>
          <a:noFill/>
          <a:ln/>
        </p:spPr>
        <p:txBody>
          <a:bodyPr wrap="square" lIns="0" tIns="0" rIns="0" bIns="0" rtlCol="0" anchor="ctr"/>
          <a:lstStyle/>
          <a:p>
            <a:pPr algn="ctr" indent="0" marL="0">
              <a:buNone/>
            </a:pPr>
            <a:r>
              <a:rPr lang="en-US" sz="1000" dirty="0">
                <a:solidFill>
                  <a:srgbClr val="5B6B6E"/>
                </a:solidFill>
                <a:latin typeface="Calibri" pitchFamily="34" charset="0"/>
                <a:ea typeface="Calibri" pitchFamily="34" charset="-122"/>
                <a:cs typeface="Calibri" pitchFamily="34" charset="-120"/>
              </a:rPr>
              <a:t>Learn</a:t>
            </a:r>
            <a:endParaRPr lang="en-US" sz="1000" dirty="0"/>
          </a:p>
        </p:txBody>
      </p:sp>
      <p:sp>
        <p:nvSpPr>
          <p:cNvPr id="16" name="Text 14"/>
          <p:cNvSpPr txBox="1"/>
          <p:nvPr/>
        </p:nvSpPr>
        <p:spPr>
          <a:xfrm>
            <a:off x="548640" y="1371600"/>
            <a:ext cx="2651760" cy="685800"/>
          </a:xfrm>
          <a:prstGeom prst="rect">
            <a:avLst/>
          </a:prstGeom>
          <a:noFill/>
          <a:ln/>
        </p:spPr>
        <p:txBody>
          <a:bodyPr wrap="square" lIns="0" tIns="0" rIns="0" bIns="0" rtlCol="0" anchor="b"/>
          <a:lstStyle/>
          <a:p>
            <a:pPr indent="0" marL="0">
              <a:buNone/>
            </a:pPr>
            <a:r>
              <a:rPr lang="en-US" sz="4000" b="1" dirty="0">
                <a:solidFill>
                  <a:srgbClr val="0F5257"/>
                </a:solidFill>
                <a:latin typeface="Cambria" pitchFamily="34" charset="0"/>
                <a:ea typeface="Cambria" pitchFamily="34" charset="-122"/>
                <a:cs typeface="Cambria" pitchFamily="34" charset="-120"/>
              </a:rPr>
              <a:t>1.00</a:t>
            </a:r>
            <a:endParaRPr lang="en-US" sz="4000" dirty="0"/>
          </a:p>
        </p:txBody>
      </p:sp>
      <p:sp>
        <p:nvSpPr>
          <p:cNvPr id="17" name="Text 15"/>
          <p:cNvSpPr txBox="1"/>
          <p:nvPr/>
        </p:nvSpPr>
        <p:spPr>
          <a:xfrm>
            <a:off x="548640" y="2103120"/>
            <a:ext cx="2651760" cy="548640"/>
          </a:xfrm>
          <a:prstGeom prst="rect">
            <a:avLst/>
          </a:prstGeom>
          <a:noFill/>
          <a:ln/>
        </p:spPr>
        <p:txBody>
          <a:bodyPr wrap="square" lIns="0" tIns="0" rIns="0" bIns="0" rtlCol="0" anchor="t"/>
          <a:lstStyle/>
          <a:p>
            <a:pPr indent="0" marL="0">
              <a:buNone/>
            </a:pPr>
            <a:r>
              <a:rPr lang="en-US" sz="1400" dirty="0">
                <a:solidFill>
                  <a:srgbClr val="1B2A2E"/>
                </a:solidFill>
                <a:latin typeface="Calibri" pitchFamily="34" charset="0"/>
                <a:ea typeface="Calibri" pitchFamily="34" charset="-122"/>
                <a:cs typeface="Calibri" pitchFamily="34" charset="-120"/>
              </a:rPr>
              <a:t>citation validity</a:t>
            </a:r>
            <a:endParaRPr lang="en-US" sz="1400" dirty="0"/>
          </a:p>
        </p:txBody>
      </p:sp>
      <p:sp>
        <p:nvSpPr>
          <p:cNvPr id="18" name="Text 16"/>
          <p:cNvSpPr txBox="1"/>
          <p:nvPr/>
        </p:nvSpPr>
        <p:spPr>
          <a:xfrm>
            <a:off x="3383280" y="1371600"/>
            <a:ext cx="2651760" cy="685800"/>
          </a:xfrm>
          <a:prstGeom prst="rect">
            <a:avLst/>
          </a:prstGeom>
          <a:noFill/>
          <a:ln/>
        </p:spPr>
        <p:txBody>
          <a:bodyPr wrap="square" lIns="0" tIns="0" rIns="0" bIns="0" rtlCol="0" anchor="b"/>
          <a:lstStyle/>
          <a:p>
            <a:pPr indent="0" marL="0">
              <a:buNone/>
            </a:pPr>
            <a:r>
              <a:rPr lang="en-US" sz="3200" b="1" dirty="0">
                <a:solidFill>
                  <a:srgbClr val="0F5257"/>
                </a:solidFill>
                <a:latin typeface="Cambria" pitchFamily="34" charset="0"/>
                <a:ea typeface="Cambria" pitchFamily="34" charset="-122"/>
                <a:cs typeface="Cambria" pitchFamily="34" charset="-120"/>
              </a:rPr>
              <a:t>0.86–0.905</a:t>
            </a:r>
            <a:endParaRPr lang="en-US" sz="3200" dirty="0"/>
          </a:p>
        </p:txBody>
      </p:sp>
      <p:sp>
        <p:nvSpPr>
          <p:cNvPr id="19" name="Text 17"/>
          <p:cNvSpPr txBox="1"/>
          <p:nvPr/>
        </p:nvSpPr>
        <p:spPr>
          <a:xfrm>
            <a:off x="3383280" y="2103120"/>
            <a:ext cx="2651760" cy="548640"/>
          </a:xfrm>
          <a:prstGeom prst="rect">
            <a:avLst/>
          </a:prstGeom>
          <a:noFill/>
          <a:ln/>
        </p:spPr>
        <p:txBody>
          <a:bodyPr wrap="square" lIns="0" tIns="0" rIns="0" bIns="0" rtlCol="0" anchor="t"/>
          <a:lstStyle/>
          <a:p>
            <a:pPr indent="0" marL="0">
              <a:buNone/>
            </a:pPr>
            <a:r>
              <a:rPr lang="en-US" sz="1400" dirty="0">
                <a:solidFill>
                  <a:srgbClr val="1B2A2E"/>
                </a:solidFill>
                <a:latin typeface="Calibri" pitchFamily="34" charset="0"/>
                <a:ea typeface="Calibri" pitchFamily="34" charset="-122"/>
                <a:cs typeface="Calibri" pitchFamily="34" charset="-120"/>
              </a:rPr>
              <a:t>claim support after guardrails (range over evaluation runs)</a:t>
            </a:r>
            <a:endParaRPr lang="en-US" sz="1400" dirty="0"/>
          </a:p>
        </p:txBody>
      </p:sp>
      <p:sp>
        <p:nvSpPr>
          <p:cNvPr id="20" name="Text 18"/>
          <p:cNvSpPr txBox="1"/>
          <p:nvPr/>
        </p:nvSpPr>
        <p:spPr>
          <a:xfrm>
            <a:off x="6217920" y="1371600"/>
            <a:ext cx="2651760" cy="685800"/>
          </a:xfrm>
          <a:prstGeom prst="rect">
            <a:avLst/>
          </a:prstGeom>
          <a:noFill/>
          <a:ln/>
        </p:spPr>
        <p:txBody>
          <a:bodyPr wrap="square" lIns="0" tIns="0" rIns="0" bIns="0" rtlCol="0" anchor="b"/>
          <a:lstStyle/>
          <a:p>
            <a:pPr indent="0" marL="0">
              <a:buNone/>
            </a:pPr>
            <a:r>
              <a:rPr lang="en-US" sz="3200" b="1" dirty="0">
                <a:solidFill>
                  <a:srgbClr val="0F5257"/>
                </a:solidFill>
                <a:latin typeface="Cambria" pitchFamily="34" charset="0"/>
                <a:ea typeface="Cambria" pitchFamily="34" charset="-122"/>
                <a:cs typeface="Cambria" pitchFamily="34" charset="-120"/>
              </a:rPr>
              <a:t>97.5–100%</a:t>
            </a:r>
            <a:endParaRPr lang="en-US" sz="3200" dirty="0"/>
          </a:p>
        </p:txBody>
      </p:sp>
      <p:sp>
        <p:nvSpPr>
          <p:cNvPr id="21" name="Text 19"/>
          <p:cNvSpPr txBox="1"/>
          <p:nvPr/>
        </p:nvSpPr>
        <p:spPr>
          <a:xfrm>
            <a:off x="6217920" y="2103120"/>
            <a:ext cx="2651760" cy="548640"/>
          </a:xfrm>
          <a:prstGeom prst="rect">
            <a:avLst/>
          </a:prstGeom>
          <a:noFill/>
          <a:ln/>
        </p:spPr>
        <p:txBody>
          <a:bodyPr wrap="square" lIns="0" tIns="0" rIns="0" bIns="0" rtlCol="0" anchor="t"/>
          <a:lstStyle/>
          <a:p>
            <a:pPr indent="0" marL="0">
              <a:buNone/>
            </a:pPr>
            <a:r>
              <a:rPr lang="en-US" sz="1400" dirty="0">
                <a:solidFill>
                  <a:srgbClr val="1B2A2E"/>
                </a:solidFill>
                <a:latin typeface="Calibri" pitchFamily="34" charset="0"/>
                <a:ea typeface="Calibri" pitchFamily="34" charset="-122"/>
                <a:cs typeface="Calibri" pitchFamily="34" charset="-120"/>
              </a:rPr>
              <a:t>of 40 kept claims supported, independent judge</a:t>
            </a:r>
            <a:endParaRPr lang="en-US" sz="1400" dirty="0"/>
          </a:p>
        </p:txBody>
      </p:sp>
      <p:sp>
        <p:nvSpPr>
          <p:cNvPr id="22" name="Text 20"/>
          <p:cNvSpPr txBox="1"/>
          <p:nvPr/>
        </p:nvSpPr>
        <p:spPr>
          <a:xfrm>
            <a:off x="9052560" y="1371600"/>
            <a:ext cx="2651760" cy="685800"/>
          </a:xfrm>
          <a:prstGeom prst="rect">
            <a:avLst/>
          </a:prstGeom>
          <a:noFill/>
          <a:ln/>
        </p:spPr>
        <p:txBody>
          <a:bodyPr wrap="square" lIns="0" tIns="0" rIns="0" bIns="0" rtlCol="0" anchor="b"/>
          <a:lstStyle/>
          <a:p>
            <a:pPr indent="0" marL="0">
              <a:buNone/>
            </a:pPr>
            <a:r>
              <a:rPr lang="en-US" sz="4000" b="1" dirty="0">
                <a:solidFill>
                  <a:srgbClr val="0F5257"/>
                </a:solidFill>
                <a:latin typeface="Cambria" pitchFamily="34" charset="0"/>
                <a:ea typeface="Cambria" pitchFamily="34" charset="-122"/>
                <a:cs typeface="Cambria" pitchFamily="34" charset="-120"/>
              </a:rPr>
              <a:t>3 / 3</a:t>
            </a:r>
            <a:endParaRPr lang="en-US" sz="4000" dirty="0"/>
          </a:p>
        </p:txBody>
      </p:sp>
      <p:sp>
        <p:nvSpPr>
          <p:cNvPr id="23" name="Text 21"/>
          <p:cNvSpPr txBox="1"/>
          <p:nvPr/>
        </p:nvSpPr>
        <p:spPr>
          <a:xfrm>
            <a:off x="9052560" y="2103120"/>
            <a:ext cx="2651760" cy="548640"/>
          </a:xfrm>
          <a:prstGeom prst="rect">
            <a:avLst/>
          </a:prstGeom>
          <a:noFill/>
          <a:ln/>
        </p:spPr>
        <p:txBody>
          <a:bodyPr wrap="square" lIns="0" tIns="0" rIns="0" bIns="0" rtlCol="0" anchor="t"/>
          <a:lstStyle/>
          <a:p>
            <a:pPr indent="0" marL="0">
              <a:buNone/>
            </a:pPr>
            <a:r>
              <a:rPr lang="en-US" sz="1400" dirty="0">
                <a:solidFill>
                  <a:srgbClr val="1B2A2E"/>
                </a:solidFill>
                <a:latin typeface="Calibri" pitchFamily="34" charset="0"/>
                <a:ea typeface="Calibri" pitchFamily="34" charset="-122"/>
                <a:cs typeface="Calibri" pitchFamily="34" charset="-120"/>
              </a:rPr>
              <a:t>off-topic questions refused</a:t>
            </a:r>
            <a:endParaRPr lang="en-US" sz="1400" dirty="0"/>
          </a:p>
        </p:txBody>
      </p:sp>
      <p:sp>
        <p:nvSpPr>
          <p:cNvPr id="24" name="card"/>
          <p:cNvSpPr/>
          <p:nvPr/>
        </p:nvSpPr>
        <p:spPr>
          <a:xfrm>
            <a:off x="548640" y="3063240"/>
            <a:ext cx="5440680" cy="1280160"/>
          </a:xfrm>
          <a:prstGeom prst="roundRect">
            <a:avLst>
              <a:gd name="adj" fmla="val 5714"/>
            </a:avLst>
          </a:prstGeom>
          <a:solidFill>
            <a:srgbClr val="EEF4F3"/>
          </a:solidFill>
          <a:ln w="12700">
            <a:solidFill>
              <a:srgbClr val="EEF4F3"/>
            </a:solidFill>
            <a:prstDash val="solid"/>
          </a:ln>
        </p:spPr>
      </p:sp>
      <p:sp>
        <p:nvSpPr>
          <p:cNvPr id="25" name="Text 23"/>
          <p:cNvSpPr txBox="1"/>
          <p:nvPr/>
        </p:nvSpPr>
        <p:spPr>
          <a:xfrm>
            <a:off x="777240" y="3200400"/>
            <a:ext cx="4937760" cy="320040"/>
          </a:xfrm>
          <a:prstGeom prst="rect">
            <a:avLst/>
          </a:prstGeom>
          <a:noFill/>
          <a:ln/>
        </p:spPr>
        <p:txBody>
          <a:bodyPr wrap="square" lIns="0" tIns="0" rIns="0" bIns="0" rtlCol="0" anchor="t"/>
          <a:lstStyle/>
          <a:p>
            <a:pPr algn="l" indent="0" marL="0">
              <a:buNone/>
            </a:pPr>
            <a:r>
              <a:rPr lang="en-US" sz="1600" b="1" dirty="0">
                <a:solidFill>
                  <a:srgbClr val="0F5257"/>
                </a:solidFill>
                <a:latin typeface="Calibri" pitchFamily="34" charset="0"/>
                <a:ea typeface="Calibri" pitchFamily="34" charset="-122"/>
                <a:cs typeface="Calibri" pitchFamily="34" charset="-120"/>
              </a:rPr>
              <a:t>Mechanical</a:t>
            </a:r>
            <a:endParaRPr lang="en-US" sz="1600" dirty="0"/>
          </a:p>
        </p:txBody>
      </p:sp>
      <p:sp>
        <p:nvSpPr>
          <p:cNvPr id="26" name="Text 24"/>
          <p:cNvSpPr txBox="1"/>
          <p:nvPr/>
        </p:nvSpPr>
        <p:spPr>
          <a:xfrm>
            <a:off x="777240" y="3566160"/>
            <a:ext cx="4983480" cy="731520"/>
          </a:xfrm>
          <a:prstGeom prst="rect">
            <a:avLst/>
          </a:prstGeom>
          <a:noFill/>
          <a:ln/>
        </p:spPr>
        <p:txBody>
          <a:bodyPr wrap="square" lIns="0" tIns="0" rIns="0" bIns="0" rtlCol="0" anchor="t"/>
          <a:lstStyle/>
          <a:p>
            <a:pPr algn="l" indent="0" marL="0">
              <a:buNone/>
            </a:pPr>
            <a:r>
              <a:rPr lang="en-US" sz="1400" dirty="0">
                <a:solidFill>
                  <a:srgbClr val="1B2A2E"/>
                </a:solidFill>
                <a:latin typeface="Calibri" pitchFamily="34" charset="0"/>
                <a:ea typeface="Calibri" pitchFamily="34" charset="-122"/>
                <a:cs typeface="Calibri" pitchFamily="34" charset="-120"/>
              </a:rPr>
              <a:t>Each claim cites a supplied source; every number ≥ 10 and every project ID appears in the cited text</a:t>
            </a:r>
            <a:endParaRPr lang="en-US" sz="1400" dirty="0"/>
          </a:p>
        </p:txBody>
      </p:sp>
      <p:sp>
        <p:nvSpPr>
          <p:cNvPr id="27" name="card"/>
          <p:cNvSpPr/>
          <p:nvPr/>
        </p:nvSpPr>
        <p:spPr>
          <a:xfrm>
            <a:off x="6172200" y="3063240"/>
            <a:ext cx="5440680" cy="1280160"/>
          </a:xfrm>
          <a:prstGeom prst="roundRect">
            <a:avLst>
              <a:gd name="adj" fmla="val 5714"/>
            </a:avLst>
          </a:prstGeom>
          <a:solidFill>
            <a:srgbClr val="EEF4F3"/>
          </a:solidFill>
          <a:ln w="12700">
            <a:solidFill>
              <a:srgbClr val="EEF4F3"/>
            </a:solidFill>
            <a:prstDash val="solid"/>
          </a:ln>
        </p:spPr>
      </p:sp>
      <p:sp>
        <p:nvSpPr>
          <p:cNvPr id="28" name="Text 26"/>
          <p:cNvSpPr txBox="1"/>
          <p:nvPr/>
        </p:nvSpPr>
        <p:spPr>
          <a:xfrm>
            <a:off x="6400800" y="3200400"/>
            <a:ext cx="4937760" cy="320040"/>
          </a:xfrm>
          <a:prstGeom prst="rect">
            <a:avLst/>
          </a:prstGeom>
          <a:noFill/>
          <a:ln/>
        </p:spPr>
        <p:txBody>
          <a:bodyPr wrap="square" lIns="0" tIns="0" rIns="0" bIns="0" rtlCol="0" anchor="t"/>
          <a:lstStyle/>
          <a:p>
            <a:pPr algn="l" indent="0" marL="0">
              <a:buNone/>
            </a:pPr>
            <a:r>
              <a:rPr lang="en-US" sz="1600" b="1" dirty="0">
                <a:solidFill>
                  <a:srgbClr val="0F5257"/>
                </a:solidFill>
                <a:latin typeface="Calibri" pitchFamily="34" charset="0"/>
                <a:ea typeface="Calibri" pitchFamily="34" charset="-122"/>
                <a:cs typeface="Calibri" pitchFamily="34" charset="-120"/>
              </a:rPr>
              <a:t>Verifier</a:t>
            </a:r>
            <a:endParaRPr lang="en-US" sz="1600" dirty="0"/>
          </a:p>
        </p:txBody>
      </p:sp>
      <p:sp>
        <p:nvSpPr>
          <p:cNvPr id="29" name="Text 27"/>
          <p:cNvSpPr txBox="1"/>
          <p:nvPr/>
        </p:nvSpPr>
        <p:spPr>
          <a:xfrm>
            <a:off x="6400800" y="3566160"/>
            <a:ext cx="4983480" cy="731520"/>
          </a:xfrm>
          <a:prstGeom prst="rect">
            <a:avLst/>
          </a:prstGeom>
          <a:noFill/>
          <a:ln/>
        </p:spPr>
        <p:txBody>
          <a:bodyPr wrap="square" lIns="0" tIns="0" rIns="0" bIns="0" rtlCol="0" anchor="t"/>
          <a:lstStyle/>
          <a:p>
            <a:pPr algn="l" indent="0" marL="0">
              <a:buNone/>
            </a:pPr>
            <a:r>
              <a:rPr lang="en-US" sz="1400" dirty="0">
                <a:solidFill>
                  <a:srgbClr val="1B2A2E"/>
                </a:solidFill>
                <a:latin typeface="Calibri" pitchFamily="34" charset="0"/>
                <a:ea typeface="Calibri" pitchFamily="34" charset="-122"/>
                <a:cs typeface="Calibri" pitchFamily="34" charset="-120"/>
              </a:rPr>
              <a:t>One batched LLM call reads each claim beside its sources; unsupported or no verdict → removed</a:t>
            </a:r>
            <a:endParaRPr lang="en-US" sz="1400" dirty="0"/>
          </a:p>
        </p:txBody>
      </p:sp>
      <p:sp>
        <p:nvSpPr>
          <p:cNvPr id="30" name="card"/>
          <p:cNvSpPr/>
          <p:nvPr/>
        </p:nvSpPr>
        <p:spPr>
          <a:xfrm>
            <a:off x="548640" y="4526280"/>
            <a:ext cx="5440680" cy="1280160"/>
          </a:xfrm>
          <a:prstGeom prst="roundRect">
            <a:avLst>
              <a:gd name="adj" fmla="val 5714"/>
            </a:avLst>
          </a:prstGeom>
          <a:solidFill>
            <a:srgbClr val="EEF4F3"/>
          </a:solidFill>
          <a:ln w="12700">
            <a:solidFill>
              <a:srgbClr val="EEF4F3"/>
            </a:solidFill>
            <a:prstDash val="solid"/>
          </a:ln>
        </p:spPr>
      </p:sp>
      <p:sp>
        <p:nvSpPr>
          <p:cNvPr id="31" name="Text 29"/>
          <p:cNvSpPr txBox="1"/>
          <p:nvPr/>
        </p:nvSpPr>
        <p:spPr>
          <a:xfrm>
            <a:off x="777240" y="4663440"/>
            <a:ext cx="4937760" cy="320040"/>
          </a:xfrm>
          <a:prstGeom prst="rect">
            <a:avLst/>
          </a:prstGeom>
          <a:noFill/>
          <a:ln/>
        </p:spPr>
        <p:txBody>
          <a:bodyPr wrap="square" lIns="0" tIns="0" rIns="0" bIns="0" rtlCol="0" anchor="t"/>
          <a:lstStyle/>
          <a:p>
            <a:pPr algn="l" indent="0" marL="0">
              <a:buNone/>
            </a:pPr>
            <a:r>
              <a:rPr lang="en-US" sz="1600" b="1" dirty="0">
                <a:solidFill>
                  <a:srgbClr val="0F5257"/>
                </a:solidFill>
                <a:latin typeface="Calibri" pitchFamily="34" charset="0"/>
                <a:ea typeface="Calibri" pitchFamily="34" charset="-122"/>
                <a:cs typeface="Calibri" pitchFamily="34" charset="-120"/>
              </a:rPr>
              <a:t>Quarantine</a:t>
            </a:r>
            <a:endParaRPr lang="en-US" sz="1600" dirty="0"/>
          </a:p>
        </p:txBody>
      </p:sp>
      <p:sp>
        <p:nvSpPr>
          <p:cNvPr id="32" name="Text 30"/>
          <p:cNvSpPr txBox="1"/>
          <p:nvPr/>
        </p:nvSpPr>
        <p:spPr>
          <a:xfrm>
            <a:off x="777240" y="5029200"/>
            <a:ext cx="4983480" cy="731520"/>
          </a:xfrm>
          <a:prstGeom prst="rect">
            <a:avLst/>
          </a:prstGeom>
          <a:noFill/>
          <a:ln/>
        </p:spPr>
        <p:txBody>
          <a:bodyPr wrap="square" lIns="0" tIns="0" rIns="0" bIns="0" rtlCol="0" anchor="t"/>
          <a:lstStyle/>
          <a:p>
            <a:pPr algn="l" indent="0" marL="0">
              <a:buNone/>
            </a:pPr>
            <a:r>
              <a:rPr lang="en-US" sz="1400" dirty="0">
                <a:solidFill>
                  <a:srgbClr val="1B2A2E"/>
                </a:solidFill>
                <a:latin typeface="Calibri" pitchFamily="34" charset="0"/>
                <a:ea typeface="Calibri" pitchFamily="34" charset="-122"/>
                <a:cs typeface="Calibri" pitchFamily="34" charset="-120"/>
              </a:rPr>
              <a:t>Passages with instruction-like text never reach the model (planted injection: blocked)</a:t>
            </a:r>
            <a:endParaRPr lang="en-US" sz="1400" dirty="0"/>
          </a:p>
        </p:txBody>
      </p:sp>
      <p:sp>
        <p:nvSpPr>
          <p:cNvPr id="33" name="card"/>
          <p:cNvSpPr/>
          <p:nvPr/>
        </p:nvSpPr>
        <p:spPr>
          <a:xfrm>
            <a:off x="6172200" y="4526280"/>
            <a:ext cx="5440680" cy="1280160"/>
          </a:xfrm>
          <a:prstGeom prst="roundRect">
            <a:avLst>
              <a:gd name="adj" fmla="val 5714"/>
            </a:avLst>
          </a:prstGeom>
          <a:solidFill>
            <a:srgbClr val="EEF4F3"/>
          </a:solidFill>
          <a:ln w="12700">
            <a:solidFill>
              <a:srgbClr val="EEF4F3"/>
            </a:solidFill>
            <a:prstDash val="solid"/>
          </a:ln>
        </p:spPr>
      </p:sp>
      <p:sp>
        <p:nvSpPr>
          <p:cNvPr id="34" name="Text 32"/>
          <p:cNvSpPr txBox="1"/>
          <p:nvPr/>
        </p:nvSpPr>
        <p:spPr>
          <a:xfrm>
            <a:off x="6400800" y="4663440"/>
            <a:ext cx="4937760" cy="320040"/>
          </a:xfrm>
          <a:prstGeom prst="rect">
            <a:avLst/>
          </a:prstGeom>
          <a:noFill/>
          <a:ln/>
        </p:spPr>
        <p:txBody>
          <a:bodyPr wrap="square" lIns="0" tIns="0" rIns="0" bIns="0" rtlCol="0" anchor="t"/>
          <a:lstStyle/>
          <a:p>
            <a:pPr algn="l" indent="0" marL="0">
              <a:buNone/>
            </a:pPr>
            <a:r>
              <a:rPr lang="en-US" sz="1600" b="1" dirty="0">
                <a:solidFill>
                  <a:srgbClr val="0F5257"/>
                </a:solidFill>
                <a:latin typeface="Calibri" pitchFamily="34" charset="0"/>
                <a:ea typeface="Calibri" pitchFamily="34" charset="-122"/>
                <a:cs typeface="Calibri" pitchFamily="34" charset="-120"/>
              </a:rPr>
              <a:t>Conflicts</a:t>
            </a:r>
            <a:endParaRPr lang="en-US" sz="1600" dirty="0"/>
          </a:p>
        </p:txBody>
      </p:sp>
      <p:sp>
        <p:nvSpPr>
          <p:cNvPr id="35" name="Text 33"/>
          <p:cNvSpPr txBox="1"/>
          <p:nvPr/>
        </p:nvSpPr>
        <p:spPr>
          <a:xfrm>
            <a:off x="6400800" y="5029200"/>
            <a:ext cx="4983480" cy="731520"/>
          </a:xfrm>
          <a:prstGeom prst="rect">
            <a:avLst/>
          </a:prstGeom>
          <a:noFill/>
          <a:ln/>
        </p:spPr>
        <p:txBody>
          <a:bodyPr wrap="square" lIns="0" tIns="0" rIns="0" bIns="0" rtlCol="0" anchor="t"/>
          <a:lstStyle/>
          <a:p>
            <a:pPr algn="l" indent="0" marL="0">
              <a:buNone/>
            </a:pPr>
            <a:r>
              <a:rPr lang="en-US" sz="1400" dirty="0">
                <a:solidFill>
                  <a:srgbClr val="1B2A2E"/>
                </a:solidFill>
                <a:latin typeface="Calibri" pitchFamily="34" charset="0"/>
                <a:ea typeface="Calibri" pitchFamily="34" charset="-122"/>
                <a:cs typeface="Calibri" pitchFamily="34" charset="-120"/>
              </a:rPr>
              <a:t>Final outcome: IEG &gt; ICR &gt; latest ISR; every rating shown with its date; flags raised</a:t>
            </a:r>
            <a:endParaRPr lang="en-US" sz="14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6E"/>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7680960" cy="822960"/>
          </a:xfrm>
          <a:prstGeom prst="rect">
            <a:avLst/>
          </a:prstGeom>
          <a:noFill/>
          <a:ln/>
        </p:spPr>
        <p:txBody>
          <a:bodyPr wrap="square" lIns="0" tIns="0" rIns="0" bIns="0" rtlCol="0" anchor="ctr"/>
          <a:lstStyle/>
          <a:p>
            <a:pPr algn="l" indent="0" marL="0">
              <a:buNone/>
            </a:pPr>
            <a:r>
              <a:rPr lang="en-US" sz="3000" b="1" dirty="0">
                <a:solidFill>
                  <a:srgbClr val="0F5257"/>
                </a:solidFill>
                <a:latin typeface="Cambria" pitchFamily="34" charset="0"/>
                <a:ea typeface="Cambria" pitchFamily="34" charset="-122"/>
                <a:cs typeface="Cambria" pitchFamily="34" charset="-120"/>
              </a:rPr>
              <a:t>Monitor: early warnings that say “check”</a:t>
            </a:r>
            <a:endParaRPr lang="en-US" sz="3000" dirty="0"/>
          </a:p>
        </p:txBody>
      </p:sp>
      <p:sp>
        <p:nvSpPr>
          <p:cNvPr id="3" name="journey line"/>
          <p:cNvSpPr/>
          <p:nvPr/>
        </p:nvSpPr>
        <p:spPr>
          <a:xfrm>
            <a:off x="8613648" y="612648"/>
            <a:ext cx="2743200" cy="0"/>
          </a:xfrm>
          <a:prstGeom prst="line">
            <a:avLst/>
          </a:prstGeom>
          <a:noFill/>
          <a:ln w="19050">
            <a:solidFill>
              <a:srgbClr val="9DBCB8"/>
            </a:solidFill>
            <a:prstDash val="solid"/>
          </a:ln>
        </p:spPr>
      </p:sp>
      <p:sp>
        <p:nvSpPr>
          <p:cNvPr id="4" name="journey Plan"/>
          <p:cNvSpPr/>
          <p:nvPr/>
        </p:nvSpPr>
        <p:spPr>
          <a:xfrm>
            <a:off x="8458200" y="457200"/>
            <a:ext cx="310896" cy="310896"/>
          </a:xfrm>
          <a:prstGeom prst="ellipse">
            <a:avLst/>
          </a:prstGeom>
          <a:solidFill>
            <a:srgbClr val="FFFFFF"/>
          </a:solidFill>
          <a:ln w="19050">
            <a:solidFill>
              <a:srgbClr val="9DBCB8"/>
            </a:solidFill>
            <a:prstDash val="solid"/>
          </a:ln>
        </p:spPr>
      </p:sp>
      <p:sp>
        <p:nvSpPr>
          <p:cNvPr id="5" name="Text 3"/>
          <p:cNvSpPr txBox="1"/>
          <p:nvPr/>
        </p:nvSpPr>
        <p:spPr>
          <a:xfrm>
            <a:off x="8458200" y="457200"/>
            <a:ext cx="310896" cy="310896"/>
          </a:xfrm>
          <a:prstGeom prst="rect">
            <a:avLst/>
          </a:prstGeom>
          <a:noFill/>
          <a:ln/>
        </p:spPr>
        <p:txBody>
          <a:bodyPr wrap="square" lIns="0" tIns="0" rIns="0" bIns="0" rtlCol="0" anchor="ctr"/>
          <a:lstStyle/>
          <a:p>
            <a:pPr algn="ctr" indent="0" marL="0">
              <a:buNone/>
            </a:pPr>
            <a:r>
              <a:rPr lang="en-US" sz="1100" b="1" dirty="0">
                <a:solidFill>
                  <a:srgbClr val="5B6B6E"/>
                </a:solidFill>
                <a:latin typeface="Calibri" pitchFamily="34" charset="0"/>
                <a:ea typeface="Calibri" pitchFamily="34" charset="-122"/>
                <a:cs typeface="Calibri" pitchFamily="34" charset="-120"/>
              </a:rPr>
              <a:t>1</a:t>
            </a:r>
            <a:endParaRPr lang="en-US" sz="1100" dirty="0"/>
          </a:p>
        </p:txBody>
      </p:sp>
      <p:sp>
        <p:nvSpPr>
          <p:cNvPr id="6" name="Text 4"/>
          <p:cNvSpPr txBox="1"/>
          <p:nvPr/>
        </p:nvSpPr>
        <p:spPr>
          <a:xfrm>
            <a:off x="8156448" y="804672"/>
            <a:ext cx="914400" cy="256032"/>
          </a:xfrm>
          <a:prstGeom prst="rect">
            <a:avLst/>
          </a:prstGeom>
          <a:noFill/>
          <a:ln/>
        </p:spPr>
        <p:txBody>
          <a:bodyPr wrap="square" lIns="0" tIns="0" rIns="0" bIns="0" rtlCol="0" anchor="ctr"/>
          <a:lstStyle/>
          <a:p>
            <a:pPr algn="ctr" indent="0" marL="0">
              <a:buNone/>
            </a:pPr>
            <a:r>
              <a:rPr lang="en-US" sz="1000" dirty="0">
                <a:solidFill>
                  <a:srgbClr val="5B6B6E"/>
                </a:solidFill>
                <a:latin typeface="Calibri" pitchFamily="34" charset="0"/>
                <a:ea typeface="Calibri" pitchFamily="34" charset="-122"/>
                <a:cs typeface="Calibri" pitchFamily="34" charset="-120"/>
              </a:rPr>
              <a:t>Plan</a:t>
            </a:r>
            <a:endParaRPr lang="en-US" sz="1000" dirty="0"/>
          </a:p>
        </p:txBody>
      </p:sp>
      <p:sp>
        <p:nvSpPr>
          <p:cNvPr id="7" name="journey Tender design"/>
          <p:cNvSpPr/>
          <p:nvPr/>
        </p:nvSpPr>
        <p:spPr>
          <a:xfrm>
            <a:off x="9372600" y="457200"/>
            <a:ext cx="310896" cy="310896"/>
          </a:xfrm>
          <a:prstGeom prst="ellipse">
            <a:avLst/>
          </a:prstGeom>
          <a:solidFill>
            <a:srgbClr val="FFFFFF"/>
          </a:solidFill>
          <a:ln w="19050">
            <a:solidFill>
              <a:srgbClr val="9DBCB8"/>
            </a:solidFill>
            <a:prstDash val="solid"/>
          </a:ln>
        </p:spPr>
      </p:sp>
      <p:sp>
        <p:nvSpPr>
          <p:cNvPr id="8" name="Text 6"/>
          <p:cNvSpPr txBox="1"/>
          <p:nvPr/>
        </p:nvSpPr>
        <p:spPr>
          <a:xfrm>
            <a:off x="9372600" y="457200"/>
            <a:ext cx="310896" cy="310896"/>
          </a:xfrm>
          <a:prstGeom prst="rect">
            <a:avLst/>
          </a:prstGeom>
          <a:noFill/>
          <a:ln/>
        </p:spPr>
        <p:txBody>
          <a:bodyPr wrap="square" lIns="0" tIns="0" rIns="0" bIns="0" rtlCol="0" anchor="ctr"/>
          <a:lstStyle/>
          <a:p>
            <a:pPr algn="ctr" indent="0" marL="0">
              <a:buNone/>
            </a:pPr>
            <a:r>
              <a:rPr lang="en-US" sz="1100" b="1" dirty="0">
                <a:solidFill>
                  <a:srgbClr val="5B6B6E"/>
                </a:solidFill>
                <a:latin typeface="Calibri" pitchFamily="34" charset="0"/>
                <a:ea typeface="Calibri" pitchFamily="34" charset="-122"/>
                <a:cs typeface="Calibri" pitchFamily="34" charset="-120"/>
              </a:rPr>
              <a:t>2</a:t>
            </a:r>
            <a:endParaRPr lang="en-US" sz="1100" dirty="0"/>
          </a:p>
        </p:txBody>
      </p:sp>
      <p:sp>
        <p:nvSpPr>
          <p:cNvPr id="9" name="Text 7"/>
          <p:cNvSpPr txBox="1"/>
          <p:nvPr/>
        </p:nvSpPr>
        <p:spPr>
          <a:xfrm>
            <a:off x="9070848" y="804672"/>
            <a:ext cx="914400" cy="256032"/>
          </a:xfrm>
          <a:prstGeom prst="rect">
            <a:avLst/>
          </a:prstGeom>
          <a:noFill/>
          <a:ln/>
        </p:spPr>
        <p:txBody>
          <a:bodyPr wrap="square" lIns="0" tIns="0" rIns="0" bIns="0" rtlCol="0" anchor="ctr"/>
          <a:lstStyle/>
          <a:p>
            <a:pPr algn="ctr" indent="0" marL="0">
              <a:buNone/>
            </a:pPr>
            <a:r>
              <a:rPr lang="en-US" sz="1000" dirty="0">
                <a:solidFill>
                  <a:srgbClr val="5B6B6E"/>
                </a:solidFill>
                <a:latin typeface="Calibri" pitchFamily="34" charset="0"/>
                <a:ea typeface="Calibri" pitchFamily="34" charset="-122"/>
                <a:cs typeface="Calibri" pitchFamily="34" charset="-120"/>
              </a:rPr>
              <a:t>Tender design</a:t>
            </a:r>
            <a:endParaRPr lang="en-US" sz="1000" dirty="0"/>
          </a:p>
        </p:txBody>
      </p:sp>
      <p:sp>
        <p:nvSpPr>
          <p:cNvPr id="10" name="journey Monitor"/>
          <p:cNvSpPr/>
          <p:nvPr/>
        </p:nvSpPr>
        <p:spPr>
          <a:xfrm>
            <a:off x="10287000" y="457200"/>
            <a:ext cx="310896" cy="310896"/>
          </a:xfrm>
          <a:prstGeom prst="ellipse">
            <a:avLst/>
          </a:prstGeom>
          <a:solidFill>
            <a:srgbClr val="F3B23C"/>
          </a:solidFill>
          <a:ln w="19050">
            <a:solidFill>
              <a:srgbClr val="F3B23C"/>
            </a:solidFill>
            <a:prstDash val="solid"/>
          </a:ln>
        </p:spPr>
      </p:sp>
      <p:sp>
        <p:nvSpPr>
          <p:cNvPr id="11" name="Text 9"/>
          <p:cNvSpPr txBox="1"/>
          <p:nvPr/>
        </p:nvSpPr>
        <p:spPr>
          <a:xfrm>
            <a:off x="10287000" y="457200"/>
            <a:ext cx="310896" cy="310896"/>
          </a:xfrm>
          <a:prstGeom prst="rect">
            <a:avLst/>
          </a:prstGeom>
          <a:noFill/>
          <a:ln/>
        </p:spPr>
        <p:txBody>
          <a:bodyPr wrap="square" lIns="0" tIns="0" rIns="0" bIns="0" rtlCol="0" anchor="ctr"/>
          <a:lstStyle/>
          <a:p>
            <a:pPr algn="ctr" indent="0" marL="0">
              <a:buNone/>
            </a:pPr>
            <a:r>
              <a:rPr lang="en-US" sz="1100" b="1" dirty="0">
                <a:solidFill>
                  <a:srgbClr val="1B2A2E"/>
                </a:solidFill>
                <a:latin typeface="Calibri" pitchFamily="34" charset="0"/>
                <a:ea typeface="Calibri" pitchFamily="34" charset="-122"/>
                <a:cs typeface="Calibri" pitchFamily="34" charset="-120"/>
              </a:rPr>
              <a:t>3</a:t>
            </a:r>
            <a:endParaRPr lang="en-US" sz="1100" dirty="0"/>
          </a:p>
        </p:txBody>
      </p:sp>
      <p:sp>
        <p:nvSpPr>
          <p:cNvPr id="12" name="Text 10"/>
          <p:cNvSpPr txBox="1"/>
          <p:nvPr/>
        </p:nvSpPr>
        <p:spPr>
          <a:xfrm>
            <a:off x="9985248" y="804672"/>
            <a:ext cx="914400" cy="256032"/>
          </a:xfrm>
          <a:prstGeom prst="rect">
            <a:avLst/>
          </a:prstGeom>
          <a:noFill/>
          <a:ln/>
        </p:spPr>
        <p:txBody>
          <a:bodyPr wrap="square" lIns="0" tIns="0" rIns="0" bIns="0" rtlCol="0" anchor="ctr"/>
          <a:lstStyle/>
          <a:p>
            <a:pPr algn="ctr" indent="0" marL="0">
              <a:buNone/>
            </a:pPr>
            <a:r>
              <a:rPr lang="en-US" sz="1000" b="1" dirty="0">
                <a:solidFill>
                  <a:srgbClr val="1B2A2E"/>
                </a:solidFill>
                <a:latin typeface="Calibri" pitchFamily="34" charset="0"/>
                <a:ea typeface="Calibri" pitchFamily="34" charset="-122"/>
                <a:cs typeface="Calibri" pitchFamily="34" charset="-120"/>
              </a:rPr>
              <a:t>Monitor</a:t>
            </a:r>
            <a:endParaRPr lang="en-US" sz="1000" dirty="0"/>
          </a:p>
        </p:txBody>
      </p:sp>
      <p:sp>
        <p:nvSpPr>
          <p:cNvPr id="13" name="journey Learn"/>
          <p:cNvSpPr/>
          <p:nvPr/>
        </p:nvSpPr>
        <p:spPr>
          <a:xfrm>
            <a:off x="11201400" y="457200"/>
            <a:ext cx="310896" cy="310896"/>
          </a:xfrm>
          <a:prstGeom prst="ellipse">
            <a:avLst/>
          </a:prstGeom>
          <a:solidFill>
            <a:srgbClr val="FFFFFF"/>
          </a:solidFill>
          <a:ln w="19050">
            <a:solidFill>
              <a:srgbClr val="9DBCB8"/>
            </a:solidFill>
            <a:prstDash val="solid"/>
          </a:ln>
        </p:spPr>
      </p:sp>
      <p:sp>
        <p:nvSpPr>
          <p:cNvPr id="14" name="Text 12"/>
          <p:cNvSpPr txBox="1"/>
          <p:nvPr/>
        </p:nvSpPr>
        <p:spPr>
          <a:xfrm>
            <a:off x="11201400" y="457200"/>
            <a:ext cx="310896" cy="310896"/>
          </a:xfrm>
          <a:prstGeom prst="rect">
            <a:avLst/>
          </a:prstGeom>
          <a:noFill/>
          <a:ln/>
        </p:spPr>
        <p:txBody>
          <a:bodyPr wrap="square" lIns="0" tIns="0" rIns="0" bIns="0" rtlCol="0" anchor="ctr"/>
          <a:lstStyle/>
          <a:p>
            <a:pPr algn="ctr" indent="0" marL="0">
              <a:buNone/>
            </a:pPr>
            <a:r>
              <a:rPr lang="en-US" sz="1100" b="1" dirty="0">
                <a:solidFill>
                  <a:srgbClr val="5B6B6E"/>
                </a:solidFill>
                <a:latin typeface="Calibri" pitchFamily="34" charset="0"/>
                <a:ea typeface="Calibri" pitchFamily="34" charset="-122"/>
                <a:cs typeface="Calibri" pitchFamily="34" charset="-120"/>
              </a:rPr>
              <a:t>4</a:t>
            </a:r>
            <a:endParaRPr lang="en-US" sz="1100" dirty="0"/>
          </a:p>
        </p:txBody>
      </p:sp>
      <p:sp>
        <p:nvSpPr>
          <p:cNvPr id="15" name="Text 13"/>
          <p:cNvSpPr txBox="1"/>
          <p:nvPr/>
        </p:nvSpPr>
        <p:spPr>
          <a:xfrm>
            <a:off x="10899648" y="804672"/>
            <a:ext cx="914400" cy="256032"/>
          </a:xfrm>
          <a:prstGeom prst="rect">
            <a:avLst/>
          </a:prstGeom>
          <a:noFill/>
          <a:ln/>
        </p:spPr>
        <p:txBody>
          <a:bodyPr wrap="square" lIns="0" tIns="0" rIns="0" bIns="0" rtlCol="0" anchor="ctr"/>
          <a:lstStyle/>
          <a:p>
            <a:pPr algn="ctr" indent="0" marL="0">
              <a:buNone/>
            </a:pPr>
            <a:r>
              <a:rPr lang="en-US" sz="1000" dirty="0">
                <a:solidFill>
                  <a:srgbClr val="5B6B6E"/>
                </a:solidFill>
                <a:latin typeface="Calibri" pitchFamily="34" charset="0"/>
                <a:ea typeface="Calibri" pitchFamily="34" charset="-122"/>
                <a:cs typeface="Calibri" pitchFamily="34" charset="-120"/>
              </a:rPr>
              <a:t>Learn</a:t>
            </a:r>
            <a:endParaRPr lang="en-US" sz="1000" dirty="0"/>
          </a:p>
        </p:txBody>
      </p:sp>
      <p:sp>
        <p:nvSpPr>
          <p:cNvPr id="16" name="Text 14"/>
          <p:cNvSpPr txBox="1"/>
          <p:nvPr/>
        </p:nvSpPr>
        <p:spPr>
          <a:xfrm>
            <a:off x="548640" y="1371600"/>
            <a:ext cx="2560320" cy="685800"/>
          </a:xfrm>
          <a:prstGeom prst="rect">
            <a:avLst/>
          </a:prstGeom>
          <a:noFill/>
          <a:ln/>
        </p:spPr>
        <p:txBody>
          <a:bodyPr wrap="square" lIns="0" tIns="0" rIns="0" bIns="0" rtlCol="0" anchor="b"/>
          <a:lstStyle/>
          <a:p>
            <a:pPr indent="0" marL="0">
              <a:buNone/>
            </a:pPr>
            <a:r>
              <a:rPr lang="en-US" sz="4000" b="1" dirty="0">
                <a:solidFill>
                  <a:srgbClr val="0F5257"/>
                </a:solidFill>
                <a:latin typeface="Cambria" pitchFamily="34" charset="0"/>
                <a:ea typeface="Cambria" pitchFamily="34" charset="-122"/>
                <a:cs typeface="Cambria" pitchFamily="34" charset="-120"/>
              </a:rPr>
              <a:t>91</a:t>
            </a:r>
            <a:endParaRPr lang="en-US" sz="4000" dirty="0"/>
          </a:p>
        </p:txBody>
      </p:sp>
      <p:sp>
        <p:nvSpPr>
          <p:cNvPr id="17" name="Text 15"/>
          <p:cNvSpPr txBox="1"/>
          <p:nvPr/>
        </p:nvSpPr>
        <p:spPr>
          <a:xfrm>
            <a:off x="548640" y="2103120"/>
            <a:ext cx="2560320" cy="548640"/>
          </a:xfrm>
          <a:prstGeom prst="rect">
            <a:avLst/>
          </a:prstGeom>
          <a:noFill/>
          <a:ln/>
        </p:spPr>
        <p:txBody>
          <a:bodyPr wrap="square" lIns="0" tIns="0" rIns="0" bIns="0" rtlCol="0" anchor="t"/>
          <a:lstStyle/>
          <a:p>
            <a:pPr indent="0" marL="0">
              <a:buNone/>
            </a:pPr>
            <a:r>
              <a:rPr lang="en-US" sz="1400" dirty="0">
                <a:solidFill>
                  <a:srgbClr val="1B2A2E"/>
                </a:solidFill>
                <a:latin typeface="Calibri" pitchFamily="34" charset="0"/>
                <a:ea typeface="Calibri" pitchFamily="34" charset="-122"/>
                <a:cs typeface="Calibri" pitchFamily="34" charset="-120"/>
              </a:rPr>
              <a:t>tenders past their predicted P80 with no contract</a:t>
            </a:r>
            <a:endParaRPr lang="en-US" sz="1400" dirty="0"/>
          </a:p>
        </p:txBody>
      </p:sp>
      <p:sp>
        <p:nvSpPr>
          <p:cNvPr id="18" name="Text 16"/>
          <p:cNvSpPr txBox="1"/>
          <p:nvPr/>
        </p:nvSpPr>
        <p:spPr>
          <a:xfrm>
            <a:off x="3383280" y="1371600"/>
            <a:ext cx="2560320" cy="685800"/>
          </a:xfrm>
          <a:prstGeom prst="rect">
            <a:avLst/>
          </a:prstGeom>
          <a:noFill/>
          <a:ln/>
        </p:spPr>
        <p:txBody>
          <a:bodyPr wrap="square" lIns="0" tIns="0" rIns="0" bIns="0" rtlCol="0" anchor="b"/>
          <a:lstStyle/>
          <a:p>
            <a:pPr indent="0" marL="0">
              <a:buNone/>
            </a:pPr>
            <a:r>
              <a:rPr lang="en-US" sz="4000" b="1" dirty="0">
                <a:solidFill>
                  <a:srgbClr val="0F5257"/>
                </a:solidFill>
                <a:latin typeface="Cambria" pitchFamily="34" charset="0"/>
                <a:ea typeface="Cambria" pitchFamily="34" charset="-122"/>
                <a:cs typeface="Cambria" pitchFamily="34" charset="-120"/>
              </a:rPr>
              <a:t>16</a:t>
            </a:r>
            <a:endParaRPr lang="en-US" sz="4000" dirty="0"/>
          </a:p>
        </p:txBody>
      </p:sp>
      <p:sp>
        <p:nvSpPr>
          <p:cNvPr id="19" name="Text 17"/>
          <p:cNvSpPr txBox="1"/>
          <p:nvPr/>
        </p:nvSpPr>
        <p:spPr>
          <a:xfrm>
            <a:off x="3383280" y="2103120"/>
            <a:ext cx="2560320" cy="548640"/>
          </a:xfrm>
          <a:prstGeom prst="rect">
            <a:avLst/>
          </a:prstGeom>
          <a:noFill/>
          <a:ln/>
        </p:spPr>
        <p:txBody>
          <a:bodyPr wrap="square" lIns="0" tIns="0" rIns="0" bIns="0" rtlCol="0" anchor="t"/>
          <a:lstStyle/>
          <a:p>
            <a:pPr indent="0" marL="0">
              <a:buNone/>
            </a:pPr>
            <a:r>
              <a:rPr lang="en-US" sz="1400" dirty="0">
                <a:solidFill>
                  <a:srgbClr val="1B2A2E"/>
                </a:solidFill>
                <a:latin typeface="Calibri" pitchFamily="34" charset="0"/>
                <a:ea typeface="Calibri" pitchFamily="34" charset="-122"/>
                <a:cs typeface="Calibri" pitchFamily="34" charset="-120"/>
              </a:rPr>
              <a:t>disbursement-lag flags</a:t>
            </a:r>
            <a:endParaRPr lang="en-US" sz="1400" dirty="0"/>
          </a:p>
        </p:txBody>
      </p:sp>
      <p:sp>
        <p:nvSpPr>
          <p:cNvPr id="20" name="Text 18"/>
          <p:cNvSpPr txBox="1"/>
          <p:nvPr/>
        </p:nvSpPr>
        <p:spPr>
          <a:xfrm>
            <a:off x="6217920" y="1371600"/>
            <a:ext cx="2560320" cy="685800"/>
          </a:xfrm>
          <a:prstGeom prst="rect">
            <a:avLst/>
          </a:prstGeom>
          <a:noFill/>
          <a:ln/>
        </p:spPr>
        <p:txBody>
          <a:bodyPr wrap="square" lIns="0" tIns="0" rIns="0" bIns="0" rtlCol="0" anchor="b"/>
          <a:lstStyle/>
          <a:p>
            <a:pPr indent="0" marL="0">
              <a:buNone/>
            </a:pPr>
            <a:r>
              <a:rPr lang="en-US" sz="4000" b="1" dirty="0">
                <a:solidFill>
                  <a:srgbClr val="0F5257"/>
                </a:solidFill>
                <a:latin typeface="Cambria" pitchFamily="34" charset="0"/>
                <a:ea typeface="Cambria" pitchFamily="34" charset="-122"/>
                <a:cs typeface="Cambria" pitchFamily="34" charset="-120"/>
              </a:rPr>
              <a:t>38</a:t>
            </a:r>
            <a:endParaRPr lang="en-US" sz="4000" dirty="0"/>
          </a:p>
        </p:txBody>
      </p:sp>
      <p:sp>
        <p:nvSpPr>
          <p:cNvPr id="21" name="Text 19"/>
          <p:cNvSpPr txBox="1"/>
          <p:nvPr/>
        </p:nvSpPr>
        <p:spPr>
          <a:xfrm>
            <a:off x="6217920" y="2103120"/>
            <a:ext cx="2560320" cy="548640"/>
          </a:xfrm>
          <a:prstGeom prst="rect">
            <a:avLst/>
          </a:prstGeom>
          <a:noFill/>
          <a:ln/>
        </p:spPr>
        <p:txBody>
          <a:bodyPr wrap="square" lIns="0" tIns="0" rIns="0" bIns="0" rtlCol="0" anchor="t"/>
          <a:lstStyle/>
          <a:p>
            <a:pPr indent="0" marL="0">
              <a:buNone/>
            </a:pPr>
            <a:r>
              <a:rPr lang="en-US" sz="1400" dirty="0">
                <a:solidFill>
                  <a:srgbClr val="1B2A2E"/>
                </a:solidFill>
                <a:latin typeface="Calibri" pitchFamily="34" charset="0"/>
                <a:ea typeface="Calibri" pitchFamily="34" charset="-122"/>
                <a:cs typeface="Calibri" pitchFamily="34" charset="-120"/>
              </a:rPr>
              <a:t>active projects flagged</a:t>
            </a:r>
            <a:endParaRPr lang="en-US" sz="1400" dirty="0"/>
          </a:p>
        </p:txBody>
      </p:sp>
      <p:sp>
        <p:nvSpPr>
          <p:cNvPr id="22" name="Text 20"/>
          <p:cNvSpPr txBox="1"/>
          <p:nvPr/>
        </p:nvSpPr>
        <p:spPr>
          <a:xfrm>
            <a:off x="9052560" y="1371600"/>
            <a:ext cx="2560320" cy="685800"/>
          </a:xfrm>
          <a:prstGeom prst="rect">
            <a:avLst/>
          </a:prstGeom>
          <a:noFill/>
          <a:ln/>
        </p:spPr>
        <p:txBody>
          <a:bodyPr wrap="square" lIns="0" tIns="0" rIns="0" bIns="0" rtlCol="0" anchor="b"/>
          <a:lstStyle/>
          <a:p>
            <a:pPr indent="0" marL="0">
              <a:buNone/>
            </a:pPr>
            <a:r>
              <a:rPr lang="en-US" sz="4000" b="1" dirty="0">
                <a:solidFill>
                  <a:srgbClr val="0F5257"/>
                </a:solidFill>
                <a:latin typeface="Cambria" pitchFamily="34" charset="0"/>
                <a:ea typeface="Cambria" pitchFamily="34" charset="-122"/>
                <a:cs typeface="Cambria" pitchFamily="34" charset="-120"/>
              </a:rPr>
              <a:t>1 · 2</a:t>
            </a:r>
            <a:endParaRPr lang="en-US" sz="4000" dirty="0"/>
          </a:p>
        </p:txBody>
      </p:sp>
      <p:sp>
        <p:nvSpPr>
          <p:cNvPr id="23" name="Text 21"/>
          <p:cNvSpPr txBox="1"/>
          <p:nvPr/>
        </p:nvSpPr>
        <p:spPr>
          <a:xfrm>
            <a:off x="9052560" y="2103120"/>
            <a:ext cx="2560320" cy="548640"/>
          </a:xfrm>
          <a:prstGeom prst="rect">
            <a:avLst/>
          </a:prstGeom>
          <a:noFill/>
          <a:ln/>
        </p:spPr>
        <p:txBody>
          <a:bodyPr wrap="square" lIns="0" tIns="0" rIns="0" bIns="0" rtlCol="0" anchor="t"/>
          <a:lstStyle/>
          <a:p>
            <a:pPr indent="0" marL="0">
              <a:buNone/>
            </a:pPr>
            <a:r>
              <a:rPr lang="en-US" sz="1400" dirty="0">
                <a:solidFill>
                  <a:srgbClr val="1B2A2E"/>
                </a:solidFill>
                <a:latin typeface="Calibri" pitchFamily="34" charset="0"/>
                <a:ea typeface="Calibri" pitchFamily="34" charset="-122"/>
                <a:cs typeface="Calibri" pitchFamily="34" charset="-120"/>
              </a:rPr>
              <a:t>IEG downgrade · ISR volatility conflicts</a:t>
            </a:r>
            <a:endParaRPr lang="en-US" sz="1400" dirty="0"/>
          </a:p>
        </p:txBody>
      </p:sp>
      <p:sp>
        <p:nvSpPr>
          <p:cNvPr id="24" name="card"/>
          <p:cNvSpPr/>
          <p:nvPr/>
        </p:nvSpPr>
        <p:spPr>
          <a:xfrm>
            <a:off x="548640" y="3108960"/>
            <a:ext cx="5486400" cy="2103120"/>
          </a:xfrm>
          <a:prstGeom prst="roundRect">
            <a:avLst>
              <a:gd name="adj" fmla="val 3478"/>
            </a:avLst>
          </a:prstGeom>
          <a:solidFill>
            <a:srgbClr val="EEF4F3"/>
          </a:solidFill>
          <a:ln w="12700">
            <a:solidFill>
              <a:srgbClr val="EEF4F3"/>
            </a:solidFill>
            <a:prstDash val="solid"/>
          </a:ln>
        </p:spPr>
      </p:sp>
      <p:sp>
        <p:nvSpPr>
          <p:cNvPr id="25" name="Text 23"/>
          <p:cNvSpPr txBox="1"/>
          <p:nvPr/>
        </p:nvSpPr>
        <p:spPr>
          <a:xfrm>
            <a:off x="777240" y="3246120"/>
            <a:ext cx="5029200" cy="365760"/>
          </a:xfrm>
          <a:prstGeom prst="rect">
            <a:avLst/>
          </a:prstGeom>
          <a:noFill/>
          <a:ln/>
        </p:spPr>
        <p:txBody>
          <a:bodyPr wrap="square" lIns="0" tIns="0" rIns="0" bIns="0" rtlCol="0" anchor="t"/>
          <a:lstStyle/>
          <a:p>
            <a:pPr algn="l" indent="0" marL="0">
              <a:buNone/>
            </a:pPr>
            <a:r>
              <a:rPr lang="en-US" sz="1600" b="1" dirty="0">
                <a:solidFill>
                  <a:srgbClr val="0F5257"/>
                </a:solidFill>
                <a:latin typeface="Calibri" pitchFamily="34" charset="0"/>
                <a:ea typeface="Calibri" pitchFamily="34" charset="-122"/>
                <a:cs typeface="Calibri" pitchFamily="34" charset="-120"/>
              </a:rPr>
              <a:t>Each flag shows its evidence</a:t>
            </a:r>
            <a:endParaRPr lang="en-US" sz="1600" dirty="0"/>
          </a:p>
        </p:txBody>
      </p:sp>
      <p:sp>
        <p:nvSpPr>
          <p:cNvPr id="26" name="Text 24"/>
          <p:cNvSpPr txBox="1"/>
          <p:nvPr/>
        </p:nvSpPr>
        <p:spPr>
          <a:xfrm>
            <a:off x="777240" y="3703320"/>
            <a:ext cx="5120640" cy="1463040"/>
          </a:xfrm>
          <a:prstGeom prst="rect">
            <a:avLst/>
          </a:prstGeom>
          <a:noFill/>
          <a:ln/>
        </p:spPr>
        <p:txBody>
          <a:bodyPr wrap="square" lIns="0" tIns="0" rIns="0" bIns="0" rtlCol="0" anchor="t"/>
          <a:lstStyle/>
          <a:p>
            <a:pPr marL="203200" indent="-203200">
              <a:spcAft>
                <a:spcPts val="800"/>
              </a:spcAft>
              <a:buSzPct val="100000"/>
              <a:buChar char="•"/>
            </a:pPr>
            <a:r>
              <a:rPr lang="en-US" sz="1400" dirty="0">
                <a:solidFill>
                  <a:srgbClr val="1B2A2E"/>
                </a:solidFill>
                <a:latin typeface="Calibri" pitchFamily="34" charset="0"/>
                <a:ea typeface="Calibri" pitchFamily="34" charset="-122"/>
                <a:cs typeface="Calibri" pitchFamily="34" charset="-120"/>
              </a:rPr>
              <a:t>Tender: notice date, predicted P50 / P80, days overdue</a:t>
            </a:r>
            <a:endParaRPr lang="en-US" sz="1400" dirty="0"/>
          </a:p>
          <a:p>
            <a:pPr marL="203200" indent="-203200">
              <a:spcAft>
                <a:spcPts val="800"/>
              </a:spcAft>
              <a:buSzPct val="100000"/>
              <a:buChar char="•"/>
            </a:pPr>
            <a:r>
              <a:rPr lang="en-US" sz="1400" dirty="0">
                <a:solidFill>
                  <a:srgbClr val="1B2A2E"/>
                </a:solidFill>
                <a:latin typeface="Calibri" pitchFamily="34" charset="0"/>
                <a:ea typeface="Calibri" pitchFamily="34" charset="-122"/>
                <a:cs typeface="Calibri" pitchFamily="34" charset="-120"/>
              </a:rPr>
              <a:t>Project: disbursement vs similar projects, latest ISR ratings</a:t>
            </a:r>
            <a:endParaRPr lang="en-US" sz="1400" dirty="0"/>
          </a:p>
          <a:p>
            <a:pPr marL="203200" indent="-203200">
              <a:spcAft>
                <a:spcPts val="800"/>
              </a:spcAft>
              <a:buSzPct val="100000"/>
              <a:buChar char="•"/>
            </a:pPr>
            <a:r>
              <a:rPr lang="en-US" sz="1400" dirty="0">
                <a:solidFill>
                  <a:srgbClr val="1B2A2E"/>
                </a:solidFill>
                <a:latin typeface="Calibri" pitchFamily="34" charset="0"/>
                <a:ea typeface="Calibri" pitchFamily="34" charset="-122"/>
                <a:cs typeface="Calibri" pitchFamily="34" charset="-120"/>
              </a:rPr>
              <a:t>Reported problems: amendments, delays, extensions with quotes</a:t>
            </a:r>
            <a:endParaRPr lang="en-US" sz="1400" dirty="0"/>
          </a:p>
        </p:txBody>
      </p:sp>
      <p:sp>
        <p:nvSpPr>
          <p:cNvPr id="27" name="card"/>
          <p:cNvSpPr/>
          <p:nvPr/>
        </p:nvSpPr>
        <p:spPr>
          <a:xfrm>
            <a:off x="6309360" y="3108960"/>
            <a:ext cx="5303520" cy="2103120"/>
          </a:xfrm>
          <a:prstGeom prst="roundRect">
            <a:avLst>
              <a:gd name="adj" fmla="val 3478"/>
            </a:avLst>
          </a:prstGeom>
          <a:solidFill>
            <a:srgbClr val="FDF1D8"/>
          </a:solidFill>
          <a:ln w="12700">
            <a:solidFill>
              <a:srgbClr val="FDF1D8"/>
            </a:solidFill>
            <a:prstDash val="solid"/>
          </a:ln>
        </p:spPr>
      </p:sp>
      <p:sp>
        <p:nvSpPr>
          <p:cNvPr id="28" name="Text 26"/>
          <p:cNvSpPr txBox="1"/>
          <p:nvPr/>
        </p:nvSpPr>
        <p:spPr>
          <a:xfrm>
            <a:off x="6492240" y="3218688"/>
            <a:ext cx="4937760" cy="1883664"/>
          </a:xfrm>
          <a:prstGeom prst="rect">
            <a:avLst/>
          </a:prstGeom>
          <a:noFill/>
          <a:ln/>
        </p:spPr>
        <p:txBody>
          <a:bodyPr wrap="square" lIns="0" tIns="0" rIns="0" bIns="0" rtlCol="0" anchor="ctr"/>
          <a:lstStyle/>
          <a:p>
            <a:pPr indent="0" marL="0">
              <a:buNone/>
            </a:pPr>
            <a:r>
              <a:rPr lang="en-US" sz="1300" b="1" dirty="0">
                <a:solidFill>
                  <a:srgbClr val="8A5A00"/>
                </a:solidFill>
                <a:latin typeface="Calibri" pitchFamily="34" charset="0"/>
                <a:ea typeface="Calibri" pitchFamily="34" charset="-122"/>
                <a:cs typeface="Calibri" pitchFamily="34" charset="-120"/>
              </a:rPr>
              <a:t>Stated limitation  </a:t>
            </a:r>
            <a:pPr indent="0" marL="0">
              <a:buNone/>
            </a:pPr>
            <a:r>
              <a:rPr lang="en-US" sz="1300" dirty="0">
                <a:solidFill>
                  <a:srgbClr val="1B2A2E"/>
                </a:solidFill>
                <a:latin typeface="Calibri" pitchFamily="34" charset="0"/>
                <a:ea typeface="Calibri" pitchFamily="34" charset="-122"/>
                <a:cs typeface="Calibri" pitchFamily="34" charset="-120"/>
              </a:rPr>
              <a:t>an overdue flag means “check”, not “late”: only about a third of contracts join to a notice, so a missing contract may be a join failure. The backtest has only 3 projects; the amendment indicator does not track extracted events (r ≈ −0.08).</a:t>
            </a:r>
            <a:endParaRPr lang="en-US" sz="13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6E"/>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7680960" cy="822960"/>
          </a:xfrm>
          <a:prstGeom prst="rect">
            <a:avLst/>
          </a:prstGeom>
          <a:noFill/>
          <a:ln/>
        </p:spPr>
        <p:txBody>
          <a:bodyPr wrap="square" lIns="0" tIns="0" rIns="0" bIns="0" rtlCol="0" anchor="ctr"/>
          <a:lstStyle/>
          <a:p>
            <a:pPr algn="l" indent="0" marL="0">
              <a:buNone/>
            </a:pPr>
            <a:r>
              <a:rPr lang="en-US" sz="3000" b="1" dirty="0">
                <a:solidFill>
                  <a:srgbClr val="0F5257"/>
                </a:solidFill>
                <a:latin typeface="Cambria" pitchFamily="34" charset="0"/>
                <a:ea typeface="Cambria" pitchFamily="34" charset="-122"/>
                <a:cs typeface="Cambria" pitchFamily="34" charset="-120"/>
              </a:rPr>
              <a:t>Evaluation, measured honestly</a:t>
            </a:r>
            <a:endParaRPr lang="en-US" sz="30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6675120" cy="914400"/>
        </p:xfrm>
        <a:graphic>
          <a:graphicData uri="http://schemas.openxmlformats.org/drawingml/2006/table">
            <a:tbl>
              <a:tblPr/>
              <a:tblGrid>
                <a:gridCol w="3108960"/>
                <a:gridCol w="914400"/>
                <a:gridCol w="1280160"/>
                <a:gridCol w="1371600"/>
              </a:tblGrid>
              <a:tr h="45720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Test half, 26 questions</a:t>
                      </a:r>
                      <a:endParaRPr lang="en-US" sz="1400" dirty="0">
                        <a:latin typeface="Calibri" charset="0"/>
                        <a:ea typeface="Calibri" charset="0"/>
                        <a:cs typeface="Calibri" charset="0"/>
                      </a:endParaRPr>
                    </a:p>
                  </a:txBody>
                  <a:tcPr marL="109728" marR="109728" marT="0" marB="0" anchor="ctr">
                    <a:lnL w="9525" cap="flat" cmpd="sng" algn="ctr">
                      <a:solidFill>
                        <a:srgbClr val="D6E2E0"/>
                      </a:solidFill>
                      <a:prstDash val="solid"/>
                      <a:round/>
                      <a:headEnd type="none" w="med" len="med"/>
                      <a:tailEnd type="none" w="med" len="med"/>
                    </a:lnL>
                    <a:lnR w="9525" cap="flat" cmpd="sng" algn="ctr">
                      <a:solidFill>
                        <a:srgbClr val="D6E2E0"/>
                      </a:solidFill>
                      <a:prstDash val="solid"/>
                      <a:round/>
                      <a:headEnd type="none" w="med" len="med"/>
                      <a:tailEnd type="none" w="med" len="med"/>
                    </a:lnR>
                    <a:lnT w="9525" cap="flat" cmpd="sng" algn="ctr">
                      <a:solidFill>
                        <a:srgbClr val="D6E2E0"/>
                      </a:solidFill>
                      <a:prstDash val="solid"/>
                      <a:round/>
                      <a:headEnd type="none" w="med" len="med"/>
                      <a:tailEnd type="none" w="med" len="med"/>
                    </a:lnT>
                    <a:lnB w="9525" cap="flat" cmpd="sng" algn="ctr">
                      <a:solidFill>
                        <a:srgbClr val="D6E2E0"/>
                      </a:solidFill>
                      <a:prstDash val="solid"/>
                      <a:round/>
                      <a:headEnd type="none" w="med" len="med"/>
                      <a:tailEnd type="none" w="med" len="med"/>
                    </a:lnB>
                    <a:solidFill>
                      <a:srgbClr val="0F5257"/>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Before</a:t>
                      </a:r>
                      <a:endParaRPr lang="en-US" sz="1400" dirty="0">
                        <a:latin typeface="Calibri" charset="0"/>
                        <a:ea typeface="Calibri" charset="0"/>
                        <a:cs typeface="Calibri" charset="0"/>
                      </a:endParaRPr>
                    </a:p>
                  </a:txBody>
                  <a:tcPr marL="109728" marR="109728" marT="0" marB="0" anchor="ctr">
                    <a:lnL w="9525" cap="flat" cmpd="sng" algn="ctr">
                      <a:solidFill>
                        <a:srgbClr val="D6E2E0"/>
                      </a:solidFill>
                      <a:prstDash val="solid"/>
                      <a:round/>
                      <a:headEnd type="none" w="med" len="med"/>
                      <a:tailEnd type="none" w="med" len="med"/>
                    </a:lnL>
                    <a:lnR w="9525" cap="flat" cmpd="sng" algn="ctr">
                      <a:solidFill>
                        <a:srgbClr val="D6E2E0"/>
                      </a:solidFill>
                      <a:prstDash val="solid"/>
                      <a:round/>
                      <a:headEnd type="none" w="med" len="med"/>
                      <a:tailEnd type="none" w="med" len="med"/>
                    </a:lnR>
                    <a:lnT w="9525" cap="flat" cmpd="sng" algn="ctr">
                      <a:solidFill>
                        <a:srgbClr val="D6E2E0"/>
                      </a:solidFill>
                      <a:prstDash val="solid"/>
                      <a:round/>
                      <a:headEnd type="none" w="med" len="med"/>
                      <a:tailEnd type="none" w="med" len="med"/>
                    </a:lnT>
                    <a:lnB w="9525" cap="flat" cmpd="sng" algn="ctr">
                      <a:solidFill>
                        <a:srgbClr val="D6E2E0"/>
                      </a:solidFill>
                      <a:prstDash val="solid"/>
                      <a:round/>
                      <a:headEnd type="none" w="med" len="med"/>
                      <a:tailEnd type="none" w="med" len="med"/>
                    </a:lnB>
                    <a:solidFill>
                      <a:srgbClr val="0F5257"/>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After translation</a:t>
                      </a:r>
                      <a:endParaRPr lang="en-US" sz="1400" dirty="0">
                        <a:latin typeface="Calibri" charset="0"/>
                        <a:ea typeface="Calibri" charset="0"/>
                        <a:cs typeface="Calibri" charset="0"/>
                      </a:endParaRPr>
                    </a:p>
                  </a:txBody>
                  <a:tcPr marL="109728" marR="109728" marT="0" marB="0" anchor="ctr">
                    <a:lnL w="9525" cap="flat" cmpd="sng" algn="ctr">
                      <a:solidFill>
                        <a:srgbClr val="D6E2E0"/>
                      </a:solidFill>
                      <a:prstDash val="solid"/>
                      <a:round/>
                      <a:headEnd type="none" w="med" len="med"/>
                      <a:tailEnd type="none" w="med" len="med"/>
                    </a:lnL>
                    <a:lnR w="9525" cap="flat" cmpd="sng" algn="ctr">
                      <a:solidFill>
                        <a:srgbClr val="D6E2E0"/>
                      </a:solidFill>
                      <a:prstDash val="solid"/>
                      <a:round/>
                      <a:headEnd type="none" w="med" len="med"/>
                      <a:tailEnd type="none" w="med" len="med"/>
                    </a:lnR>
                    <a:lnT w="9525" cap="flat" cmpd="sng" algn="ctr">
                      <a:solidFill>
                        <a:srgbClr val="D6E2E0"/>
                      </a:solidFill>
                      <a:prstDash val="solid"/>
                      <a:round/>
                      <a:headEnd type="none" w="med" len="med"/>
                      <a:tailEnd type="none" w="med" len="med"/>
                    </a:lnT>
                    <a:lnB w="9525" cap="flat" cmpd="sng" algn="ctr">
                      <a:solidFill>
                        <a:srgbClr val="D6E2E0"/>
                      </a:solidFill>
                      <a:prstDash val="solid"/>
                      <a:round/>
                      <a:headEnd type="none" w="med" len="med"/>
                      <a:tailEnd type="none" w="med" len="med"/>
                    </a:lnB>
                    <a:solidFill>
                      <a:srgbClr val="0F5257"/>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Final</a:t>
                      </a:r>
                      <a:endParaRPr lang="en-US" sz="1400" dirty="0">
                        <a:latin typeface="Calibri" charset="0"/>
                        <a:ea typeface="Calibri" charset="0"/>
                        <a:cs typeface="Calibri" charset="0"/>
                      </a:endParaRPr>
                    </a:p>
                  </a:txBody>
                  <a:tcPr marL="109728" marR="109728" marT="0" marB="0" anchor="ctr">
                    <a:lnL w="9525" cap="flat" cmpd="sng" algn="ctr">
                      <a:solidFill>
                        <a:srgbClr val="D6E2E0"/>
                      </a:solidFill>
                      <a:prstDash val="solid"/>
                      <a:round/>
                      <a:headEnd type="none" w="med" len="med"/>
                      <a:tailEnd type="none" w="med" len="med"/>
                    </a:lnL>
                    <a:lnR w="9525" cap="flat" cmpd="sng" algn="ctr">
                      <a:solidFill>
                        <a:srgbClr val="D6E2E0"/>
                      </a:solidFill>
                      <a:prstDash val="solid"/>
                      <a:round/>
                      <a:headEnd type="none" w="med" len="med"/>
                      <a:tailEnd type="none" w="med" len="med"/>
                    </a:lnR>
                    <a:lnT w="9525" cap="flat" cmpd="sng" algn="ctr">
                      <a:solidFill>
                        <a:srgbClr val="D6E2E0"/>
                      </a:solidFill>
                      <a:prstDash val="solid"/>
                      <a:round/>
                      <a:headEnd type="none" w="med" len="med"/>
                      <a:tailEnd type="none" w="med" len="med"/>
                    </a:lnT>
                    <a:lnB w="9525" cap="flat" cmpd="sng" algn="ctr">
                      <a:solidFill>
                        <a:srgbClr val="D6E2E0"/>
                      </a:solidFill>
                      <a:prstDash val="solid"/>
                      <a:round/>
                      <a:headEnd type="none" w="med" len="med"/>
                      <a:tailEnd type="none" w="med" len="med"/>
                    </a:lnB>
                    <a:solidFill>
                      <a:srgbClr val="0F5257"/>
                    </a:solidFill>
                  </a:tcPr>
                </a:tc>
              </a:tr>
              <a:tr h="457200">
                <a:tc>
                  <a:txBody>
                    <a:bodyPr/>
                    <a:lstStyle/>
                    <a:p>
                      <a:pPr indent="0" marL="0">
                        <a:buNone/>
                      </a:pPr>
                      <a:r>
                        <a:rPr lang="en-US" sz="1400" dirty="0">
                          <a:solidFill>
                            <a:srgbClr val="1B2A2E"/>
                          </a:solidFill>
                          <a:latin typeface="Calibri" pitchFamily="34" charset="0"/>
                          <a:ea typeface="Calibri" pitchFamily="34" charset="-122"/>
                          <a:cs typeface="Calibri" pitchFamily="34" charset="-120"/>
                        </a:rPr>
                        <a:t>Recall@5 strict (gold passage)</a:t>
                      </a:r>
                      <a:endParaRPr lang="en-US" sz="1400" dirty="0">
                        <a:latin typeface="Calibri" charset="0"/>
                        <a:ea typeface="Calibri" charset="0"/>
                        <a:cs typeface="Calibri" charset="0"/>
                      </a:endParaRPr>
                    </a:p>
                  </a:txBody>
                  <a:tcPr marL="109728" marR="109728" marT="0" marB="0" anchor="ctr">
                    <a:lnL w="9525" cap="flat" cmpd="sng" algn="ctr">
                      <a:solidFill>
                        <a:srgbClr val="D6E2E0"/>
                      </a:solidFill>
                      <a:prstDash val="solid"/>
                      <a:round/>
                      <a:headEnd type="none" w="med" len="med"/>
                      <a:tailEnd type="none" w="med" len="med"/>
                    </a:lnL>
                    <a:lnR w="9525" cap="flat" cmpd="sng" algn="ctr">
                      <a:solidFill>
                        <a:srgbClr val="D6E2E0"/>
                      </a:solidFill>
                      <a:prstDash val="solid"/>
                      <a:round/>
                      <a:headEnd type="none" w="med" len="med"/>
                      <a:tailEnd type="none" w="med" len="med"/>
                    </a:lnR>
                    <a:lnT w="9525" cap="flat" cmpd="sng" algn="ctr">
                      <a:solidFill>
                        <a:srgbClr val="D6E2E0"/>
                      </a:solidFill>
                      <a:prstDash val="solid"/>
                      <a:round/>
                      <a:headEnd type="none" w="med" len="med"/>
                      <a:tailEnd type="none" w="med" len="med"/>
                    </a:lnT>
                    <a:lnB w="9525" cap="flat" cmpd="sng" algn="ctr">
                      <a:solidFill>
                        <a:srgbClr val="D6E2E0"/>
                      </a:solidFill>
                      <a:prstDash val="solid"/>
                      <a:round/>
                      <a:headEnd type="none" w="med" len="med"/>
                      <a:tailEnd type="none" w="med" len="med"/>
                    </a:lnB>
                    <a:solidFill>
                      <a:srgbClr val="E3EFEC"/>
                    </a:solidFill>
                  </a:tcPr>
                </a:tc>
                <a:tc>
                  <a:txBody>
                    <a:bodyPr/>
                    <a:lstStyle/>
                    <a:p>
                      <a:pPr indent="0" marL="0">
                        <a:buNone/>
                      </a:pPr>
                      <a:r>
                        <a:rPr lang="en-US" sz="1400" dirty="0">
                          <a:solidFill>
                            <a:srgbClr val="1B2A2E"/>
                          </a:solidFill>
                          <a:latin typeface="Calibri" pitchFamily="34" charset="0"/>
                          <a:ea typeface="Calibri" pitchFamily="34" charset="-122"/>
                          <a:cs typeface="Calibri" pitchFamily="34" charset="-120"/>
                        </a:rPr>
                        <a:t>0.52</a:t>
                      </a:r>
                      <a:endParaRPr lang="en-US" sz="1400" dirty="0">
                        <a:latin typeface="Calibri" charset="0"/>
                        <a:ea typeface="Calibri" charset="0"/>
                        <a:cs typeface="Calibri" charset="0"/>
                      </a:endParaRPr>
                    </a:p>
                  </a:txBody>
                  <a:tcPr marL="109728" marR="109728" marT="0" marB="0" anchor="ctr">
                    <a:lnL w="9525" cap="flat" cmpd="sng" algn="ctr">
                      <a:solidFill>
                        <a:srgbClr val="D6E2E0"/>
                      </a:solidFill>
                      <a:prstDash val="solid"/>
                      <a:round/>
                      <a:headEnd type="none" w="med" len="med"/>
                      <a:tailEnd type="none" w="med" len="med"/>
                    </a:lnL>
                    <a:lnR w="9525" cap="flat" cmpd="sng" algn="ctr">
                      <a:solidFill>
                        <a:srgbClr val="D6E2E0"/>
                      </a:solidFill>
                      <a:prstDash val="solid"/>
                      <a:round/>
                      <a:headEnd type="none" w="med" len="med"/>
                      <a:tailEnd type="none" w="med" len="med"/>
                    </a:lnR>
                    <a:lnT w="9525" cap="flat" cmpd="sng" algn="ctr">
                      <a:solidFill>
                        <a:srgbClr val="D6E2E0"/>
                      </a:solidFill>
                      <a:prstDash val="solid"/>
                      <a:round/>
                      <a:headEnd type="none" w="med" len="med"/>
                      <a:tailEnd type="none" w="med" len="med"/>
                    </a:lnT>
                    <a:lnB w="9525" cap="flat" cmpd="sng" algn="ctr">
                      <a:solidFill>
                        <a:srgbClr val="D6E2E0"/>
                      </a:solidFill>
                      <a:prstDash val="solid"/>
                      <a:round/>
                      <a:headEnd type="none" w="med" len="med"/>
                      <a:tailEnd type="none" w="med" len="med"/>
                    </a:lnB>
                    <a:solidFill>
                      <a:srgbClr val="E3EFEC"/>
                    </a:solidFill>
                  </a:tcPr>
                </a:tc>
                <a:tc>
                  <a:txBody>
                    <a:bodyPr/>
                    <a:lstStyle/>
                    <a:p>
                      <a:pPr indent="0" marL="0">
                        <a:buNone/>
                      </a:pPr>
                      <a:r>
                        <a:rPr lang="en-US" sz="1400" dirty="0">
                          <a:solidFill>
                            <a:srgbClr val="1B2A2E"/>
                          </a:solidFill>
                          <a:latin typeface="Calibri" pitchFamily="34" charset="0"/>
                          <a:ea typeface="Calibri" pitchFamily="34" charset="-122"/>
                          <a:cs typeface="Calibri" pitchFamily="34" charset="-120"/>
                        </a:rPr>
                        <a:t>0.52</a:t>
                      </a:r>
                      <a:endParaRPr lang="en-US" sz="1400" dirty="0">
                        <a:latin typeface="Calibri" charset="0"/>
                        <a:ea typeface="Calibri" charset="0"/>
                        <a:cs typeface="Calibri" charset="0"/>
                      </a:endParaRPr>
                    </a:p>
                  </a:txBody>
                  <a:tcPr marL="109728" marR="109728" marT="0" marB="0" anchor="ctr">
                    <a:lnL w="9525" cap="flat" cmpd="sng" algn="ctr">
                      <a:solidFill>
                        <a:srgbClr val="D6E2E0"/>
                      </a:solidFill>
                      <a:prstDash val="solid"/>
                      <a:round/>
                      <a:headEnd type="none" w="med" len="med"/>
                      <a:tailEnd type="none" w="med" len="med"/>
                    </a:lnL>
                    <a:lnR w="9525" cap="flat" cmpd="sng" algn="ctr">
                      <a:solidFill>
                        <a:srgbClr val="D6E2E0"/>
                      </a:solidFill>
                      <a:prstDash val="solid"/>
                      <a:round/>
                      <a:headEnd type="none" w="med" len="med"/>
                      <a:tailEnd type="none" w="med" len="med"/>
                    </a:lnR>
                    <a:lnT w="9525" cap="flat" cmpd="sng" algn="ctr">
                      <a:solidFill>
                        <a:srgbClr val="D6E2E0"/>
                      </a:solidFill>
                      <a:prstDash val="solid"/>
                      <a:round/>
                      <a:headEnd type="none" w="med" len="med"/>
                      <a:tailEnd type="none" w="med" len="med"/>
                    </a:lnT>
                    <a:lnB w="9525" cap="flat" cmpd="sng" algn="ctr">
                      <a:solidFill>
                        <a:srgbClr val="D6E2E0"/>
                      </a:solidFill>
                      <a:prstDash val="solid"/>
                      <a:round/>
                      <a:headEnd type="none" w="med" len="med"/>
                      <a:tailEnd type="none" w="med" len="med"/>
                    </a:lnB>
                    <a:solidFill>
                      <a:srgbClr val="E3EFEC"/>
                    </a:solidFill>
                  </a:tcPr>
                </a:tc>
                <a:tc>
                  <a:txBody>
                    <a:bodyPr/>
                    <a:lstStyle/>
                    <a:p>
                      <a:pPr indent="0" marL="0">
                        <a:buNone/>
                      </a:pPr>
                      <a:r>
                        <a:rPr lang="en-US" sz="1400" b="1" dirty="0">
                          <a:solidFill>
                            <a:srgbClr val="1B2A2E"/>
                          </a:solidFill>
                          <a:latin typeface="Calibri" pitchFamily="34" charset="0"/>
                          <a:ea typeface="Calibri" pitchFamily="34" charset="-122"/>
                          <a:cs typeface="Calibri" pitchFamily="34" charset="-120"/>
                        </a:rPr>
                        <a:t>0.57</a:t>
                      </a:r>
                      <a:endParaRPr lang="en-US" sz="1400" dirty="0">
                        <a:latin typeface="Calibri" charset="0"/>
                        <a:ea typeface="Calibri" charset="0"/>
                        <a:cs typeface="Calibri" charset="0"/>
                      </a:endParaRPr>
                    </a:p>
                  </a:txBody>
                  <a:tcPr marL="109728" marR="109728" marT="0" marB="0" anchor="ctr">
                    <a:lnL w="9525" cap="flat" cmpd="sng" algn="ctr">
                      <a:solidFill>
                        <a:srgbClr val="D6E2E0"/>
                      </a:solidFill>
                      <a:prstDash val="solid"/>
                      <a:round/>
                      <a:headEnd type="none" w="med" len="med"/>
                      <a:tailEnd type="none" w="med" len="med"/>
                    </a:lnL>
                    <a:lnR w="9525" cap="flat" cmpd="sng" algn="ctr">
                      <a:solidFill>
                        <a:srgbClr val="D6E2E0"/>
                      </a:solidFill>
                      <a:prstDash val="solid"/>
                      <a:round/>
                      <a:headEnd type="none" w="med" len="med"/>
                      <a:tailEnd type="none" w="med" len="med"/>
                    </a:lnR>
                    <a:lnT w="9525" cap="flat" cmpd="sng" algn="ctr">
                      <a:solidFill>
                        <a:srgbClr val="D6E2E0"/>
                      </a:solidFill>
                      <a:prstDash val="solid"/>
                      <a:round/>
                      <a:headEnd type="none" w="med" len="med"/>
                      <a:tailEnd type="none" w="med" len="med"/>
                    </a:lnT>
                    <a:lnB w="9525" cap="flat" cmpd="sng" algn="ctr">
                      <a:solidFill>
                        <a:srgbClr val="D6E2E0"/>
                      </a:solidFill>
                      <a:prstDash val="solid"/>
                      <a:round/>
                      <a:headEnd type="none" w="med" len="med"/>
                      <a:tailEnd type="none" w="med" len="med"/>
                    </a:lnB>
                    <a:solidFill>
                      <a:srgbClr val="E3EFEC"/>
                    </a:solidFill>
                  </a:tcPr>
                </a:tc>
              </a:tr>
              <a:tr h="457200">
                <a:tc>
                  <a:txBody>
                    <a:bodyPr/>
                    <a:lstStyle/>
                    <a:p>
                      <a:pPr indent="0" marL="0">
                        <a:buNone/>
                      </a:pPr>
                      <a:r>
                        <a:rPr lang="en-US" sz="1400" dirty="0">
                          <a:solidFill>
                            <a:srgbClr val="1B2A2E"/>
                          </a:solidFill>
                          <a:latin typeface="Calibri" pitchFamily="34" charset="0"/>
                          <a:ea typeface="Calibri" pitchFamily="34" charset="-122"/>
                          <a:cs typeface="Calibri" pitchFamily="34" charset="-120"/>
                        </a:rPr>
                        <a:t>Recall@5 lenient (any passage with the answer)</a:t>
                      </a:r>
                      <a:endParaRPr lang="en-US" sz="1400" dirty="0">
                        <a:latin typeface="Calibri" charset="0"/>
                        <a:ea typeface="Calibri" charset="0"/>
                        <a:cs typeface="Calibri" charset="0"/>
                      </a:endParaRPr>
                    </a:p>
                  </a:txBody>
                  <a:tcPr marL="109728" marR="109728" marT="0" marB="0" anchor="ctr">
                    <a:lnL w="9525" cap="flat" cmpd="sng" algn="ctr">
                      <a:solidFill>
                        <a:srgbClr val="D6E2E0"/>
                      </a:solidFill>
                      <a:prstDash val="solid"/>
                      <a:round/>
                      <a:headEnd type="none" w="med" len="med"/>
                      <a:tailEnd type="none" w="med" len="med"/>
                    </a:lnL>
                    <a:lnR w="9525" cap="flat" cmpd="sng" algn="ctr">
                      <a:solidFill>
                        <a:srgbClr val="D6E2E0"/>
                      </a:solidFill>
                      <a:prstDash val="solid"/>
                      <a:round/>
                      <a:headEnd type="none" w="med" len="med"/>
                      <a:tailEnd type="none" w="med" len="med"/>
                    </a:lnR>
                    <a:lnT w="9525" cap="flat" cmpd="sng" algn="ctr">
                      <a:solidFill>
                        <a:srgbClr val="D6E2E0"/>
                      </a:solidFill>
                      <a:prstDash val="solid"/>
                      <a:round/>
                      <a:headEnd type="none" w="med" len="med"/>
                      <a:tailEnd type="none" w="med" len="med"/>
                    </a:lnT>
                    <a:lnB w="9525" cap="flat" cmpd="sng" algn="ctr">
                      <a:solidFill>
                        <a:srgbClr val="D6E2E0"/>
                      </a:solidFill>
                      <a:prstDash val="solid"/>
                      <a:round/>
                      <a:headEnd type="none" w="med" len="med"/>
                      <a:tailEnd type="none" w="med" len="med"/>
                    </a:lnB>
                    <a:solidFill>
                      <a:srgbClr val="E3EFEC"/>
                    </a:solidFill>
                  </a:tcPr>
                </a:tc>
                <a:tc>
                  <a:txBody>
                    <a:bodyPr/>
                    <a:lstStyle/>
                    <a:p>
                      <a:pPr indent="0" marL="0">
                        <a:buNone/>
                      </a:pPr>
                      <a:r>
                        <a:rPr lang="en-US" sz="1400" dirty="0">
                          <a:solidFill>
                            <a:srgbClr val="1B2A2E"/>
                          </a:solidFill>
                          <a:latin typeface="Calibri" pitchFamily="34" charset="0"/>
                          <a:ea typeface="Calibri" pitchFamily="34" charset="-122"/>
                          <a:cs typeface="Calibri" pitchFamily="34" charset="-120"/>
                        </a:rPr>
                        <a:t>0.78</a:t>
                      </a:r>
                      <a:endParaRPr lang="en-US" sz="1400" dirty="0">
                        <a:latin typeface="Calibri" charset="0"/>
                        <a:ea typeface="Calibri" charset="0"/>
                        <a:cs typeface="Calibri" charset="0"/>
                      </a:endParaRPr>
                    </a:p>
                  </a:txBody>
                  <a:tcPr marL="109728" marR="109728" marT="0" marB="0" anchor="ctr">
                    <a:lnL w="9525" cap="flat" cmpd="sng" algn="ctr">
                      <a:solidFill>
                        <a:srgbClr val="D6E2E0"/>
                      </a:solidFill>
                      <a:prstDash val="solid"/>
                      <a:round/>
                      <a:headEnd type="none" w="med" len="med"/>
                      <a:tailEnd type="none" w="med" len="med"/>
                    </a:lnL>
                    <a:lnR w="9525" cap="flat" cmpd="sng" algn="ctr">
                      <a:solidFill>
                        <a:srgbClr val="D6E2E0"/>
                      </a:solidFill>
                      <a:prstDash val="solid"/>
                      <a:round/>
                      <a:headEnd type="none" w="med" len="med"/>
                      <a:tailEnd type="none" w="med" len="med"/>
                    </a:lnR>
                    <a:lnT w="9525" cap="flat" cmpd="sng" algn="ctr">
                      <a:solidFill>
                        <a:srgbClr val="D6E2E0"/>
                      </a:solidFill>
                      <a:prstDash val="solid"/>
                      <a:round/>
                      <a:headEnd type="none" w="med" len="med"/>
                      <a:tailEnd type="none" w="med" len="med"/>
                    </a:lnT>
                    <a:lnB w="9525" cap="flat" cmpd="sng" algn="ctr">
                      <a:solidFill>
                        <a:srgbClr val="D6E2E0"/>
                      </a:solidFill>
                      <a:prstDash val="solid"/>
                      <a:round/>
                      <a:headEnd type="none" w="med" len="med"/>
                      <a:tailEnd type="none" w="med" len="med"/>
                    </a:lnB>
                    <a:solidFill>
                      <a:srgbClr val="E3EFEC"/>
                    </a:solidFill>
                  </a:tcPr>
                </a:tc>
                <a:tc>
                  <a:txBody>
                    <a:bodyPr/>
                    <a:lstStyle/>
                    <a:p>
                      <a:pPr indent="0" marL="0">
                        <a:buNone/>
                      </a:pPr>
                      <a:r>
                        <a:rPr lang="en-US" sz="1400" dirty="0">
                          <a:solidFill>
                            <a:srgbClr val="1B2A2E"/>
                          </a:solidFill>
                          <a:latin typeface="Calibri" pitchFamily="34" charset="0"/>
                          <a:ea typeface="Calibri" pitchFamily="34" charset="-122"/>
                          <a:cs typeface="Calibri" pitchFamily="34" charset="-120"/>
                        </a:rPr>
                        <a:t>0.78</a:t>
                      </a:r>
                      <a:endParaRPr lang="en-US" sz="1400" dirty="0">
                        <a:latin typeface="Calibri" charset="0"/>
                        <a:ea typeface="Calibri" charset="0"/>
                        <a:cs typeface="Calibri" charset="0"/>
                      </a:endParaRPr>
                    </a:p>
                  </a:txBody>
                  <a:tcPr marL="109728" marR="109728" marT="0" marB="0" anchor="ctr">
                    <a:lnL w="9525" cap="flat" cmpd="sng" algn="ctr">
                      <a:solidFill>
                        <a:srgbClr val="D6E2E0"/>
                      </a:solidFill>
                      <a:prstDash val="solid"/>
                      <a:round/>
                      <a:headEnd type="none" w="med" len="med"/>
                      <a:tailEnd type="none" w="med" len="med"/>
                    </a:lnL>
                    <a:lnR w="9525" cap="flat" cmpd="sng" algn="ctr">
                      <a:solidFill>
                        <a:srgbClr val="D6E2E0"/>
                      </a:solidFill>
                      <a:prstDash val="solid"/>
                      <a:round/>
                      <a:headEnd type="none" w="med" len="med"/>
                      <a:tailEnd type="none" w="med" len="med"/>
                    </a:lnR>
                    <a:lnT w="9525" cap="flat" cmpd="sng" algn="ctr">
                      <a:solidFill>
                        <a:srgbClr val="D6E2E0"/>
                      </a:solidFill>
                      <a:prstDash val="solid"/>
                      <a:round/>
                      <a:headEnd type="none" w="med" len="med"/>
                      <a:tailEnd type="none" w="med" len="med"/>
                    </a:lnT>
                    <a:lnB w="9525" cap="flat" cmpd="sng" algn="ctr">
                      <a:solidFill>
                        <a:srgbClr val="D6E2E0"/>
                      </a:solidFill>
                      <a:prstDash val="solid"/>
                      <a:round/>
                      <a:headEnd type="none" w="med" len="med"/>
                      <a:tailEnd type="none" w="med" len="med"/>
                    </a:lnB>
                    <a:solidFill>
                      <a:srgbClr val="E3EFEC"/>
                    </a:solidFill>
                  </a:tcPr>
                </a:tc>
                <a:tc>
                  <a:txBody>
                    <a:bodyPr/>
                    <a:lstStyle/>
                    <a:p>
                      <a:pPr indent="0" marL="0">
                        <a:buNone/>
                      </a:pPr>
                      <a:r>
                        <a:rPr lang="en-US" sz="1400" b="1" dirty="0">
                          <a:solidFill>
                            <a:srgbClr val="1B2A2E"/>
                          </a:solidFill>
                          <a:latin typeface="Calibri" pitchFamily="34" charset="0"/>
                          <a:ea typeface="Calibri" pitchFamily="34" charset="-122"/>
                          <a:cs typeface="Calibri" pitchFamily="34" charset="-120"/>
                        </a:rPr>
                        <a:t>0.83</a:t>
                      </a:r>
                      <a:endParaRPr lang="en-US" sz="1400" dirty="0">
                        <a:latin typeface="Calibri" charset="0"/>
                        <a:ea typeface="Calibri" charset="0"/>
                        <a:cs typeface="Calibri" charset="0"/>
                      </a:endParaRPr>
                    </a:p>
                  </a:txBody>
                  <a:tcPr marL="109728" marR="109728" marT="0" marB="0" anchor="ctr">
                    <a:lnL w="9525" cap="flat" cmpd="sng" algn="ctr">
                      <a:solidFill>
                        <a:srgbClr val="D6E2E0"/>
                      </a:solidFill>
                      <a:prstDash val="solid"/>
                      <a:round/>
                      <a:headEnd type="none" w="med" len="med"/>
                      <a:tailEnd type="none" w="med" len="med"/>
                    </a:lnL>
                    <a:lnR w="9525" cap="flat" cmpd="sng" algn="ctr">
                      <a:solidFill>
                        <a:srgbClr val="D6E2E0"/>
                      </a:solidFill>
                      <a:prstDash val="solid"/>
                      <a:round/>
                      <a:headEnd type="none" w="med" len="med"/>
                      <a:tailEnd type="none" w="med" len="med"/>
                    </a:lnR>
                    <a:lnT w="9525" cap="flat" cmpd="sng" algn="ctr">
                      <a:solidFill>
                        <a:srgbClr val="D6E2E0"/>
                      </a:solidFill>
                      <a:prstDash val="solid"/>
                      <a:round/>
                      <a:headEnd type="none" w="med" len="med"/>
                      <a:tailEnd type="none" w="med" len="med"/>
                    </a:lnT>
                    <a:lnB w="9525" cap="flat" cmpd="sng" algn="ctr">
                      <a:solidFill>
                        <a:srgbClr val="D6E2E0"/>
                      </a:solidFill>
                      <a:prstDash val="solid"/>
                      <a:round/>
                      <a:headEnd type="none" w="med" len="med"/>
                      <a:tailEnd type="none" w="med" len="med"/>
                    </a:lnB>
                    <a:solidFill>
                      <a:srgbClr val="E3EFEC"/>
                    </a:solidFill>
                  </a:tcPr>
                </a:tc>
              </a:tr>
              <a:tr h="457200">
                <a:tc>
                  <a:txBody>
                    <a:bodyPr/>
                    <a:lstStyle/>
                    <a:p>
                      <a:pPr indent="0" marL="0">
                        <a:buNone/>
                      </a:pPr>
                      <a:r>
                        <a:rPr lang="en-US" sz="1400" dirty="0">
                          <a:solidFill>
                            <a:srgbClr val="1B2A2E"/>
                          </a:solidFill>
                          <a:latin typeface="Calibri" pitchFamily="34" charset="0"/>
                          <a:ea typeface="Calibri" pitchFamily="34" charset="-122"/>
                          <a:cs typeface="Calibri" pitchFamily="34" charset="-120"/>
                        </a:rPr>
                        <a:t>French-source questions (3)</a:t>
                      </a:r>
                      <a:endParaRPr lang="en-US" sz="1400" dirty="0">
                        <a:latin typeface="Calibri" charset="0"/>
                        <a:ea typeface="Calibri" charset="0"/>
                        <a:cs typeface="Calibri" charset="0"/>
                      </a:endParaRPr>
                    </a:p>
                  </a:txBody>
                  <a:tcPr marL="109728" marR="109728" marT="0" marB="0" anchor="ctr">
                    <a:lnL w="9525" cap="flat" cmpd="sng" algn="ctr">
                      <a:solidFill>
                        <a:srgbClr val="D6E2E0"/>
                      </a:solidFill>
                      <a:prstDash val="solid"/>
                      <a:round/>
                      <a:headEnd type="none" w="med" len="med"/>
                      <a:tailEnd type="none" w="med" len="med"/>
                    </a:lnL>
                    <a:lnR w="9525" cap="flat" cmpd="sng" algn="ctr">
                      <a:solidFill>
                        <a:srgbClr val="D6E2E0"/>
                      </a:solidFill>
                      <a:prstDash val="solid"/>
                      <a:round/>
                      <a:headEnd type="none" w="med" len="med"/>
                      <a:tailEnd type="none" w="med" len="med"/>
                    </a:lnR>
                    <a:lnT w="9525" cap="flat" cmpd="sng" algn="ctr">
                      <a:solidFill>
                        <a:srgbClr val="D6E2E0"/>
                      </a:solidFill>
                      <a:prstDash val="solid"/>
                      <a:round/>
                      <a:headEnd type="none" w="med" len="med"/>
                      <a:tailEnd type="none" w="med" len="med"/>
                    </a:lnT>
                    <a:lnB w="9525" cap="flat" cmpd="sng" algn="ctr">
                      <a:solidFill>
                        <a:srgbClr val="D6E2E0"/>
                      </a:solidFill>
                      <a:prstDash val="solid"/>
                      <a:round/>
                      <a:headEnd type="none" w="med" len="med"/>
                      <a:tailEnd type="none" w="med" len="med"/>
                    </a:lnB>
                    <a:solidFill>
                      <a:srgbClr val="FFFFFF"/>
                    </a:solidFill>
                  </a:tcPr>
                </a:tc>
                <a:tc>
                  <a:txBody>
                    <a:bodyPr/>
                    <a:lstStyle/>
                    <a:p>
                      <a:pPr indent="0" marL="0">
                        <a:buNone/>
                      </a:pPr>
                      <a:r>
                        <a:rPr lang="en-US" sz="1400" dirty="0">
                          <a:solidFill>
                            <a:srgbClr val="1B2A2E"/>
                          </a:solidFill>
                          <a:latin typeface="Calibri" pitchFamily="34" charset="0"/>
                          <a:ea typeface="Calibri" pitchFamily="34" charset="-122"/>
                          <a:cs typeface="Calibri" pitchFamily="34" charset="-120"/>
                        </a:rPr>
                        <a:t>0</a:t>
                      </a:r>
                      <a:endParaRPr lang="en-US" sz="1400" dirty="0">
                        <a:latin typeface="Calibri" charset="0"/>
                        <a:ea typeface="Calibri" charset="0"/>
                        <a:cs typeface="Calibri" charset="0"/>
                      </a:endParaRPr>
                    </a:p>
                  </a:txBody>
                  <a:tcPr marL="109728" marR="109728" marT="0" marB="0" anchor="ctr">
                    <a:lnL w="9525" cap="flat" cmpd="sng" algn="ctr">
                      <a:solidFill>
                        <a:srgbClr val="D6E2E0"/>
                      </a:solidFill>
                      <a:prstDash val="solid"/>
                      <a:round/>
                      <a:headEnd type="none" w="med" len="med"/>
                      <a:tailEnd type="none" w="med" len="med"/>
                    </a:lnL>
                    <a:lnR w="9525" cap="flat" cmpd="sng" algn="ctr">
                      <a:solidFill>
                        <a:srgbClr val="D6E2E0"/>
                      </a:solidFill>
                      <a:prstDash val="solid"/>
                      <a:round/>
                      <a:headEnd type="none" w="med" len="med"/>
                      <a:tailEnd type="none" w="med" len="med"/>
                    </a:lnR>
                    <a:lnT w="9525" cap="flat" cmpd="sng" algn="ctr">
                      <a:solidFill>
                        <a:srgbClr val="D6E2E0"/>
                      </a:solidFill>
                      <a:prstDash val="solid"/>
                      <a:round/>
                      <a:headEnd type="none" w="med" len="med"/>
                      <a:tailEnd type="none" w="med" len="med"/>
                    </a:lnT>
                    <a:lnB w="9525" cap="flat" cmpd="sng" algn="ctr">
                      <a:solidFill>
                        <a:srgbClr val="D6E2E0"/>
                      </a:solidFill>
                      <a:prstDash val="solid"/>
                      <a:round/>
                      <a:headEnd type="none" w="med" len="med"/>
                      <a:tailEnd type="none" w="med" len="med"/>
                    </a:lnB>
                    <a:solidFill>
                      <a:srgbClr val="FFFFFF"/>
                    </a:solidFill>
                  </a:tcPr>
                </a:tc>
                <a:tc>
                  <a:txBody>
                    <a:bodyPr/>
                    <a:lstStyle/>
                    <a:p>
                      <a:pPr indent="0" marL="0">
                        <a:buNone/>
                      </a:pPr>
                      <a:r>
                        <a:rPr lang="en-US" sz="1400" dirty="0">
                          <a:solidFill>
                            <a:srgbClr val="1B2A2E"/>
                          </a:solidFill>
                          <a:latin typeface="Calibri" pitchFamily="34" charset="0"/>
                          <a:ea typeface="Calibri" pitchFamily="34" charset="-122"/>
                          <a:cs typeface="Calibri" pitchFamily="34" charset="-120"/>
                        </a:rPr>
                        <a:t>0</a:t>
                      </a:r>
                      <a:endParaRPr lang="en-US" sz="1400" dirty="0">
                        <a:latin typeface="Calibri" charset="0"/>
                        <a:ea typeface="Calibri" charset="0"/>
                        <a:cs typeface="Calibri" charset="0"/>
                      </a:endParaRPr>
                    </a:p>
                  </a:txBody>
                  <a:tcPr marL="109728" marR="109728" marT="0" marB="0" anchor="ctr">
                    <a:lnL w="9525" cap="flat" cmpd="sng" algn="ctr">
                      <a:solidFill>
                        <a:srgbClr val="D6E2E0"/>
                      </a:solidFill>
                      <a:prstDash val="solid"/>
                      <a:round/>
                      <a:headEnd type="none" w="med" len="med"/>
                      <a:tailEnd type="none" w="med" len="med"/>
                    </a:lnL>
                    <a:lnR w="9525" cap="flat" cmpd="sng" algn="ctr">
                      <a:solidFill>
                        <a:srgbClr val="D6E2E0"/>
                      </a:solidFill>
                      <a:prstDash val="solid"/>
                      <a:round/>
                      <a:headEnd type="none" w="med" len="med"/>
                      <a:tailEnd type="none" w="med" len="med"/>
                    </a:lnR>
                    <a:lnT w="9525" cap="flat" cmpd="sng" algn="ctr">
                      <a:solidFill>
                        <a:srgbClr val="D6E2E0"/>
                      </a:solidFill>
                      <a:prstDash val="solid"/>
                      <a:round/>
                      <a:headEnd type="none" w="med" len="med"/>
                      <a:tailEnd type="none" w="med" len="med"/>
                    </a:lnT>
                    <a:lnB w="9525" cap="flat" cmpd="sng" algn="ctr">
                      <a:solidFill>
                        <a:srgbClr val="D6E2E0"/>
                      </a:solidFill>
                      <a:prstDash val="solid"/>
                      <a:round/>
                      <a:headEnd type="none" w="med" len="med"/>
                      <a:tailEnd type="none" w="med" len="med"/>
                    </a:lnB>
                    <a:solidFill>
                      <a:srgbClr val="FFFFFF"/>
                    </a:solidFill>
                  </a:tcPr>
                </a:tc>
                <a:tc>
                  <a:txBody>
                    <a:bodyPr/>
                    <a:lstStyle/>
                    <a:p>
                      <a:pPr indent="0" marL="0">
                        <a:buNone/>
                      </a:pPr>
                      <a:r>
                        <a:rPr lang="en-US" sz="1400" dirty="0">
                          <a:solidFill>
                            <a:srgbClr val="1B2A2E"/>
                          </a:solidFill>
                          <a:latin typeface="Calibri" pitchFamily="34" charset="0"/>
                          <a:ea typeface="Calibri" pitchFamily="34" charset="-122"/>
                          <a:cs typeface="Calibri" pitchFamily="34" charset="-120"/>
                        </a:rPr>
                        <a:t>0.33</a:t>
                      </a:r>
                      <a:endParaRPr lang="en-US" sz="1400" dirty="0">
                        <a:latin typeface="Calibri" charset="0"/>
                        <a:ea typeface="Calibri" charset="0"/>
                        <a:cs typeface="Calibri" charset="0"/>
                      </a:endParaRPr>
                    </a:p>
                  </a:txBody>
                  <a:tcPr marL="109728" marR="109728" marT="0" marB="0" anchor="ctr">
                    <a:lnL w="9525" cap="flat" cmpd="sng" algn="ctr">
                      <a:solidFill>
                        <a:srgbClr val="D6E2E0"/>
                      </a:solidFill>
                      <a:prstDash val="solid"/>
                      <a:round/>
                      <a:headEnd type="none" w="med" len="med"/>
                      <a:tailEnd type="none" w="med" len="med"/>
                    </a:lnL>
                    <a:lnR w="9525" cap="flat" cmpd="sng" algn="ctr">
                      <a:solidFill>
                        <a:srgbClr val="D6E2E0"/>
                      </a:solidFill>
                      <a:prstDash val="solid"/>
                      <a:round/>
                      <a:headEnd type="none" w="med" len="med"/>
                      <a:tailEnd type="none" w="med" len="med"/>
                    </a:lnR>
                    <a:lnT w="9525" cap="flat" cmpd="sng" algn="ctr">
                      <a:solidFill>
                        <a:srgbClr val="D6E2E0"/>
                      </a:solidFill>
                      <a:prstDash val="solid"/>
                      <a:round/>
                      <a:headEnd type="none" w="med" len="med"/>
                      <a:tailEnd type="none" w="med" len="med"/>
                    </a:lnT>
                    <a:lnB w="9525" cap="flat" cmpd="sng" algn="ctr">
                      <a:solidFill>
                        <a:srgbClr val="D6E2E0"/>
                      </a:solidFill>
                      <a:prstDash val="solid"/>
                      <a:round/>
                      <a:headEnd type="none" w="med" len="med"/>
                      <a:tailEnd type="none" w="med" len="med"/>
                    </a:lnB>
                    <a:solidFill>
                      <a:srgbClr val="FFFFFF"/>
                    </a:solidFill>
                  </a:tcPr>
                </a:tc>
              </a:tr>
              <a:tr h="457200">
                <a:tc>
                  <a:txBody>
                    <a:bodyPr/>
                    <a:lstStyle/>
                    <a:p>
                      <a:pPr indent="0" marL="0">
                        <a:buNone/>
                      </a:pPr>
                      <a:r>
                        <a:rPr lang="en-US" sz="1400" dirty="0">
                          <a:solidFill>
                            <a:srgbClr val="1B2A2E"/>
                          </a:solidFill>
                          <a:latin typeface="Calibri" pitchFamily="34" charset="0"/>
                          <a:ea typeface="Calibri" pitchFamily="34" charset="-122"/>
                          <a:cs typeface="Calibri" pitchFamily="34" charset="-120"/>
                        </a:rPr>
                        <a:t>Claim support after guardrails</a:t>
                      </a:r>
                      <a:endParaRPr lang="en-US" sz="1400" dirty="0">
                        <a:latin typeface="Calibri" charset="0"/>
                        <a:ea typeface="Calibri" charset="0"/>
                        <a:cs typeface="Calibri" charset="0"/>
                      </a:endParaRPr>
                    </a:p>
                  </a:txBody>
                  <a:tcPr marL="109728" marR="109728" marT="0" marB="0" anchor="ctr">
                    <a:lnL w="9525" cap="flat" cmpd="sng" algn="ctr">
                      <a:solidFill>
                        <a:srgbClr val="D6E2E0"/>
                      </a:solidFill>
                      <a:prstDash val="solid"/>
                      <a:round/>
                      <a:headEnd type="none" w="med" len="med"/>
                      <a:tailEnd type="none" w="med" len="med"/>
                    </a:lnL>
                    <a:lnR w="9525" cap="flat" cmpd="sng" algn="ctr">
                      <a:solidFill>
                        <a:srgbClr val="D6E2E0"/>
                      </a:solidFill>
                      <a:prstDash val="solid"/>
                      <a:round/>
                      <a:headEnd type="none" w="med" len="med"/>
                      <a:tailEnd type="none" w="med" len="med"/>
                    </a:lnR>
                    <a:lnT w="9525" cap="flat" cmpd="sng" algn="ctr">
                      <a:solidFill>
                        <a:srgbClr val="D6E2E0"/>
                      </a:solidFill>
                      <a:prstDash val="solid"/>
                      <a:round/>
                      <a:headEnd type="none" w="med" len="med"/>
                      <a:tailEnd type="none" w="med" len="med"/>
                    </a:lnT>
                    <a:lnB w="9525" cap="flat" cmpd="sng" algn="ctr">
                      <a:solidFill>
                        <a:srgbClr val="D6E2E0"/>
                      </a:solidFill>
                      <a:prstDash val="solid"/>
                      <a:round/>
                      <a:headEnd type="none" w="med" len="med"/>
                      <a:tailEnd type="none" w="med" len="med"/>
                    </a:lnB>
                    <a:solidFill>
                      <a:srgbClr val="FFFFFF"/>
                    </a:solidFill>
                  </a:tcPr>
                </a:tc>
                <a:tc>
                  <a:txBody>
                    <a:bodyPr/>
                    <a:lstStyle/>
                    <a:p>
                      <a:pPr indent="0" marL="0">
                        <a:buNone/>
                      </a:pPr>
                      <a:r>
                        <a:rPr lang="en-US" sz="1400" dirty="0">
                          <a:solidFill>
                            <a:srgbClr val="1B2A2E"/>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109728" marR="109728" marT="0" marB="0" anchor="ctr">
                    <a:lnL w="9525" cap="flat" cmpd="sng" algn="ctr">
                      <a:solidFill>
                        <a:srgbClr val="D6E2E0"/>
                      </a:solidFill>
                      <a:prstDash val="solid"/>
                      <a:round/>
                      <a:headEnd type="none" w="med" len="med"/>
                      <a:tailEnd type="none" w="med" len="med"/>
                    </a:lnL>
                    <a:lnR w="9525" cap="flat" cmpd="sng" algn="ctr">
                      <a:solidFill>
                        <a:srgbClr val="D6E2E0"/>
                      </a:solidFill>
                      <a:prstDash val="solid"/>
                      <a:round/>
                      <a:headEnd type="none" w="med" len="med"/>
                      <a:tailEnd type="none" w="med" len="med"/>
                    </a:lnR>
                    <a:lnT w="9525" cap="flat" cmpd="sng" algn="ctr">
                      <a:solidFill>
                        <a:srgbClr val="D6E2E0"/>
                      </a:solidFill>
                      <a:prstDash val="solid"/>
                      <a:round/>
                      <a:headEnd type="none" w="med" len="med"/>
                      <a:tailEnd type="none" w="med" len="med"/>
                    </a:lnT>
                    <a:lnB w="9525" cap="flat" cmpd="sng" algn="ctr">
                      <a:solidFill>
                        <a:srgbClr val="D6E2E0"/>
                      </a:solidFill>
                      <a:prstDash val="solid"/>
                      <a:round/>
                      <a:headEnd type="none" w="med" len="med"/>
                      <a:tailEnd type="none" w="med" len="med"/>
                    </a:lnB>
                    <a:solidFill>
                      <a:srgbClr val="FFFFFF"/>
                    </a:solidFill>
                  </a:tcPr>
                </a:tc>
                <a:tc>
                  <a:txBody>
                    <a:bodyPr/>
                    <a:lstStyle/>
                    <a:p>
                      <a:pPr indent="0" marL="0">
                        <a:buNone/>
                      </a:pPr>
                      <a:r>
                        <a:rPr lang="en-US" sz="1400" dirty="0">
                          <a:solidFill>
                            <a:srgbClr val="1B2A2E"/>
                          </a:solidFill>
                          <a:latin typeface="Calibri" pitchFamily="34" charset="0"/>
                          <a:ea typeface="Calibri" pitchFamily="34" charset="-122"/>
                          <a:cs typeface="Calibri" pitchFamily="34" charset="-120"/>
                        </a:rPr>
                        <a:t>0.905</a:t>
                      </a:r>
                      <a:endParaRPr lang="en-US" sz="1400" dirty="0">
                        <a:latin typeface="Calibri" charset="0"/>
                        <a:ea typeface="Calibri" charset="0"/>
                        <a:cs typeface="Calibri" charset="0"/>
                      </a:endParaRPr>
                    </a:p>
                  </a:txBody>
                  <a:tcPr marL="109728" marR="109728" marT="0" marB="0" anchor="ctr">
                    <a:lnL w="9525" cap="flat" cmpd="sng" algn="ctr">
                      <a:solidFill>
                        <a:srgbClr val="D6E2E0"/>
                      </a:solidFill>
                      <a:prstDash val="solid"/>
                      <a:round/>
                      <a:headEnd type="none" w="med" len="med"/>
                      <a:tailEnd type="none" w="med" len="med"/>
                    </a:lnL>
                    <a:lnR w="9525" cap="flat" cmpd="sng" algn="ctr">
                      <a:solidFill>
                        <a:srgbClr val="D6E2E0"/>
                      </a:solidFill>
                      <a:prstDash val="solid"/>
                      <a:round/>
                      <a:headEnd type="none" w="med" len="med"/>
                      <a:tailEnd type="none" w="med" len="med"/>
                    </a:lnR>
                    <a:lnT w="9525" cap="flat" cmpd="sng" algn="ctr">
                      <a:solidFill>
                        <a:srgbClr val="D6E2E0"/>
                      </a:solidFill>
                      <a:prstDash val="solid"/>
                      <a:round/>
                      <a:headEnd type="none" w="med" len="med"/>
                      <a:tailEnd type="none" w="med" len="med"/>
                    </a:lnT>
                    <a:lnB w="9525" cap="flat" cmpd="sng" algn="ctr">
                      <a:solidFill>
                        <a:srgbClr val="D6E2E0"/>
                      </a:solidFill>
                      <a:prstDash val="solid"/>
                      <a:round/>
                      <a:headEnd type="none" w="med" len="med"/>
                      <a:tailEnd type="none" w="med" len="med"/>
                    </a:lnB>
                    <a:solidFill>
                      <a:srgbClr val="FFFFFF"/>
                    </a:solidFill>
                  </a:tcPr>
                </a:tc>
                <a:tc>
                  <a:txBody>
                    <a:bodyPr/>
                    <a:lstStyle/>
                    <a:p>
                      <a:pPr indent="0" marL="0">
                        <a:buNone/>
                      </a:pPr>
                      <a:r>
                        <a:rPr lang="en-US" sz="1400" dirty="0">
                          <a:solidFill>
                            <a:srgbClr val="1B2A2E"/>
                          </a:solidFill>
                          <a:latin typeface="Calibri" pitchFamily="34" charset="0"/>
                          <a:ea typeface="Calibri" pitchFamily="34" charset="-122"/>
                          <a:cs typeface="Calibri" pitchFamily="34" charset="-120"/>
                        </a:rPr>
                        <a:t>0.86–0.893</a:t>
                      </a:r>
                      <a:endParaRPr lang="en-US" sz="1400" dirty="0">
                        <a:latin typeface="Calibri" charset="0"/>
                        <a:ea typeface="Calibri" charset="0"/>
                        <a:cs typeface="Calibri" charset="0"/>
                      </a:endParaRPr>
                    </a:p>
                  </a:txBody>
                  <a:tcPr marL="109728" marR="109728" marT="0" marB="0" anchor="ctr">
                    <a:lnL w="9525" cap="flat" cmpd="sng" algn="ctr">
                      <a:solidFill>
                        <a:srgbClr val="D6E2E0"/>
                      </a:solidFill>
                      <a:prstDash val="solid"/>
                      <a:round/>
                      <a:headEnd type="none" w="med" len="med"/>
                      <a:tailEnd type="none" w="med" len="med"/>
                    </a:lnL>
                    <a:lnR w="9525" cap="flat" cmpd="sng" algn="ctr">
                      <a:solidFill>
                        <a:srgbClr val="D6E2E0"/>
                      </a:solidFill>
                      <a:prstDash val="solid"/>
                      <a:round/>
                      <a:headEnd type="none" w="med" len="med"/>
                      <a:tailEnd type="none" w="med" len="med"/>
                    </a:lnR>
                    <a:lnT w="9525" cap="flat" cmpd="sng" algn="ctr">
                      <a:solidFill>
                        <a:srgbClr val="D6E2E0"/>
                      </a:solidFill>
                      <a:prstDash val="solid"/>
                      <a:round/>
                      <a:headEnd type="none" w="med" len="med"/>
                      <a:tailEnd type="none" w="med" len="med"/>
                    </a:lnT>
                    <a:lnB w="9525" cap="flat" cmpd="sng" algn="ctr">
                      <a:solidFill>
                        <a:srgbClr val="D6E2E0"/>
                      </a:solidFill>
                      <a:prstDash val="solid"/>
                      <a:round/>
                      <a:headEnd type="none" w="med" len="med"/>
                      <a:tailEnd type="none" w="med" len="med"/>
                    </a:lnB>
                    <a:solidFill>
                      <a:srgbClr val="FFFFFF"/>
                    </a:solidFill>
                  </a:tcPr>
                </a:tc>
              </a:tr>
              <a:tr h="457200">
                <a:tc>
                  <a:txBody>
                    <a:bodyPr/>
                    <a:lstStyle/>
                    <a:p>
                      <a:pPr indent="0" marL="0">
                        <a:buNone/>
                      </a:pPr>
                      <a:r>
                        <a:rPr lang="en-US" sz="1400" dirty="0">
                          <a:solidFill>
                            <a:srgbClr val="1B2A2E"/>
                          </a:solidFill>
                          <a:latin typeface="Calibri" pitchFamily="34" charset="0"/>
                          <a:ea typeface="Calibri" pitchFamily="34" charset="-122"/>
                          <a:cs typeface="Calibri" pitchFamily="34" charset="-120"/>
                        </a:rPr>
                        <a:t>Refusal accuracy</a:t>
                      </a:r>
                      <a:endParaRPr lang="en-US" sz="1400" dirty="0">
                        <a:latin typeface="Calibri" charset="0"/>
                        <a:ea typeface="Calibri" charset="0"/>
                        <a:cs typeface="Calibri" charset="0"/>
                      </a:endParaRPr>
                    </a:p>
                  </a:txBody>
                  <a:tcPr marL="109728" marR="109728" marT="0" marB="0" anchor="ctr">
                    <a:lnL w="9525" cap="flat" cmpd="sng" algn="ctr">
                      <a:solidFill>
                        <a:srgbClr val="D6E2E0"/>
                      </a:solidFill>
                      <a:prstDash val="solid"/>
                      <a:round/>
                      <a:headEnd type="none" w="med" len="med"/>
                      <a:tailEnd type="none" w="med" len="med"/>
                    </a:lnL>
                    <a:lnR w="9525" cap="flat" cmpd="sng" algn="ctr">
                      <a:solidFill>
                        <a:srgbClr val="D6E2E0"/>
                      </a:solidFill>
                      <a:prstDash val="solid"/>
                      <a:round/>
                      <a:headEnd type="none" w="med" len="med"/>
                      <a:tailEnd type="none" w="med" len="med"/>
                    </a:lnR>
                    <a:lnT w="9525" cap="flat" cmpd="sng" algn="ctr">
                      <a:solidFill>
                        <a:srgbClr val="D6E2E0"/>
                      </a:solidFill>
                      <a:prstDash val="solid"/>
                      <a:round/>
                      <a:headEnd type="none" w="med" len="med"/>
                      <a:tailEnd type="none" w="med" len="med"/>
                    </a:lnT>
                    <a:lnB w="9525" cap="flat" cmpd="sng" algn="ctr">
                      <a:solidFill>
                        <a:srgbClr val="D6E2E0"/>
                      </a:solidFill>
                      <a:prstDash val="solid"/>
                      <a:round/>
                      <a:headEnd type="none" w="med" len="med"/>
                      <a:tailEnd type="none" w="med" len="med"/>
                    </a:lnB>
                    <a:solidFill>
                      <a:srgbClr val="FFFFFF"/>
                    </a:solidFill>
                  </a:tcPr>
                </a:tc>
                <a:tc>
                  <a:txBody>
                    <a:bodyPr/>
                    <a:lstStyle/>
                    <a:p>
                      <a:pPr indent="0" marL="0">
                        <a:buNone/>
                      </a:pPr>
                      <a:r>
                        <a:rPr lang="en-US" sz="1400" dirty="0">
                          <a:solidFill>
                            <a:srgbClr val="1B2A2E"/>
                          </a:solidFill>
                          <a:latin typeface="Calibri" pitchFamily="34" charset="0"/>
                          <a:ea typeface="Calibri" pitchFamily="34" charset="-122"/>
                          <a:cs typeface="Calibri" pitchFamily="34" charset="-120"/>
                        </a:rPr>
                        <a:t>3 / 3</a:t>
                      </a:r>
                      <a:endParaRPr lang="en-US" sz="1400" dirty="0">
                        <a:latin typeface="Calibri" charset="0"/>
                        <a:ea typeface="Calibri" charset="0"/>
                        <a:cs typeface="Calibri" charset="0"/>
                      </a:endParaRPr>
                    </a:p>
                  </a:txBody>
                  <a:tcPr marL="109728" marR="109728" marT="0" marB="0" anchor="ctr">
                    <a:lnL w="9525" cap="flat" cmpd="sng" algn="ctr">
                      <a:solidFill>
                        <a:srgbClr val="D6E2E0"/>
                      </a:solidFill>
                      <a:prstDash val="solid"/>
                      <a:round/>
                      <a:headEnd type="none" w="med" len="med"/>
                      <a:tailEnd type="none" w="med" len="med"/>
                    </a:lnL>
                    <a:lnR w="9525" cap="flat" cmpd="sng" algn="ctr">
                      <a:solidFill>
                        <a:srgbClr val="D6E2E0"/>
                      </a:solidFill>
                      <a:prstDash val="solid"/>
                      <a:round/>
                      <a:headEnd type="none" w="med" len="med"/>
                      <a:tailEnd type="none" w="med" len="med"/>
                    </a:lnR>
                    <a:lnT w="9525" cap="flat" cmpd="sng" algn="ctr">
                      <a:solidFill>
                        <a:srgbClr val="D6E2E0"/>
                      </a:solidFill>
                      <a:prstDash val="solid"/>
                      <a:round/>
                      <a:headEnd type="none" w="med" len="med"/>
                      <a:tailEnd type="none" w="med" len="med"/>
                    </a:lnT>
                    <a:lnB w="9525" cap="flat" cmpd="sng" algn="ctr">
                      <a:solidFill>
                        <a:srgbClr val="D6E2E0"/>
                      </a:solidFill>
                      <a:prstDash val="solid"/>
                      <a:round/>
                      <a:headEnd type="none" w="med" len="med"/>
                      <a:tailEnd type="none" w="med" len="med"/>
                    </a:lnB>
                    <a:solidFill>
                      <a:srgbClr val="FFFFFF"/>
                    </a:solidFill>
                  </a:tcPr>
                </a:tc>
                <a:tc>
                  <a:txBody>
                    <a:bodyPr/>
                    <a:lstStyle/>
                    <a:p>
                      <a:pPr indent="0" marL="0">
                        <a:buNone/>
                      </a:pPr>
                      <a:r>
                        <a:rPr lang="en-US" sz="1400" dirty="0">
                          <a:solidFill>
                            <a:srgbClr val="1B2A2E"/>
                          </a:solidFill>
                          <a:latin typeface="Calibri" pitchFamily="34" charset="0"/>
                          <a:ea typeface="Calibri" pitchFamily="34" charset="-122"/>
                          <a:cs typeface="Calibri" pitchFamily="34" charset="-120"/>
                        </a:rPr>
                        <a:t>3 / 3</a:t>
                      </a:r>
                      <a:endParaRPr lang="en-US" sz="1400" dirty="0">
                        <a:latin typeface="Calibri" charset="0"/>
                        <a:ea typeface="Calibri" charset="0"/>
                        <a:cs typeface="Calibri" charset="0"/>
                      </a:endParaRPr>
                    </a:p>
                  </a:txBody>
                  <a:tcPr marL="109728" marR="109728" marT="0" marB="0" anchor="ctr">
                    <a:lnL w="9525" cap="flat" cmpd="sng" algn="ctr">
                      <a:solidFill>
                        <a:srgbClr val="D6E2E0"/>
                      </a:solidFill>
                      <a:prstDash val="solid"/>
                      <a:round/>
                      <a:headEnd type="none" w="med" len="med"/>
                      <a:tailEnd type="none" w="med" len="med"/>
                    </a:lnL>
                    <a:lnR w="9525" cap="flat" cmpd="sng" algn="ctr">
                      <a:solidFill>
                        <a:srgbClr val="D6E2E0"/>
                      </a:solidFill>
                      <a:prstDash val="solid"/>
                      <a:round/>
                      <a:headEnd type="none" w="med" len="med"/>
                      <a:tailEnd type="none" w="med" len="med"/>
                    </a:lnR>
                    <a:lnT w="9525" cap="flat" cmpd="sng" algn="ctr">
                      <a:solidFill>
                        <a:srgbClr val="D6E2E0"/>
                      </a:solidFill>
                      <a:prstDash val="solid"/>
                      <a:round/>
                      <a:headEnd type="none" w="med" len="med"/>
                      <a:tailEnd type="none" w="med" len="med"/>
                    </a:lnT>
                    <a:lnB w="9525" cap="flat" cmpd="sng" algn="ctr">
                      <a:solidFill>
                        <a:srgbClr val="D6E2E0"/>
                      </a:solidFill>
                      <a:prstDash val="solid"/>
                      <a:round/>
                      <a:headEnd type="none" w="med" len="med"/>
                      <a:tailEnd type="none" w="med" len="med"/>
                    </a:lnB>
                    <a:solidFill>
                      <a:srgbClr val="FFFFFF"/>
                    </a:solidFill>
                  </a:tcPr>
                </a:tc>
                <a:tc>
                  <a:txBody>
                    <a:bodyPr/>
                    <a:lstStyle/>
                    <a:p>
                      <a:pPr indent="0" marL="0">
                        <a:buNone/>
                      </a:pPr>
                      <a:r>
                        <a:rPr lang="en-US" sz="1400" dirty="0">
                          <a:solidFill>
                            <a:srgbClr val="1B2A2E"/>
                          </a:solidFill>
                          <a:latin typeface="Calibri" pitchFamily="34" charset="0"/>
                          <a:ea typeface="Calibri" pitchFamily="34" charset="-122"/>
                          <a:cs typeface="Calibri" pitchFamily="34" charset="-120"/>
                        </a:rPr>
                        <a:t>3 / 3</a:t>
                      </a:r>
                      <a:endParaRPr lang="en-US" sz="1400" dirty="0">
                        <a:latin typeface="Calibri" charset="0"/>
                        <a:ea typeface="Calibri" charset="0"/>
                        <a:cs typeface="Calibri" charset="0"/>
                      </a:endParaRPr>
                    </a:p>
                  </a:txBody>
                  <a:tcPr marL="109728" marR="109728" marT="0" marB="0" anchor="ctr">
                    <a:lnL w="9525" cap="flat" cmpd="sng" algn="ctr">
                      <a:solidFill>
                        <a:srgbClr val="D6E2E0"/>
                      </a:solidFill>
                      <a:prstDash val="solid"/>
                      <a:round/>
                      <a:headEnd type="none" w="med" len="med"/>
                      <a:tailEnd type="none" w="med" len="med"/>
                    </a:lnL>
                    <a:lnR w="9525" cap="flat" cmpd="sng" algn="ctr">
                      <a:solidFill>
                        <a:srgbClr val="D6E2E0"/>
                      </a:solidFill>
                      <a:prstDash val="solid"/>
                      <a:round/>
                      <a:headEnd type="none" w="med" len="med"/>
                      <a:tailEnd type="none" w="med" len="med"/>
                    </a:lnR>
                    <a:lnT w="9525" cap="flat" cmpd="sng" algn="ctr">
                      <a:solidFill>
                        <a:srgbClr val="D6E2E0"/>
                      </a:solidFill>
                      <a:prstDash val="solid"/>
                      <a:round/>
                      <a:headEnd type="none" w="med" len="med"/>
                      <a:tailEnd type="none" w="med" len="med"/>
                    </a:lnT>
                    <a:lnB w="9525" cap="flat" cmpd="sng" algn="ctr">
                      <a:solidFill>
                        <a:srgbClr val="D6E2E0"/>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548640" y="4343400"/>
            <a:ext cx="6675120" cy="548640"/>
          </a:xfrm>
          <a:prstGeom prst="rect">
            <a:avLst/>
          </a:prstGeom>
          <a:noFill/>
          <a:ln/>
        </p:spPr>
        <p:txBody>
          <a:bodyPr wrap="square" lIns="0" tIns="0" rIns="0" bIns="0" rtlCol="0" anchor="t"/>
          <a:lstStyle/>
          <a:p>
            <a:pPr algn="l" indent="0" marL="0">
              <a:buNone/>
            </a:pPr>
            <a:r>
              <a:rPr lang="en-US" sz="1300" dirty="0">
                <a:solidFill>
                  <a:srgbClr val="5B6B6E"/>
                </a:solidFill>
                <a:latin typeface="Calibri" pitchFamily="34" charset="0"/>
                <a:ea typeface="Calibri" pitchFamily="34" charset="-122"/>
                <a:cs typeface="Calibri" pitchFamily="34" charset="-120"/>
              </a:rPr>
              <a:t>52 frozen questions, halves split by project; the gate is calibrated on one half, metrics reported on the other. Claim support varies a little between runs (LLM run-to-run variance).</a:t>
            </a:r>
            <a:endParaRPr lang="en-US" sz="1300" dirty="0"/>
          </a:p>
        </p:txBody>
      </p:sp>
      <p:sp>
        <p:nvSpPr>
          <p:cNvPr id="5" name="card"/>
          <p:cNvSpPr/>
          <p:nvPr/>
        </p:nvSpPr>
        <p:spPr>
          <a:xfrm>
            <a:off x="7589520" y="1371600"/>
            <a:ext cx="4023360" cy="1417320"/>
          </a:xfrm>
          <a:prstGeom prst="roundRect">
            <a:avLst>
              <a:gd name="adj" fmla="val 5161"/>
            </a:avLst>
          </a:prstGeom>
          <a:solidFill>
            <a:srgbClr val="EEF4F3"/>
          </a:solidFill>
          <a:ln w="12700">
            <a:solidFill>
              <a:srgbClr val="EEF4F3"/>
            </a:solidFill>
            <a:prstDash val="solid"/>
          </a:ln>
        </p:spPr>
      </p:sp>
      <p:sp>
        <p:nvSpPr>
          <p:cNvPr id="6" name="Text 3"/>
          <p:cNvSpPr txBox="1"/>
          <p:nvPr/>
        </p:nvSpPr>
        <p:spPr>
          <a:xfrm>
            <a:off x="7772400" y="1481328"/>
            <a:ext cx="3657600" cy="320040"/>
          </a:xfrm>
          <a:prstGeom prst="rect">
            <a:avLst/>
          </a:prstGeom>
          <a:noFill/>
          <a:ln/>
        </p:spPr>
        <p:txBody>
          <a:bodyPr wrap="square" lIns="0" tIns="0" rIns="0" bIns="0" rtlCol="0" anchor="t"/>
          <a:lstStyle/>
          <a:p>
            <a:pPr algn="l" indent="0" marL="0">
              <a:buNone/>
            </a:pPr>
            <a:r>
              <a:rPr lang="en-US" sz="1500" b="1" dirty="0">
                <a:solidFill>
                  <a:srgbClr val="0F5257"/>
                </a:solidFill>
                <a:latin typeface="Calibri" pitchFamily="34" charset="0"/>
                <a:ea typeface="Calibri" pitchFamily="34" charset="-122"/>
                <a:cs typeface="Calibri" pitchFamily="34" charset="-120"/>
              </a:rPr>
              <a:t>Gate bug found and fixed</a:t>
            </a:r>
            <a:endParaRPr lang="en-US" sz="1500" dirty="0"/>
          </a:p>
        </p:txBody>
      </p:sp>
      <p:sp>
        <p:nvSpPr>
          <p:cNvPr id="7" name="Text 4"/>
          <p:cNvSpPr txBox="1"/>
          <p:nvPr/>
        </p:nvSpPr>
        <p:spPr>
          <a:xfrm>
            <a:off x="7772400" y="1828800"/>
            <a:ext cx="3703320" cy="914400"/>
          </a:xfrm>
          <a:prstGeom prst="rect">
            <a:avLst/>
          </a:prstGeom>
          <a:noFill/>
          <a:ln/>
        </p:spPr>
        <p:txBody>
          <a:bodyPr wrap="square" lIns="0" tIns="0" rIns="0" bIns="0" rtlCol="0" anchor="t"/>
          <a:lstStyle/>
          <a:p>
            <a:pPr algn="l" indent="0" marL="0">
              <a:buNone/>
            </a:pPr>
            <a:r>
              <a:rPr lang="en-US" sz="1300" dirty="0">
                <a:solidFill>
                  <a:srgbClr val="1B2A2E"/>
                </a:solidFill>
                <a:latin typeface="Calibri" pitchFamily="34" charset="0"/>
                <a:ea typeface="Calibri" pitchFamily="34" charset="-122"/>
                <a:cs typeface="Calibri" pitchFamily="34" charset="-120"/>
              </a:rPr>
              <a:t>Vector Search scores 1/(1+L2²), not cosine: the gate blocked 20 of 23 answerable questions. Now converted to cosine.</a:t>
            </a:r>
            <a:endParaRPr lang="en-US" sz="1300" dirty="0"/>
          </a:p>
        </p:txBody>
      </p:sp>
      <p:sp>
        <p:nvSpPr>
          <p:cNvPr id="8" name="card"/>
          <p:cNvSpPr/>
          <p:nvPr/>
        </p:nvSpPr>
        <p:spPr>
          <a:xfrm>
            <a:off x="7589520" y="2971800"/>
            <a:ext cx="4023360" cy="1417320"/>
          </a:xfrm>
          <a:prstGeom prst="roundRect">
            <a:avLst>
              <a:gd name="adj" fmla="val 5161"/>
            </a:avLst>
          </a:prstGeom>
          <a:solidFill>
            <a:srgbClr val="EEF4F3"/>
          </a:solidFill>
          <a:ln w="12700">
            <a:solidFill>
              <a:srgbClr val="EEF4F3"/>
            </a:solidFill>
            <a:prstDash val="solid"/>
          </a:ln>
        </p:spPr>
      </p:sp>
      <p:sp>
        <p:nvSpPr>
          <p:cNvPr id="9" name="Text 6"/>
          <p:cNvSpPr txBox="1"/>
          <p:nvPr/>
        </p:nvSpPr>
        <p:spPr>
          <a:xfrm>
            <a:off x="7772400" y="3081528"/>
            <a:ext cx="3657600" cy="320040"/>
          </a:xfrm>
          <a:prstGeom prst="rect">
            <a:avLst/>
          </a:prstGeom>
          <a:noFill/>
          <a:ln/>
        </p:spPr>
        <p:txBody>
          <a:bodyPr wrap="square" lIns="0" tIns="0" rIns="0" bIns="0" rtlCol="0" anchor="t"/>
          <a:lstStyle/>
          <a:p>
            <a:pPr algn="l" indent="0" marL="0">
              <a:buNone/>
            </a:pPr>
            <a:r>
              <a:rPr lang="en-US" sz="1500" b="1" dirty="0">
                <a:solidFill>
                  <a:srgbClr val="8A5A00"/>
                </a:solidFill>
                <a:latin typeface="Calibri" pitchFamily="34" charset="0"/>
                <a:ea typeface="Calibri" pitchFamily="34" charset="-122"/>
                <a:cs typeface="Calibri" pitchFamily="34" charset="-120"/>
              </a:rPr>
              <a:t>The gate is a weak filter</a:t>
            </a:r>
            <a:endParaRPr lang="en-US" sz="1500" dirty="0"/>
          </a:p>
        </p:txBody>
      </p:sp>
      <p:sp>
        <p:nvSpPr>
          <p:cNvPr id="10" name="Text 7"/>
          <p:cNvSpPr txBox="1"/>
          <p:nvPr/>
        </p:nvSpPr>
        <p:spPr>
          <a:xfrm>
            <a:off x="7772400" y="3429000"/>
            <a:ext cx="3703320" cy="914400"/>
          </a:xfrm>
          <a:prstGeom prst="rect">
            <a:avLst/>
          </a:prstGeom>
          <a:noFill/>
          <a:ln/>
        </p:spPr>
        <p:txBody>
          <a:bodyPr wrap="square" lIns="0" tIns="0" rIns="0" bIns="0" rtlCol="0" anchor="t"/>
          <a:lstStyle/>
          <a:p>
            <a:pPr algn="l" indent="0" marL="0">
              <a:buNone/>
            </a:pPr>
            <a:r>
              <a:rPr lang="en-US" sz="1300" dirty="0">
                <a:solidFill>
                  <a:srgbClr val="1B2A2E"/>
                </a:solidFill>
                <a:latin typeface="Calibri" pitchFamily="34" charset="0"/>
                <a:ea typeface="Calibri" pitchFamily="34" charset="-122"/>
                <a:cs typeface="Calibri" pitchFamily="34" charset="-120"/>
              </a:rPr>
              <a:t>On- and off-topic scores overlap (0.66–0.86 vs 0.66–0.70). Refusals rest on the answer step and the verifier.</a:t>
            </a:r>
            <a:endParaRPr lang="en-US" sz="1300" dirty="0"/>
          </a:p>
        </p:txBody>
      </p:sp>
      <p:sp>
        <p:nvSpPr>
          <p:cNvPr id="11" name="card"/>
          <p:cNvSpPr/>
          <p:nvPr/>
        </p:nvSpPr>
        <p:spPr>
          <a:xfrm>
            <a:off x="7589520" y="4572000"/>
            <a:ext cx="4023360" cy="1417320"/>
          </a:xfrm>
          <a:prstGeom prst="roundRect">
            <a:avLst>
              <a:gd name="adj" fmla="val 5161"/>
            </a:avLst>
          </a:prstGeom>
          <a:solidFill>
            <a:srgbClr val="EEF4F3"/>
          </a:solidFill>
          <a:ln w="12700">
            <a:solidFill>
              <a:srgbClr val="EEF4F3"/>
            </a:solidFill>
            <a:prstDash val="solid"/>
          </a:ln>
        </p:spPr>
      </p:sp>
      <p:sp>
        <p:nvSpPr>
          <p:cNvPr id="12" name="Text 9"/>
          <p:cNvSpPr txBox="1"/>
          <p:nvPr/>
        </p:nvSpPr>
        <p:spPr>
          <a:xfrm>
            <a:off x="7772400" y="4681728"/>
            <a:ext cx="3657600" cy="320040"/>
          </a:xfrm>
          <a:prstGeom prst="rect">
            <a:avLst/>
          </a:prstGeom>
          <a:noFill/>
          <a:ln/>
        </p:spPr>
        <p:txBody>
          <a:bodyPr wrap="square" lIns="0" tIns="0" rIns="0" bIns="0" rtlCol="0" anchor="t"/>
          <a:lstStyle/>
          <a:p>
            <a:pPr algn="l" indent="0" marL="0">
              <a:buNone/>
            </a:pPr>
            <a:r>
              <a:rPr lang="en-US" sz="1500" b="1" dirty="0">
                <a:solidFill>
                  <a:srgbClr val="8A5A00"/>
                </a:solidFill>
                <a:latin typeface="Calibri" pitchFamily="34" charset="0"/>
                <a:ea typeface="Calibri" pitchFamily="34" charset="-122"/>
                <a:cs typeface="Calibri" pitchFamily="34" charset="-120"/>
              </a:rPr>
              <a:t>French is only partly solved</a:t>
            </a:r>
            <a:endParaRPr lang="en-US" sz="1500" dirty="0"/>
          </a:p>
        </p:txBody>
      </p:sp>
      <p:sp>
        <p:nvSpPr>
          <p:cNvPr id="13" name="Text 10"/>
          <p:cNvSpPr txBox="1"/>
          <p:nvPr/>
        </p:nvSpPr>
        <p:spPr>
          <a:xfrm>
            <a:off x="7772400" y="5029200"/>
            <a:ext cx="3703320" cy="914400"/>
          </a:xfrm>
          <a:prstGeom prst="rect">
            <a:avLst/>
          </a:prstGeom>
          <a:noFill/>
          <a:ln/>
        </p:spPr>
        <p:txBody>
          <a:bodyPr wrap="square" lIns="0" tIns="0" rIns="0" bIns="0" rtlCol="0" anchor="t"/>
          <a:lstStyle/>
          <a:p>
            <a:pPr algn="l" indent="0" marL="0">
              <a:buNone/>
            </a:pPr>
            <a:r>
              <a:rPr lang="en-US" sz="1300" dirty="0">
                <a:solidFill>
                  <a:srgbClr val="1B2A2E"/>
                </a:solidFill>
                <a:latin typeface="Calibri" pitchFamily="34" charset="0"/>
                <a:ea typeface="Calibri" pitchFamily="34" charset="-122"/>
                <a:cs typeface="Calibri" pitchFamily="34" charset="-120"/>
              </a:rPr>
              <a:t>1 of 3 French questions found after English keywords + a French query pass. Fix: multilingual embeddings.</a:t>
            </a:r>
            <a:endParaRPr lang="en-US" sz="13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6E"/>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7680960" cy="822960"/>
          </a:xfrm>
          <a:prstGeom prst="rect">
            <a:avLst/>
          </a:prstGeom>
          <a:noFill/>
          <a:ln/>
        </p:spPr>
        <p:txBody>
          <a:bodyPr wrap="square" lIns="0" tIns="0" rIns="0" bIns="0" rtlCol="0" anchor="ctr"/>
          <a:lstStyle/>
          <a:p>
            <a:pPr algn="l" indent="0" marL="0">
              <a:buNone/>
            </a:pPr>
            <a:r>
              <a:rPr lang="en-US" sz="3000" b="1" dirty="0">
                <a:solidFill>
                  <a:srgbClr val="0F5257"/>
                </a:solidFill>
                <a:latin typeface="Cambria" pitchFamily="34" charset="0"/>
                <a:ea typeface="Cambria" pitchFamily="34" charset="-122"/>
                <a:cs typeface="Cambria" pitchFamily="34" charset="-120"/>
              </a:rPr>
              <a:t>Learn: the loop runs every week</a:t>
            </a:r>
            <a:endParaRPr lang="en-US" sz="3000" dirty="0"/>
          </a:p>
        </p:txBody>
      </p:sp>
      <p:sp>
        <p:nvSpPr>
          <p:cNvPr id="3" name="journey line"/>
          <p:cNvSpPr/>
          <p:nvPr/>
        </p:nvSpPr>
        <p:spPr>
          <a:xfrm>
            <a:off x="8613648" y="612648"/>
            <a:ext cx="2743200" cy="0"/>
          </a:xfrm>
          <a:prstGeom prst="line">
            <a:avLst/>
          </a:prstGeom>
          <a:noFill/>
          <a:ln w="19050">
            <a:solidFill>
              <a:srgbClr val="9DBCB8"/>
            </a:solidFill>
            <a:prstDash val="solid"/>
          </a:ln>
        </p:spPr>
      </p:sp>
      <p:sp>
        <p:nvSpPr>
          <p:cNvPr id="4" name="journey Plan"/>
          <p:cNvSpPr/>
          <p:nvPr/>
        </p:nvSpPr>
        <p:spPr>
          <a:xfrm>
            <a:off x="8458200" y="457200"/>
            <a:ext cx="310896" cy="310896"/>
          </a:xfrm>
          <a:prstGeom prst="ellipse">
            <a:avLst/>
          </a:prstGeom>
          <a:solidFill>
            <a:srgbClr val="FFFFFF"/>
          </a:solidFill>
          <a:ln w="19050">
            <a:solidFill>
              <a:srgbClr val="9DBCB8"/>
            </a:solidFill>
            <a:prstDash val="solid"/>
          </a:ln>
        </p:spPr>
      </p:sp>
      <p:sp>
        <p:nvSpPr>
          <p:cNvPr id="5" name="Text 3"/>
          <p:cNvSpPr txBox="1"/>
          <p:nvPr/>
        </p:nvSpPr>
        <p:spPr>
          <a:xfrm>
            <a:off x="8458200" y="457200"/>
            <a:ext cx="310896" cy="310896"/>
          </a:xfrm>
          <a:prstGeom prst="rect">
            <a:avLst/>
          </a:prstGeom>
          <a:noFill/>
          <a:ln/>
        </p:spPr>
        <p:txBody>
          <a:bodyPr wrap="square" lIns="0" tIns="0" rIns="0" bIns="0" rtlCol="0" anchor="ctr"/>
          <a:lstStyle/>
          <a:p>
            <a:pPr algn="ctr" indent="0" marL="0">
              <a:buNone/>
            </a:pPr>
            <a:r>
              <a:rPr lang="en-US" sz="1100" b="1" dirty="0">
                <a:solidFill>
                  <a:srgbClr val="5B6B6E"/>
                </a:solidFill>
                <a:latin typeface="Calibri" pitchFamily="34" charset="0"/>
                <a:ea typeface="Calibri" pitchFamily="34" charset="-122"/>
                <a:cs typeface="Calibri" pitchFamily="34" charset="-120"/>
              </a:rPr>
              <a:t>1</a:t>
            </a:r>
            <a:endParaRPr lang="en-US" sz="1100" dirty="0"/>
          </a:p>
        </p:txBody>
      </p:sp>
      <p:sp>
        <p:nvSpPr>
          <p:cNvPr id="6" name="Text 4"/>
          <p:cNvSpPr txBox="1"/>
          <p:nvPr/>
        </p:nvSpPr>
        <p:spPr>
          <a:xfrm>
            <a:off x="8156448" y="804672"/>
            <a:ext cx="914400" cy="256032"/>
          </a:xfrm>
          <a:prstGeom prst="rect">
            <a:avLst/>
          </a:prstGeom>
          <a:noFill/>
          <a:ln/>
        </p:spPr>
        <p:txBody>
          <a:bodyPr wrap="square" lIns="0" tIns="0" rIns="0" bIns="0" rtlCol="0" anchor="ctr"/>
          <a:lstStyle/>
          <a:p>
            <a:pPr algn="ctr" indent="0" marL="0">
              <a:buNone/>
            </a:pPr>
            <a:r>
              <a:rPr lang="en-US" sz="1000" dirty="0">
                <a:solidFill>
                  <a:srgbClr val="5B6B6E"/>
                </a:solidFill>
                <a:latin typeface="Calibri" pitchFamily="34" charset="0"/>
                <a:ea typeface="Calibri" pitchFamily="34" charset="-122"/>
                <a:cs typeface="Calibri" pitchFamily="34" charset="-120"/>
              </a:rPr>
              <a:t>Plan</a:t>
            </a:r>
            <a:endParaRPr lang="en-US" sz="1000" dirty="0"/>
          </a:p>
        </p:txBody>
      </p:sp>
      <p:sp>
        <p:nvSpPr>
          <p:cNvPr id="7" name="journey Tender design"/>
          <p:cNvSpPr/>
          <p:nvPr/>
        </p:nvSpPr>
        <p:spPr>
          <a:xfrm>
            <a:off x="9372600" y="457200"/>
            <a:ext cx="310896" cy="310896"/>
          </a:xfrm>
          <a:prstGeom prst="ellipse">
            <a:avLst/>
          </a:prstGeom>
          <a:solidFill>
            <a:srgbClr val="FFFFFF"/>
          </a:solidFill>
          <a:ln w="19050">
            <a:solidFill>
              <a:srgbClr val="9DBCB8"/>
            </a:solidFill>
            <a:prstDash val="solid"/>
          </a:ln>
        </p:spPr>
      </p:sp>
      <p:sp>
        <p:nvSpPr>
          <p:cNvPr id="8" name="Text 6"/>
          <p:cNvSpPr txBox="1"/>
          <p:nvPr/>
        </p:nvSpPr>
        <p:spPr>
          <a:xfrm>
            <a:off x="9372600" y="457200"/>
            <a:ext cx="310896" cy="310896"/>
          </a:xfrm>
          <a:prstGeom prst="rect">
            <a:avLst/>
          </a:prstGeom>
          <a:noFill/>
          <a:ln/>
        </p:spPr>
        <p:txBody>
          <a:bodyPr wrap="square" lIns="0" tIns="0" rIns="0" bIns="0" rtlCol="0" anchor="ctr"/>
          <a:lstStyle/>
          <a:p>
            <a:pPr algn="ctr" indent="0" marL="0">
              <a:buNone/>
            </a:pPr>
            <a:r>
              <a:rPr lang="en-US" sz="1100" b="1" dirty="0">
                <a:solidFill>
                  <a:srgbClr val="5B6B6E"/>
                </a:solidFill>
                <a:latin typeface="Calibri" pitchFamily="34" charset="0"/>
                <a:ea typeface="Calibri" pitchFamily="34" charset="-122"/>
                <a:cs typeface="Calibri" pitchFamily="34" charset="-120"/>
              </a:rPr>
              <a:t>2</a:t>
            </a:r>
            <a:endParaRPr lang="en-US" sz="1100" dirty="0"/>
          </a:p>
        </p:txBody>
      </p:sp>
      <p:sp>
        <p:nvSpPr>
          <p:cNvPr id="9" name="Text 7"/>
          <p:cNvSpPr txBox="1"/>
          <p:nvPr/>
        </p:nvSpPr>
        <p:spPr>
          <a:xfrm>
            <a:off x="9070848" y="804672"/>
            <a:ext cx="914400" cy="256032"/>
          </a:xfrm>
          <a:prstGeom prst="rect">
            <a:avLst/>
          </a:prstGeom>
          <a:noFill/>
          <a:ln/>
        </p:spPr>
        <p:txBody>
          <a:bodyPr wrap="square" lIns="0" tIns="0" rIns="0" bIns="0" rtlCol="0" anchor="ctr"/>
          <a:lstStyle/>
          <a:p>
            <a:pPr algn="ctr" indent="0" marL="0">
              <a:buNone/>
            </a:pPr>
            <a:r>
              <a:rPr lang="en-US" sz="1000" dirty="0">
                <a:solidFill>
                  <a:srgbClr val="5B6B6E"/>
                </a:solidFill>
                <a:latin typeface="Calibri" pitchFamily="34" charset="0"/>
                <a:ea typeface="Calibri" pitchFamily="34" charset="-122"/>
                <a:cs typeface="Calibri" pitchFamily="34" charset="-120"/>
              </a:rPr>
              <a:t>Tender design</a:t>
            </a:r>
            <a:endParaRPr lang="en-US" sz="1000" dirty="0"/>
          </a:p>
        </p:txBody>
      </p:sp>
      <p:sp>
        <p:nvSpPr>
          <p:cNvPr id="10" name="journey Monitor"/>
          <p:cNvSpPr/>
          <p:nvPr/>
        </p:nvSpPr>
        <p:spPr>
          <a:xfrm>
            <a:off x="10287000" y="457200"/>
            <a:ext cx="310896" cy="310896"/>
          </a:xfrm>
          <a:prstGeom prst="ellipse">
            <a:avLst/>
          </a:prstGeom>
          <a:solidFill>
            <a:srgbClr val="FFFFFF"/>
          </a:solidFill>
          <a:ln w="19050">
            <a:solidFill>
              <a:srgbClr val="9DBCB8"/>
            </a:solidFill>
            <a:prstDash val="solid"/>
          </a:ln>
        </p:spPr>
      </p:sp>
      <p:sp>
        <p:nvSpPr>
          <p:cNvPr id="11" name="Text 9"/>
          <p:cNvSpPr txBox="1"/>
          <p:nvPr/>
        </p:nvSpPr>
        <p:spPr>
          <a:xfrm>
            <a:off x="10287000" y="457200"/>
            <a:ext cx="310896" cy="310896"/>
          </a:xfrm>
          <a:prstGeom prst="rect">
            <a:avLst/>
          </a:prstGeom>
          <a:noFill/>
          <a:ln/>
        </p:spPr>
        <p:txBody>
          <a:bodyPr wrap="square" lIns="0" tIns="0" rIns="0" bIns="0" rtlCol="0" anchor="ctr"/>
          <a:lstStyle/>
          <a:p>
            <a:pPr algn="ctr" indent="0" marL="0">
              <a:buNone/>
            </a:pPr>
            <a:r>
              <a:rPr lang="en-US" sz="1100" b="1" dirty="0">
                <a:solidFill>
                  <a:srgbClr val="5B6B6E"/>
                </a:solidFill>
                <a:latin typeface="Calibri" pitchFamily="34" charset="0"/>
                <a:ea typeface="Calibri" pitchFamily="34" charset="-122"/>
                <a:cs typeface="Calibri" pitchFamily="34" charset="-120"/>
              </a:rPr>
              <a:t>3</a:t>
            </a:r>
            <a:endParaRPr lang="en-US" sz="1100" dirty="0"/>
          </a:p>
        </p:txBody>
      </p:sp>
      <p:sp>
        <p:nvSpPr>
          <p:cNvPr id="12" name="Text 10"/>
          <p:cNvSpPr txBox="1"/>
          <p:nvPr/>
        </p:nvSpPr>
        <p:spPr>
          <a:xfrm>
            <a:off x="9985248" y="804672"/>
            <a:ext cx="914400" cy="256032"/>
          </a:xfrm>
          <a:prstGeom prst="rect">
            <a:avLst/>
          </a:prstGeom>
          <a:noFill/>
          <a:ln/>
        </p:spPr>
        <p:txBody>
          <a:bodyPr wrap="square" lIns="0" tIns="0" rIns="0" bIns="0" rtlCol="0" anchor="ctr"/>
          <a:lstStyle/>
          <a:p>
            <a:pPr algn="ctr" indent="0" marL="0">
              <a:buNone/>
            </a:pPr>
            <a:r>
              <a:rPr lang="en-US" sz="1000" dirty="0">
                <a:solidFill>
                  <a:srgbClr val="5B6B6E"/>
                </a:solidFill>
                <a:latin typeface="Calibri" pitchFamily="34" charset="0"/>
                <a:ea typeface="Calibri" pitchFamily="34" charset="-122"/>
                <a:cs typeface="Calibri" pitchFamily="34" charset="-120"/>
              </a:rPr>
              <a:t>Monitor</a:t>
            </a:r>
            <a:endParaRPr lang="en-US" sz="1000" dirty="0"/>
          </a:p>
        </p:txBody>
      </p:sp>
      <p:sp>
        <p:nvSpPr>
          <p:cNvPr id="13" name="journey Learn"/>
          <p:cNvSpPr/>
          <p:nvPr/>
        </p:nvSpPr>
        <p:spPr>
          <a:xfrm>
            <a:off x="11201400" y="457200"/>
            <a:ext cx="310896" cy="310896"/>
          </a:xfrm>
          <a:prstGeom prst="ellipse">
            <a:avLst/>
          </a:prstGeom>
          <a:solidFill>
            <a:srgbClr val="F3B23C"/>
          </a:solidFill>
          <a:ln w="19050">
            <a:solidFill>
              <a:srgbClr val="F3B23C"/>
            </a:solidFill>
            <a:prstDash val="solid"/>
          </a:ln>
        </p:spPr>
      </p:sp>
      <p:sp>
        <p:nvSpPr>
          <p:cNvPr id="14" name="Text 12"/>
          <p:cNvSpPr txBox="1"/>
          <p:nvPr/>
        </p:nvSpPr>
        <p:spPr>
          <a:xfrm>
            <a:off x="11201400" y="457200"/>
            <a:ext cx="310896" cy="310896"/>
          </a:xfrm>
          <a:prstGeom prst="rect">
            <a:avLst/>
          </a:prstGeom>
          <a:noFill/>
          <a:ln/>
        </p:spPr>
        <p:txBody>
          <a:bodyPr wrap="square" lIns="0" tIns="0" rIns="0" bIns="0" rtlCol="0" anchor="ctr"/>
          <a:lstStyle/>
          <a:p>
            <a:pPr algn="ctr" indent="0" marL="0">
              <a:buNone/>
            </a:pPr>
            <a:r>
              <a:rPr lang="en-US" sz="1100" b="1" dirty="0">
                <a:solidFill>
                  <a:srgbClr val="1B2A2E"/>
                </a:solidFill>
                <a:latin typeface="Calibri" pitchFamily="34" charset="0"/>
                <a:ea typeface="Calibri" pitchFamily="34" charset="-122"/>
                <a:cs typeface="Calibri" pitchFamily="34" charset="-120"/>
              </a:rPr>
              <a:t>4</a:t>
            </a:r>
            <a:endParaRPr lang="en-US" sz="1100" dirty="0"/>
          </a:p>
        </p:txBody>
      </p:sp>
      <p:sp>
        <p:nvSpPr>
          <p:cNvPr id="15" name="Text 13"/>
          <p:cNvSpPr txBox="1"/>
          <p:nvPr/>
        </p:nvSpPr>
        <p:spPr>
          <a:xfrm>
            <a:off x="10899648" y="804672"/>
            <a:ext cx="914400" cy="256032"/>
          </a:xfrm>
          <a:prstGeom prst="rect">
            <a:avLst/>
          </a:prstGeom>
          <a:noFill/>
          <a:ln/>
        </p:spPr>
        <p:txBody>
          <a:bodyPr wrap="square" lIns="0" tIns="0" rIns="0" bIns="0" rtlCol="0" anchor="ctr"/>
          <a:lstStyle/>
          <a:p>
            <a:pPr algn="ctr" indent="0" marL="0">
              <a:buNone/>
            </a:pPr>
            <a:r>
              <a:rPr lang="en-US" sz="1000" b="1" dirty="0">
                <a:solidFill>
                  <a:srgbClr val="1B2A2E"/>
                </a:solidFill>
                <a:latin typeface="Calibri" pitchFamily="34" charset="0"/>
                <a:ea typeface="Calibri" pitchFamily="34" charset="-122"/>
                <a:cs typeface="Calibri" pitchFamily="34" charset="-120"/>
              </a:rPr>
              <a:t>Learn</a:t>
            </a:r>
            <a:endParaRPr lang="en-US" sz="1000" dirty="0"/>
          </a:p>
        </p:txBody>
      </p:sp>
      <p:sp>
        <p:nvSpPr>
          <p:cNvPr id="16" name="loop ring"/>
          <p:cNvSpPr/>
          <p:nvPr/>
        </p:nvSpPr>
        <p:spPr>
          <a:xfrm>
            <a:off x="1005840" y="1691640"/>
            <a:ext cx="4206240" cy="4206240"/>
          </a:xfrm>
          <a:prstGeom prst="ellipse">
            <a:avLst/>
          </a:prstGeom>
          <a:solidFill>
            <a:srgbClr val="FFFFFF"/>
          </a:solidFill>
          <a:ln w="19050">
            <a:solidFill>
              <a:srgbClr val="9DBCB8"/>
            </a:solidFill>
            <a:prstDash val="dash"/>
          </a:ln>
        </p:spPr>
      </p:sp>
      <p:sp>
        <p:nvSpPr>
          <p:cNvPr id="17" name="loop Ingest new data"/>
          <p:cNvSpPr/>
          <p:nvPr/>
        </p:nvSpPr>
        <p:spPr>
          <a:xfrm>
            <a:off x="2331720" y="1417320"/>
            <a:ext cx="1554480" cy="548640"/>
          </a:xfrm>
          <a:prstGeom prst="roundRect">
            <a:avLst>
              <a:gd name="adj" fmla="val 16667"/>
            </a:avLst>
          </a:prstGeom>
          <a:solidFill>
            <a:srgbClr val="0F5257"/>
          </a:solidFill>
          <a:ln w="12700">
            <a:solidFill>
              <a:srgbClr val="FFFFFF"/>
            </a:solidFill>
            <a:prstDash val="solid"/>
          </a:ln>
        </p:spPr>
      </p:sp>
      <p:sp>
        <p:nvSpPr>
          <p:cNvPr id="18" name="Text 16"/>
          <p:cNvSpPr txBox="1"/>
          <p:nvPr/>
        </p:nvSpPr>
        <p:spPr>
          <a:xfrm>
            <a:off x="2331720" y="1417320"/>
            <a:ext cx="1554480" cy="54864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Ingest new data</a:t>
            </a:r>
            <a:endParaRPr lang="en-US" sz="1200" dirty="0"/>
          </a:p>
        </p:txBody>
      </p:sp>
      <p:sp>
        <p:nvSpPr>
          <p:cNvPr id="19" name="loop Quality gate"/>
          <p:cNvSpPr/>
          <p:nvPr/>
        </p:nvSpPr>
        <p:spPr>
          <a:xfrm>
            <a:off x="3976005" y="2209166"/>
            <a:ext cx="1554480" cy="548640"/>
          </a:xfrm>
          <a:prstGeom prst="roundRect">
            <a:avLst>
              <a:gd name="adj" fmla="val 16667"/>
            </a:avLst>
          </a:prstGeom>
          <a:solidFill>
            <a:srgbClr val="F3B23C"/>
          </a:solidFill>
          <a:ln w="12700">
            <a:solidFill>
              <a:srgbClr val="FFFFFF"/>
            </a:solidFill>
            <a:prstDash val="solid"/>
          </a:ln>
        </p:spPr>
      </p:sp>
      <p:sp>
        <p:nvSpPr>
          <p:cNvPr id="20" name="Text 18"/>
          <p:cNvSpPr txBox="1"/>
          <p:nvPr/>
        </p:nvSpPr>
        <p:spPr>
          <a:xfrm>
            <a:off x="3976005" y="2209166"/>
            <a:ext cx="1554480" cy="548640"/>
          </a:xfrm>
          <a:prstGeom prst="rect">
            <a:avLst/>
          </a:prstGeom>
          <a:noFill/>
          <a:ln/>
        </p:spPr>
        <p:txBody>
          <a:bodyPr wrap="square" lIns="0" tIns="0" rIns="0" bIns="0" rtlCol="0" anchor="ctr"/>
          <a:lstStyle/>
          <a:p>
            <a:pPr algn="ctr" indent="0" marL="0">
              <a:buNone/>
            </a:pPr>
            <a:r>
              <a:rPr lang="en-US" sz="1200" b="1" dirty="0">
                <a:solidFill>
                  <a:srgbClr val="1B2A2E"/>
                </a:solidFill>
                <a:latin typeface="Calibri" pitchFamily="34" charset="0"/>
                <a:ea typeface="Calibri" pitchFamily="34" charset="-122"/>
                <a:cs typeface="Calibri" pitchFamily="34" charset="-120"/>
              </a:rPr>
              <a:t>Quality gate</a:t>
            </a:r>
            <a:endParaRPr lang="en-US" sz="1200" dirty="0"/>
          </a:p>
        </p:txBody>
      </p:sp>
      <p:sp>
        <p:nvSpPr>
          <p:cNvPr id="21" name="loop Extract new reports"/>
          <p:cNvSpPr/>
          <p:nvPr/>
        </p:nvSpPr>
        <p:spPr>
          <a:xfrm>
            <a:off x="4382110" y="3988428"/>
            <a:ext cx="1554480" cy="548640"/>
          </a:xfrm>
          <a:prstGeom prst="roundRect">
            <a:avLst>
              <a:gd name="adj" fmla="val 16667"/>
            </a:avLst>
          </a:prstGeom>
          <a:solidFill>
            <a:srgbClr val="0F5257"/>
          </a:solidFill>
          <a:ln w="12700">
            <a:solidFill>
              <a:srgbClr val="FFFFFF"/>
            </a:solidFill>
            <a:prstDash val="solid"/>
          </a:ln>
        </p:spPr>
      </p:sp>
      <p:sp>
        <p:nvSpPr>
          <p:cNvPr id="22" name="Text 20"/>
          <p:cNvSpPr txBox="1"/>
          <p:nvPr/>
        </p:nvSpPr>
        <p:spPr>
          <a:xfrm>
            <a:off x="4382110" y="3988428"/>
            <a:ext cx="1554480" cy="54864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Extract new reports</a:t>
            </a:r>
            <a:endParaRPr lang="en-US" sz="1200" dirty="0"/>
          </a:p>
        </p:txBody>
      </p:sp>
      <p:sp>
        <p:nvSpPr>
          <p:cNvPr id="23" name="loop Embed changes + sync"/>
          <p:cNvSpPr/>
          <p:nvPr/>
        </p:nvSpPr>
        <p:spPr>
          <a:xfrm>
            <a:off x="3244230" y="5415286"/>
            <a:ext cx="1554480" cy="548640"/>
          </a:xfrm>
          <a:prstGeom prst="roundRect">
            <a:avLst>
              <a:gd name="adj" fmla="val 16667"/>
            </a:avLst>
          </a:prstGeom>
          <a:solidFill>
            <a:srgbClr val="0F5257"/>
          </a:solidFill>
          <a:ln w="12700">
            <a:solidFill>
              <a:srgbClr val="FFFFFF"/>
            </a:solidFill>
            <a:prstDash val="solid"/>
          </a:ln>
        </p:spPr>
      </p:sp>
      <p:sp>
        <p:nvSpPr>
          <p:cNvPr id="24" name="Text 22"/>
          <p:cNvSpPr txBox="1"/>
          <p:nvPr/>
        </p:nvSpPr>
        <p:spPr>
          <a:xfrm>
            <a:off x="3244230" y="5415286"/>
            <a:ext cx="1554480" cy="54864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Embed changes + sync</a:t>
            </a:r>
            <a:endParaRPr lang="en-US" sz="1200" dirty="0"/>
          </a:p>
        </p:txBody>
      </p:sp>
      <p:sp>
        <p:nvSpPr>
          <p:cNvPr id="25" name="loop Retrain: champion / challenger"/>
          <p:cNvSpPr/>
          <p:nvPr/>
        </p:nvSpPr>
        <p:spPr>
          <a:xfrm>
            <a:off x="1419210" y="5415286"/>
            <a:ext cx="1554480" cy="548640"/>
          </a:xfrm>
          <a:prstGeom prst="roundRect">
            <a:avLst>
              <a:gd name="adj" fmla="val 16667"/>
            </a:avLst>
          </a:prstGeom>
          <a:solidFill>
            <a:srgbClr val="0F5257"/>
          </a:solidFill>
          <a:ln w="12700">
            <a:solidFill>
              <a:srgbClr val="FFFFFF"/>
            </a:solidFill>
            <a:prstDash val="solid"/>
          </a:ln>
        </p:spPr>
      </p:sp>
      <p:sp>
        <p:nvSpPr>
          <p:cNvPr id="26" name="Text 24"/>
          <p:cNvSpPr txBox="1"/>
          <p:nvPr/>
        </p:nvSpPr>
        <p:spPr>
          <a:xfrm>
            <a:off x="1419210" y="5415286"/>
            <a:ext cx="1554480" cy="54864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Retrain: champion / challenger</a:t>
            </a:r>
            <a:endParaRPr lang="en-US" sz="1200" dirty="0"/>
          </a:p>
        </p:txBody>
      </p:sp>
      <p:sp>
        <p:nvSpPr>
          <p:cNvPr id="27" name="loop Regression eval"/>
          <p:cNvSpPr/>
          <p:nvPr/>
        </p:nvSpPr>
        <p:spPr>
          <a:xfrm>
            <a:off x="281330" y="3988428"/>
            <a:ext cx="1554480" cy="548640"/>
          </a:xfrm>
          <a:prstGeom prst="roundRect">
            <a:avLst>
              <a:gd name="adj" fmla="val 16667"/>
            </a:avLst>
          </a:prstGeom>
          <a:solidFill>
            <a:srgbClr val="F3B23C"/>
          </a:solidFill>
          <a:ln w="12700">
            <a:solidFill>
              <a:srgbClr val="FFFFFF"/>
            </a:solidFill>
            <a:prstDash val="solid"/>
          </a:ln>
        </p:spPr>
      </p:sp>
      <p:sp>
        <p:nvSpPr>
          <p:cNvPr id="28" name="Text 26"/>
          <p:cNvSpPr txBox="1"/>
          <p:nvPr/>
        </p:nvSpPr>
        <p:spPr>
          <a:xfrm>
            <a:off x="281330" y="3988428"/>
            <a:ext cx="1554480" cy="548640"/>
          </a:xfrm>
          <a:prstGeom prst="rect">
            <a:avLst/>
          </a:prstGeom>
          <a:noFill/>
          <a:ln/>
        </p:spPr>
        <p:txBody>
          <a:bodyPr wrap="square" lIns="0" tIns="0" rIns="0" bIns="0" rtlCol="0" anchor="ctr"/>
          <a:lstStyle/>
          <a:p>
            <a:pPr algn="ctr" indent="0" marL="0">
              <a:buNone/>
            </a:pPr>
            <a:r>
              <a:rPr lang="en-US" sz="1200" b="1" dirty="0">
                <a:solidFill>
                  <a:srgbClr val="1B2A2E"/>
                </a:solidFill>
                <a:latin typeface="Calibri" pitchFamily="34" charset="0"/>
                <a:ea typeface="Calibri" pitchFamily="34" charset="-122"/>
                <a:cs typeface="Calibri" pitchFamily="34" charset="-120"/>
              </a:rPr>
              <a:t>Regression eval</a:t>
            </a:r>
            <a:endParaRPr lang="en-US" sz="1200" dirty="0"/>
          </a:p>
        </p:txBody>
      </p:sp>
      <p:sp>
        <p:nvSpPr>
          <p:cNvPr id="29" name="loop KPI dashboard"/>
          <p:cNvSpPr/>
          <p:nvPr/>
        </p:nvSpPr>
        <p:spPr>
          <a:xfrm>
            <a:off x="687435" y="2209166"/>
            <a:ext cx="1554480" cy="548640"/>
          </a:xfrm>
          <a:prstGeom prst="roundRect">
            <a:avLst>
              <a:gd name="adj" fmla="val 16667"/>
            </a:avLst>
          </a:prstGeom>
          <a:solidFill>
            <a:srgbClr val="0F5257"/>
          </a:solidFill>
          <a:ln w="12700">
            <a:solidFill>
              <a:srgbClr val="FFFFFF"/>
            </a:solidFill>
            <a:prstDash val="solid"/>
          </a:ln>
        </p:spPr>
      </p:sp>
      <p:sp>
        <p:nvSpPr>
          <p:cNvPr id="30" name="Text 28"/>
          <p:cNvSpPr txBox="1"/>
          <p:nvPr/>
        </p:nvSpPr>
        <p:spPr>
          <a:xfrm>
            <a:off x="687435" y="2209166"/>
            <a:ext cx="1554480" cy="54864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KPI dashboard</a:t>
            </a:r>
            <a:endParaRPr lang="en-US" sz="1200" dirty="0"/>
          </a:p>
        </p:txBody>
      </p:sp>
      <p:sp>
        <p:nvSpPr>
          <p:cNvPr id="31" name="Text 29"/>
          <p:cNvSpPr txBox="1"/>
          <p:nvPr/>
        </p:nvSpPr>
        <p:spPr>
          <a:xfrm>
            <a:off x="2194560" y="3566160"/>
            <a:ext cx="1828800" cy="457200"/>
          </a:xfrm>
          <a:prstGeom prst="rect">
            <a:avLst/>
          </a:prstGeom>
          <a:noFill/>
          <a:ln/>
        </p:spPr>
        <p:txBody>
          <a:bodyPr wrap="square" lIns="0" tIns="0" rIns="0" bIns="0" rtlCol="0" anchor="ctr"/>
          <a:lstStyle/>
          <a:p>
            <a:pPr algn="ctr" indent="0" marL="0">
              <a:buNone/>
            </a:pPr>
            <a:r>
              <a:rPr lang="en-US" sz="2000" b="1" dirty="0">
                <a:solidFill>
                  <a:srgbClr val="0F5257"/>
                </a:solidFill>
                <a:latin typeface="Calibri" pitchFamily="34" charset="0"/>
                <a:ea typeface="Calibri" pitchFamily="34" charset="-122"/>
                <a:cs typeface="Calibri" pitchFamily="34" charset="-120"/>
              </a:rPr>
              <a:t>Weekly</a:t>
            </a:r>
            <a:endParaRPr lang="en-US" sz="2000" dirty="0"/>
          </a:p>
        </p:txBody>
      </p:sp>
      <p:sp>
        <p:nvSpPr>
          <p:cNvPr id="32" name="Text 30"/>
          <p:cNvSpPr txBox="1"/>
          <p:nvPr/>
        </p:nvSpPr>
        <p:spPr>
          <a:xfrm>
            <a:off x="6309360" y="1463040"/>
            <a:ext cx="5303520" cy="4206240"/>
          </a:xfrm>
          <a:prstGeom prst="rect">
            <a:avLst/>
          </a:prstGeom>
          <a:noFill/>
          <a:ln/>
        </p:spPr>
        <p:txBody>
          <a:bodyPr wrap="square" lIns="0" tIns="0" rIns="0" bIns="0" rtlCol="0" anchor="t"/>
          <a:lstStyle/>
          <a:p>
            <a:pPr marL="203200" indent="-203200">
              <a:spcAft>
                <a:spcPts val="800"/>
              </a:spcAft>
              <a:buSzPct val="100000"/>
              <a:buChar char="•"/>
            </a:pPr>
            <a:r>
              <a:rPr lang="en-US" sz="1500" dirty="0">
                <a:solidFill>
                  <a:srgbClr val="1B2A2E"/>
                </a:solidFill>
                <a:latin typeface="Calibri" pitchFamily="34" charset="0"/>
                <a:ea typeface="Calibri" pitchFamily="34" charset="-122"/>
                <a:cs typeface="Calibri" pitchFamily="34" charset="-120"/>
              </a:rPr>
              <a:t>Incremental at every step: only new documents are parsed, only changed passages re-embedded (e.g. 196 on 23 Oct)</a:t>
            </a:r>
            <a:endParaRPr lang="en-US" sz="1500" dirty="0"/>
          </a:p>
          <a:p>
            <a:pPr marL="203200" indent="-203200">
              <a:spcAft>
                <a:spcPts val="800"/>
              </a:spcAft>
              <a:buSzPct val="100000"/>
              <a:buChar char="•"/>
            </a:pPr>
            <a:r>
              <a:rPr lang="en-US" sz="1500" dirty="0">
                <a:solidFill>
                  <a:srgbClr val="1B2A2E"/>
                </a:solidFill>
                <a:latin typeface="Calibri" pitchFamily="34" charset="0"/>
                <a:ea typeface="Calibri" pitchFamily="34" charset="-122"/>
                <a:cs typeface="Calibri" pitchFamily="34" charset="-120"/>
              </a:rPr>
              <a:t>A model is promoted only if no worse on the latest time slice; the decision is logged in MLflow</a:t>
            </a:r>
            <a:endParaRPr lang="en-US" sz="1500" dirty="0"/>
          </a:p>
          <a:p>
            <a:pPr marL="203200" indent="-203200">
              <a:spcAft>
                <a:spcPts val="800"/>
              </a:spcAft>
              <a:buSzPct val="100000"/>
              <a:buChar char="•"/>
            </a:pPr>
            <a:r>
              <a:rPr lang="en-US" sz="1500" dirty="0">
                <a:solidFill>
                  <a:srgbClr val="1B2A2E"/>
                </a:solidFill>
                <a:latin typeface="Calibri" pitchFamily="34" charset="0"/>
                <a:ea typeface="Calibri" pitchFamily="34" charset="-122"/>
                <a:cs typeface="Calibri" pitchFamily="34" charset="-120"/>
              </a:rPr>
              <a:t>The run fails if recall@5 drops by more than 5 points</a:t>
            </a:r>
            <a:endParaRPr lang="en-US" sz="1500" dirty="0"/>
          </a:p>
          <a:p>
            <a:pPr marL="203200" indent="-203200">
              <a:spcAft>
                <a:spcPts val="800"/>
              </a:spcAft>
              <a:buSzPct val="100000"/>
              <a:buChar char="•"/>
            </a:pPr>
            <a:r>
              <a:rPr lang="en-US" sz="1500" dirty="0">
                <a:solidFill>
                  <a:srgbClr val="1B2A2E"/>
                </a:solidFill>
                <a:latin typeface="Calibri" pitchFamily="34" charset="0"/>
                <a:ea typeface="Calibri" pitchFamily="34" charset="-122"/>
                <a:cs typeface="Calibri" pitchFamily="34" charset="-120"/>
              </a:rPr>
              <a:t>👍 / 👎 and “wrong source” feedback → reviewed → added to the evaluation set</a:t>
            </a:r>
            <a:endParaRPr lang="en-US" sz="1500" dirty="0"/>
          </a:p>
          <a:p>
            <a:pPr marL="203200" indent="-203200">
              <a:spcAft>
                <a:spcPts val="800"/>
              </a:spcAft>
              <a:buSzPct val="100000"/>
              <a:buChar char="•"/>
            </a:pPr>
            <a:r>
              <a:rPr lang="en-US" sz="1500" dirty="0">
                <a:solidFill>
                  <a:srgbClr val="1B2A2E"/>
                </a:solidFill>
                <a:latin typeface="Calibri" pitchFamily="34" charset="0"/>
                <a:ea typeface="Calibri" pitchFamily="34" charset="-122"/>
                <a:cs typeface="Calibri" pitchFamily="34" charset="-120"/>
              </a:rPr>
              <a:t>AI/BI dashboard: data health, model quality, assistant quality, usage</a:t>
            </a:r>
            <a:endParaRPr lang="en-US" sz="15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6E"/>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7680960" cy="822960"/>
          </a:xfrm>
          <a:prstGeom prst="rect">
            <a:avLst/>
          </a:prstGeom>
          <a:noFill/>
          <a:ln/>
        </p:spPr>
        <p:txBody>
          <a:bodyPr wrap="square" lIns="0" tIns="0" rIns="0" bIns="0" rtlCol="0" anchor="ctr"/>
          <a:lstStyle/>
          <a:p>
            <a:pPr algn="l" indent="0" marL="0">
              <a:buNone/>
            </a:pPr>
            <a:r>
              <a:rPr lang="en-US" sz="3000" b="1" dirty="0">
                <a:solidFill>
                  <a:srgbClr val="0F5257"/>
                </a:solidFill>
                <a:latin typeface="Cambria" pitchFamily="34" charset="0"/>
                <a:ea typeface="Cambria" pitchFamily="34" charset="-122"/>
                <a:cs typeface="Cambria" pitchFamily="34" charset="-120"/>
              </a:rPr>
              <a:t>Rollout with go / no-go criteria</a:t>
            </a:r>
            <a:endParaRPr lang="en-US" sz="3000" dirty="0"/>
          </a:p>
        </p:txBody>
      </p:sp>
      <p:sp>
        <p:nvSpPr>
          <p:cNvPr id="3" name="journey line"/>
          <p:cNvSpPr/>
          <p:nvPr/>
        </p:nvSpPr>
        <p:spPr>
          <a:xfrm>
            <a:off x="8613648" y="612648"/>
            <a:ext cx="2743200" cy="0"/>
          </a:xfrm>
          <a:prstGeom prst="line">
            <a:avLst/>
          </a:prstGeom>
          <a:noFill/>
          <a:ln w="19050">
            <a:solidFill>
              <a:srgbClr val="9DBCB8"/>
            </a:solidFill>
            <a:prstDash val="solid"/>
          </a:ln>
        </p:spPr>
      </p:sp>
      <p:sp>
        <p:nvSpPr>
          <p:cNvPr id="4" name="journey Plan"/>
          <p:cNvSpPr/>
          <p:nvPr/>
        </p:nvSpPr>
        <p:spPr>
          <a:xfrm>
            <a:off x="8458200" y="457200"/>
            <a:ext cx="310896" cy="310896"/>
          </a:xfrm>
          <a:prstGeom prst="ellipse">
            <a:avLst/>
          </a:prstGeom>
          <a:solidFill>
            <a:srgbClr val="FFFFFF"/>
          </a:solidFill>
          <a:ln w="19050">
            <a:solidFill>
              <a:srgbClr val="9DBCB8"/>
            </a:solidFill>
            <a:prstDash val="solid"/>
          </a:ln>
        </p:spPr>
      </p:sp>
      <p:sp>
        <p:nvSpPr>
          <p:cNvPr id="5" name="Text 3"/>
          <p:cNvSpPr txBox="1"/>
          <p:nvPr/>
        </p:nvSpPr>
        <p:spPr>
          <a:xfrm>
            <a:off x="8458200" y="457200"/>
            <a:ext cx="310896" cy="310896"/>
          </a:xfrm>
          <a:prstGeom prst="rect">
            <a:avLst/>
          </a:prstGeom>
          <a:noFill/>
          <a:ln/>
        </p:spPr>
        <p:txBody>
          <a:bodyPr wrap="square" lIns="0" tIns="0" rIns="0" bIns="0" rtlCol="0" anchor="ctr"/>
          <a:lstStyle/>
          <a:p>
            <a:pPr algn="ctr" indent="0" marL="0">
              <a:buNone/>
            </a:pPr>
            <a:r>
              <a:rPr lang="en-US" sz="1100" b="1" dirty="0">
                <a:solidFill>
                  <a:srgbClr val="5B6B6E"/>
                </a:solidFill>
                <a:latin typeface="Calibri" pitchFamily="34" charset="0"/>
                <a:ea typeface="Calibri" pitchFamily="34" charset="-122"/>
                <a:cs typeface="Calibri" pitchFamily="34" charset="-120"/>
              </a:rPr>
              <a:t>1</a:t>
            </a:r>
            <a:endParaRPr lang="en-US" sz="1100" dirty="0"/>
          </a:p>
        </p:txBody>
      </p:sp>
      <p:sp>
        <p:nvSpPr>
          <p:cNvPr id="6" name="Text 4"/>
          <p:cNvSpPr txBox="1"/>
          <p:nvPr/>
        </p:nvSpPr>
        <p:spPr>
          <a:xfrm>
            <a:off x="8156448" y="804672"/>
            <a:ext cx="914400" cy="256032"/>
          </a:xfrm>
          <a:prstGeom prst="rect">
            <a:avLst/>
          </a:prstGeom>
          <a:noFill/>
          <a:ln/>
        </p:spPr>
        <p:txBody>
          <a:bodyPr wrap="square" lIns="0" tIns="0" rIns="0" bIns="0" rtlCol="0" anchor="ctr"/>
          <a:lstStyle/>
          <a:p>
            <a:pPr algn="ctr" indent="0" marL="0">
              <a:buNone/>
            </a:pPr>
            <a:r>
              <a:rPr lang="en-US" sz="1000" dirty="0">
                <a:solidFill>
                  <a:srgbClr val="5B6B6E"/>
                </a:solidFill>
                <a:latin typeface="Calibri" pitchFamily="34" charset="0"/>
                <a:ea typeface="Calibri" pitchFamily="34" charset="-122"/>
                <a:cs typeface="Calibri" pitchFamily="34" charset="-120"/>
              </a:rPr>
              <a:t>Plan</a:t>
            </a:r>
            <a:endParaRPr lang="en-US" sz="1000" dirty="0"/>
          </a:p>
        </p:txBody>
      </p:sp>
      <p:sp>
        <p:nvSpPr>
          <p:cNvPr id="7" name="journey Tender design"/>
          <p:cNvSpPr/>
          <p:nvPr/>
        </p:nvSpPr>
        <p:spPr>
          <a:xfrm>
            <a:off x="9372600" y="457200"/>
            <a:ext cx="310896" cy="310896"/>
          </a:xfrm>
          <a:prstGeom prst="ellipse">
            <a:avLst/>
          </a:prstGeom>
          <a:solidFill>
            <a:srgbClr val="FFFFFF"/>
          </a:solidFill>
          <a:ln w="19050">
            <a:solidFill>
              <a:srgbClr val="9DBCB8"/>
            </a:solidFill>
            <a:prstDash val="solid"/>
          </a:ln>
        </p:spPr>
      </p:sp>
      <p:sp>
        <p:nvSpPr>
          <p:cNvPr id="8" name="Text 6"/>
          <p:cNvSpPr txBox="1"/>
          <p:nvPr/>
        </p:nvSpPr>
        <p:spPr>
          <a:xfrm>
            <a:off x="9372600" y="457200"/>
            <a:ext cx="310896" cy="310896"/>
          </a:xfrm>
          <a:prstGeom prst="rect">
            <a:avLst/>
          </a:prstGeom>
          <a:noFill/>
          <a:ln/>
        </p:spPr>
        <p:txBody>
          <a:bodyPr wrap="square" lIns="0" tIns="0" rIns="0" bIns="0" rtlCol="0" anchor="ctr"/>
          <a:lstStyle/>
          <a:p>
            <a:pPr algn="ctr" indent="0" marL="0">
              <a:buNone/>
            </a:pPr>
            <a:r>
              <a:rPr lang="en-US" sz="1100" b="1" dirty="0">
                <a:solidFill>
                  <a:srgbClr val="5B6B6E"/>
                </a:solidFill>
                <a:latin typeface="Calibri" pitchFamily="34" charset="0"/>
                <a:ea typeface="Calibri" pitchFamily="34" charset="-122"/>
                <a:cs typeface="Calibri" pitchFamily="34" charset="-120"/>
              </a:rPr>
              <a:t>2</a:t>
            </a:r>
            <a:endParaRPr lang="en-US" sz="1100" dirty="0"/>
          </a:p>
        </p:txBody>
      </p:sp>
      <p:sp>
        <p:nvSpPr>
          <p:cNvPr id="9" name="Text 7"/>
          <p:cNvSpPr txBox="1"/>
          <p:nvPr/>
        </p:nvSpPr>
        <p:spPr>
          <a:xfrm>
            <a:off x="9070848" y="804672"/>
            <a:ext cx="914400" cy="256032"/>
          </a:xfrm>
          <a:prstGeom prst="rect">
            <a:avLst/>
          </a:prstGeom>
          <a:noFill/>
          <a:ln/>
        </p:spPr>
        <p:txBody>
          <a:bodyPr wrap="square" lIns="0" tIns="0" rIns="0" bIns="0" rtlCol="0" anchor="ctr"/>
          <a:lstStyle/>
          <a:p>
            <a:pPr algn="ctr" indent="0" marL="0">
              <a:buNone/>
            </a:pPr>
            <a:r>
              <a:rPr lang="en-US" sz="1000" dirty="0">
                <a:solidFill>
                  <a:srgbClr val="5B6B6E"/>
                </a:solidFill>
                <a:latin typeface="Calibri" pitchFamily="34" charset="0"/>
                <a:ea typeface="Calibri" pitchFamily="34" charset="-122"/>
                <a:cs typeface="Calibri" pitchFamily="34" charset="-120"/>
              </a:rPr>
              <a:t>Tender design</a:t>
            </a:r>
            <a:endParaRPr lang="en-US" sz="1000" dirty="0"/>
          </a:p>
        </p:txBody>
      </p:sp>
      <p:sp>
        <p:nvSpPr>
          <p:cNvPr id="10" name="journey Monitor"/>
          <p:cNvSpPr/>
          <p:nvPr/>
        </p:nvSpPr>
        <p:spPr>
          <a:xfrm>
            <a:off x="10287000" y="457200"/>
            <a:ext cx="310896" cy="310896"/>
          </a:xfrm>
          <a:prstGeom prst="ellipse">
            <a:avLst/>
          </a:prstGeom>
          <a:solidFill>
            <a:srgbClr val="FFFFFF"/>
          </a:solidFill>
          <a:ln w="19050">
            <a:solidFill>
              <a:srgbClr val="9DBCB8"/>
            </a:solidFill>
            <a:prstDash val="solid"/>
          </a:ln>
        </p:spPr>
      </p:sp>
      <p:sp>
        <p:nvSpPr>
          <p:cNvPr id="11" name="Text 9"/>
          <p:cNvSpPr txBox="1"/>
          <p:nvPr/>
        </p:nvSpPr>
        <p:spPr>
          <a:xfrm>
            <a:off x="10287000" y="457200"/>
            <a:ext cx="310896" cy="310896"/>
          </a:xfrm>
          <a:prstGeom prst="rect">
            <a:avLst/>
          </a:prstGeom>
          <a:noFill/>
          <a:ln/>
        </p:spPr>
        <p:txBody>
          <a:bodyPr wrap="square" lIns="0" tIns="0" rIns="0" bIns="0" rtlCol="0" anchor="ctr"/>
          <a:lstStyle/>
          <a:p>
            <a:pPr algn="ctr" indent="0" marL="0">
              <a:buNone/>
            </a:pPr>
            <a:r>
              <a:rPr lang="en-US" sz="1100" b="1" dirty="0">
                <a:solidFill>
                  <a:srgbClr val="5B6B6E"/>
                </a:solidFill>
                <a:latin typeface="Calibri" pitchFamily="34" charset="0"/>
                <a:ea typeface="Calibri" pitchFamily="34" charset="-122"/>
                <a:cs typeface="Calibri" pitchFamily="34" charset="-120"/>
              </a:rPr>
              <a:t>3</a:t>
            </a:r>
            <a:endParaRPr lang="en-US" sz="1100" dirty="0"/>
          </a:p>
        </p:txBody>
      </p:sp>
      <p:sp>
        <p:nvSpPr>
          <p:cNvPr id="12" name="Text 10"/>
          <p:cNvSpPr txBox="1"/>
          <p:nvPr/>
        </p:nvSpPr>
        <p:spPr>
          <a:xfrm>
            <a:off x="9985248" y="804672"/>
            <a:ext cx="914400" cy="256032"/>
          </a:xfrm>
          <a:prstGeom prst="rect">
            <a:avLst/>
          </a:prstGeom>
          <a:noFill/>
          <a:ln/>
        </p:spPr>
        <p:txBody>
          <a:bodyPr wrap="square" lIns="0" tIns="0" rIns="0" bIns="0" rtlCol="0" anchor="ctr"/>
          <a:lstStyle/>
          <a:p>
            <a:pPr algn="ctr" indent="0" marL="0">
              <a:buNone/>
            </a:pPr>
            <a:r>
              <a:rPr lang="en-US" sz="1000" dirty="0">
                <a:solidFill>
                  <a:srgbClr val="5B6B6E"/>
                </a:solidFill>
                <a:latin typeface="Calibri" pitchFamily="34" charset="0"/>
                <a:ea typeface="Calibri" pitchFamily="34" charset="-122"/>
                <a:cs typeface="Calibri" pitchFamily="34" charset="-120"/>
              </a:rPr>
              <a:t>Monitor</a:t>
            </a:r>
            <a:endParaRPr lang="en-US" sz="1000" dirty="0"/>
          </a:p>
        </p:txBody>
      </p:sp>
      <p:sp>
        <p:nvSpPr>
          <p:cNvPr id="13" name="journey Learn"/>
          <p:cNvSpPr/>
          <p:nvPr/>
        </p:nvSpPr>
        <p:spPr>
          <a:xfrm>
            <a:off x="11201400" y="457200"/>
            <a:ext cx="310896" cy="310896"/>
          </a:xfrm>
          <a:prstGeom prst="ellipse">
            <a:avLst/>
          </a:prstGeom>
          <a:solidFill>
            <a:srgbClr val="F3B23C"/>
          </a:solidFill>
          <a:ln w="19050">
            <a:solidFill>
              <a:srgbClr val="F3B23C"/>
            </a:solidFill>
            <a:prstDash val="solid"/>
          </a:ln>
        </p:spPr>
      </p:sp>
      <p:sp>
        <p:nvSpPr>
          <p:cNvPr id="14" name="Text 12"/>
          <p:cNvSpPr txBox="1"/>
          <p:nvPr/>
        </p:nvSpPr>
        <p:spPr>
          <a:xfrm>
            <a:off x="11201400" y="457200"/>
            <a:ext cx="310896" cy="310896"/>
          </a:xfrm>
          <a:prstGeom prst="rect">
            <a:avLst/>
          </a:prstGeom>
          <a:noFill/>
          <a:ln/>
        </p:spPr>
        <p:txBody>
          <a:bodyPr wrap="square" lIns="0" tIns="0" rIns="0" bIns="0" rtlCol="0" anchor="ctr"/>
          <a:lstStyle/>
          <a:p>
            <a:pPr algn="ctr" indent="0" marL="0">
              <a:buNone/>
            </a:pPr>
            <a:r>
              <a:rPr lang="en-US" sz="1100" b="1" dirty="0">
                <a:solidFill>
                  <a:srgbClr val="1B2A2E"/>
                </a:solidFill>
                <a:latin typeface="Calibri" pitchFamily="34" charset="0"/>
                <a:ea typeface="Calibri" pitchFamily="34" charset="-122"/>
                <a:cs typeface="Calibri" pitchFamily="34" charset="-120"/>
              </a:rPr>
              <a:t>4</a:t>
            </a:r>
            <a:endParaRPr lang="en-US" sz="1100" dirty="0"/>
          </a:p>
        </p:txBody>
      </p:sp>
      <p:sp>
        <p:nvSpPr>
          <p:cNvPr id="15" name="Text 13"/>
          <p:cNvSpPr txBox="1"/>
          <p:nvPr/>
        </p:nvSpPr>
        <p:spPr>
          <a:xfrm>
            <a:off x="10899648" y="804672"/>
            <a:ext cx="914400" cy="256032"/>
          </a:xfrm>
          <a:prstGeom prst="rect">
            <a:avLst/>
          </a:prstGeom>
          <a:noFill/>
          <a:ln/>
        </p:spPr>
        <p:txBody>
          <a:bodyPr wrap="square" lIns="0" tIns="0" rIns="0" bIns="0" rtlCol="0" anchor="ctr"/>
          <a:lstStyle/>
          <a:p>
            <a:pPr algn="ctr" indent="0" marL="0">
              <a:buNone/>
            </a:pPr>
            <a:r>
              <a:rPr lang="en-US" sz="1000" b="1" dirty="0">
                <a:solidFill>
                  <a:srgbClr val="1B2A2E"/>
                </a:solidFill>
                <a:latin typeface="Calibri" pitchFamily="34" charset="0"/>
                <a:ea typeface="Calibri" pitchFamily="34" charset="-122"/>
                <a:cs typeface="Calibri" pitchFamily="34" charset="-120"/>
              </a:rPr>
              <a:t>Learn</a:t>
            </a:r>
            <a:endParaRPr lang="en-US" sz="1000" dirty="0"/>
          </a:p>
        </p:txBody>
      </p:sp>
      <p:sp>
        <p:nvSpPr>
          <p:cNvPr id="16" name="phase 0"/>
          <p:cNvSpPr/>
          <p:nvPr/>
        </p:nvSpPr>
        <p:spPr>
          <a:xfrm>
            <a:off x="548640" y="1508760"/>
            <a:ext cx="548640" cy="548640"/>
          </a:xfrm>
          <a:prstGeom prst="ellipse">
            <a:avLst/>
          </a:prstGeom>
          <a:solidFill>
            <a:srgbClr val="F3B23C"/>
          </a:solidFill>
          <a:ln w="12700">
            <a:solidFill>
              <a:srgbClr val="FFFFFF"/>
            </a:solidFill>
            <a:prstDash val="solid"/>
          </a:ln>
        </p:spPr>
      </p:sp>
      <p:sp>
        <p:nvSpPr>
          <p:cNvPr id="17" name="Text 15"/>
          <p:cNvSpPr txBox="1"/>
          <p:nvPr/>
        </p:nvSpPr>
        <p:spPr>
          <a:xfrm>
            <a:off x="548640" y="1508760"/>
            <a:ext cx="548640" cy="548640"/>
          </a:xfrm>
          <a:prstGeom prst="rect">
            <a:avLst/>
          </a:prstGeom>
          <a:noFill/>
          <a:ln/>
        </p:spPr>
        <p:txBody>
          <a:bodyPr wrap="square" lIns="0" tIns="0" rIns="0" bIns="0" rtlCol="0" anchor="ctr"/>
          <a:lstStyle/>
          <a:p>
            <a:pPr algn="ctr" indent="0" marL="0">
              <a:buNone/>
            </a:pPr>
            <a:r>
              <a:rPr lang="en-US" sz="1800" b="1" dirty="0">
                <a:solidFill>
                  <a:srgbClr val="1B2A2E"/>
                </a:solidFill>
                <a:latin typeface="Calibri" pitchFamily="34" charset="0"/>
                <a:ea typeface="Calibri" pitchFamily="34" charset="-122"/>
                <a:cs typeface="Calibri" pitchFamily="34" charset="-120"/>
              </a:rPr>
              <a:t>0</a:t>
            </a:r>
            <a:endParaRPr lang="en-US" sz="1800" dirty="0"/>
          </a:p>
        </p:txBody>
      </p:sp>
      <p:sp>
        <p:nvSpPr>
          <p:cNvPr id="18" name="Text 16"/>
          <p:cNvSpPr txBox="1"/>
          <p:nvPr/>
        </p:nvSpPr>
        <p:spPr>
          <a:xfrm>
            <a:off x="1325880" y="1417320"/>
            <a:ext cx="2926080" cy="365760"/>
          </a:xfrm>
          <a:prstGeom prst="rect">
            <a:avLst/>
          </a:prstGeom>
          <a:noFill/>
          <a:ln/>
        </p:spPr>
        <p:txBody>
          <a:bodyPr wrap="square" lIns="0" tIns="0" rIns="0" bIns="0" rtlCol="0" anchor="t"/>
          <a:lstStyle/>
          <a:p>
            <a:pPr algn="l" indent="0" marL="0">
              <a:buNone/>
            </a:pPr>
            <a:r>
              <a:rPr lang="en-US" sz="1600" b="1" dirty="0">
                <a:solidFill>
                  <a:srgbClr val="0F5257"/>
                </a:solidFill>
                <a:latin typeface="Calibri" pitchFamily="34" charset="0"/>
                <a:ea typeface="Calibri" pitchFamily="34" charset="-122"/>
                <a:cs typeface="Calibri" pitchFamily="34" charset="-120"/>
              </a:rPr>
              <a:t>Offline (this work)</a:t>
            </a:r>
            <a:endParaRPr lang="en-US" sz="1600" dirty="0"/>
          </a:p>
        </p:txBody>
      </p:sp>
      <p:sp>
        <p:nvSpPr>
          <p:cNvPr id="19" name="Text 17"/>
          <p:cNvSpPr txBox="1"/>
          <p:nvPr/>
        </p:nvSpPr>
        <p:spPr>
          <a:xfrm>
            <a:off x="1325880" y="1783080"/>
            <a:ext cx="3108960" cy="548640"/>
          </a:xfrm>
          <a:prstGeom prst="rect">
            <a:avLst/>
          </a:prstGeom>
          <a:noFill/>
          <a:ln/>
        </p:spPr>
        <p:txBody>
          <a:bodyPr wrap="square" lIns="0" tIns="0" rIns="0" bIns="0" rtlCol="0" anchor="t"/>
          <a:lstStyle/>
          <a:p>
            <a:pPr algn="l" indent="0" marL="0">
              <a:buNone/>
            </a:pPr>
            <a:r>
              <a:rPr lang="en-US" sz="1300" dirty="0">
                <a:solidFill>
                  <a:srgbClr val="5B6B6E"/>
                </a:solidFill>
                <a:latin typeface="Calibri" pitchFamily="34" charset="0"/>
                <a:ea typeface="Calibri" pitchFamily="34" charset="-122"/>
                <a:cs typeface="Calibri" pitchFamily="34" charset="-120"/>
              </a:rPr>
              <a:t>Roads, 5 countries, frozen evaluation set</a:t>
            </a:r>
            <a:endParaRPr lang="en-US" sz="1300" dirty="0"/>
          </a:p>
        </p:txBody>
      </p:sp>
      <p:sp>
        <p:nvSpPr>
          <p:cNvPr id="20" name="Text 18"/>
          <p:cNvSpPr txBox="1"/>
          <p:nvPr/>
        </p:nvSpPr>
        <p:spPr>
          <a:xfrm>
            <a:off x="4572000" y="1463040"/>
            <a:ext cx="7040880" cy="731520"/>
          </a:xfrm>
          <a:prstGeom prst="rect">
            <a:avLst/>
          </a:prstGeom>
          <a:noFill/>
          <a:ln/>
        </p:spPr>
        <p:txBody>
          <a:bodyPr wrap="square" lIns="0" tIns="0" rIns="0" bIns="0" rtlCol="0" anchor="ctr"/>
          <a:lstStyle/>
          <a:p>
            <a:pPr algn="l" indent="0" marL="0">
              <a:buNone/>
            </a:pPr>
            <a:r>
              <a:rPr lang="en-US" sz="1400" dirty="0">
                <a:solidFill>
                  <a:srgbClr val="1B2A2E"/>
                </a:solidFill>
                <a:latin typeface="Calibri" pitchFamily="34" charset="0"/>
                <a:ea typeface="Calibri" pitchFamily="34" charset="-122"/>
                <a:cs typeface="Calibri" pitchFamily="34" charset="-120"/>
              </a:rPr>
              <a:t>recall@5 ≥ 0.7 · claim support ≥ 0.9 · P50 beats baseline · P80 0.7–0.9</a:t>
            </a:r>
            <a:endParaRPr lang="en-US" sz="1400" dirty="0"/>
          </a:p>
        </p:txBody>
      </p:sp>
      <p:sp>
        <p:nvSpPr>
          <p:cNvPr id="21" name="phase 1"/>
          <p:cNvSpPr/>
          <p:nvPr/>
        </p:nvSpPr>
        <p:spPr>
          <a:xfrm>
            <a:off x="548640" y="2532888"/>
            <a:ext cx="548640" cy="548640"/>
          </a:xfrm>
          <a:prstGeom prst="ellipse">
            <a:avLst/>
          </a:prstGeom>
          <a:solidFill>
            <a:srgbClr val="0F5257"/>
          </a:solidFill>
          <a:ln w="12700">
            <a:solidFill>
              <a:srgbClr val="FFFFFF"/>
            </a:solidFill>
            <a:prstDash val="solid"/>
          </a:ln>
        </p:spPr>
      </p:sp>
      <p:sp>
        <p:nvSpPr>
          <p:cNvPr id="22" name="Text 20"/>
          <p:cNvSpPr txBox="1"/>
          <p:nvPr/>
        </p:nvSpPr>
        <p:spPr>
          <a:xfrm>
            <a:off x="548640" y="2532888"/>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23" name="Text 21"/>
          <p:cNvSpPr txBox="1"/>
          <p:nvPr/>
        </p:nvSpPr>
        <p:spPr>
          <a:xfrm>
            <a:off x="1325880" y="2441448"/>
            <a:ext cx="2926080" cy="365760"/>
          </a:xfrm>
          <a:prstGeom prst="rect">
            <a:avLst/>
          </a:prstGeom>
          <a:noFill/>
          <a:ln/>
        </p:spPr>
        <p:txBody>
          <a:bodyPr wrap="square" lIns="0" tIns="0" rIns="0" bIns="0" rtlCol="0" anchor="t"/>
          <a:lstStyle/>
          <a:p>
            <a:pPr algn="l" indent="0" marL="0">
              <a:buNone/>
            </a:pPr>
            <a:r>
              <a:rPr lang="en-US" sz="1600" b="1" dirty="0">
                <a:solidFill>
                  <a:srgbClr val="0F5257"/>
                </a:solidFill>
                <a:latin typeface="Calibri" pitchFamily="34" charset="0"/>
                <a:ea typeface="Calibri" pitchFamily="34" charset="-122"/>
                <a:cs typeface="Calibri" pitchFamily="34" charset="-120"/>
              </a:rPr>
              <a:t>Shadow pilot, 3 months</a:t>
            </a:r>
            <a:endParaRPr lang="en-US" sz="1600" dirty="0"/>
          </a:p>
        </p:txBody>
      </p:sp>
      <p:sp>
        <p:nvSpPr>
          <p:cNvPr id="24" name="Text 22"/>
          <p:cNvSpPr txBox="1"/>
          <p:nvPr/>
        </p:nvSpPr>
        <p:spPr>
          <a:xfrm>
            <a:off x="1325880" y="2807208"/>
            <a:ext cx="3108960" cy="548640"/>
          </a:xfrm>
          <a:prstGeom prst="rect">
            <a:avLst/>
          </a:prstGeom>
          <a:noFill/>
          <a:ln/>
        </p:spPr>
        <p:txBody>
          <a:bodyPr wrap="square" lIns="0" tIns="0" rIns="0" bIns="0" rtlCol="0" anchor="t"/>
          <a:lstStyle/>
          <a:p>
            <a:pPr algn="l" indent="0" marL="0">
              <a:buNone/>
            </a:pPr>
            <a:r>
              <a:rPr lang="en-US" sz="1300" dirty="0">
                <a:solidFill>
                  <a:srgbClr val="5B6B6E"/>
                </a:solidFill>
                <a:latin typeface="Calibri" pitchFamily="34" charset="0"/>
                <a:ea typeface="Calibri" pitchFamily="34" charset="-122"/>
                <a:cs typeface="Calibri" pitchFamily="34" charset="-120"/>
              </a:rPr>
              <a:t>~10 procurement specialists, one region, advisory only</a:t>
            </a:r>
            <a:endParaRPr lang="en-US" sz="1300" dirty="0"/>
          </a:p>
        </p:txBody>
      </p:sp>
      <p:sp>
        <p:nvSpPr>
          <p:cNvPr id="25" name="Text 23"/>
          <p:cNvSpPr txBox="1"/>
          <p:nvPr/>
        </p:nvSpPr>
        <p:spPr>
          <a:xfrm>
            <a:off x="4572000" y="2487168"/>
            <a:ext cx="7040880" cy="731520"/>
          </a:xfrm>
          <a:prstGeom prst="rect">
            <a:avLst/>
          </a:prstGeom>
          <a:noFill/>
          <a:ln/>
        </p:spPr>
        <p:txBody>
          <a:bodyPr wrap="square" lIns="0" tIns="0" rIns="0" bIns="0" rtlCol="0" anchor="ctr"/>
          <a:lstStyle/>
          <a:p>
            <a:pPr algn="l" indent="0" marL="0">
              <a:buNone/>
            </a:pPr>
            <a:r>
              <a:rPr lang="en-US" sz="1400" dirty="0">
                <a:solidFill>
                  <a:srgbClr val="1B2A2E"/>
                </a:solidFill>
                <a:latin typeface="Calibri" pitchFamily="34" charset="0"/>
                <a:ea typeface="Calibri" pitchFamily="34" charset="-122"/>
                <a:cs typeface="Calibri" pitchFamily="34" charset="-120"/>
              </a:rPr>
              <a:t>≥ 60% weekly active · ≤ 5% wrong-source · 0 unsupported claims in a 100-answer audit</a:t>
            </a:r>
            <a:endParaRPr lang="en-US" sz="1400" dirty="0"/>
          </a:p>
        </p:txBody>
      </p:sp>
      <p:sp>
        <p:nvSpPr>
          <p:cNvPr id="26" name="phase 2"/>
          <p:cNvSpPr/>
          <p:nvPr/>
        </p:nvSpPr>
        <p:spPr>
          <a:xfrm>
            <a:off x="548640" y="3557016"/>
            <a:ext cx="548640" cy="548640"/>
          </a:xfrm>
          <a:prstGeom prst="ellipse">
            <a:avLst/>
          </a:prstGeom>
          <a:solidFill>
            <a:srgbClr val="0F5257"/>
          </a:solidFill>
          <a:ln w="12700">
            <a:solidFill>
              <a:srgbClr val="FFFFFF"/>
            </a:solidFill>
            <a:prstDash val="solid"/>
          </a:ln>
        </p:spPr>
      </p:sp>
      <p:sp>
        <p:nvSpPr>
          <p:cNvPr id="27" name="Text 25"/>
          <p:cNvSpPr txBox="1"/>
          <p:nvPr/>
        </p:nvSpPr>
        <p:spPr>
          <a:xfrm>
            <a:off x="548640" y="3557016"/>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8" name="Text 26"/>
          <p:cNvSpPr txBox="1"/>
          <p:nvPr/>
        </p:nvSpPr>
        <p:spPr>
          <a:xfrm>
            <a:off x="1325880" y="3465576"/>
            <a:ext cx="2926080" cy="365760"/>
          </a:xfrm>
          <a:prstGeom prst="rect">
            <a:avLst/>
          </a:prstGeom>
          <a:noFill/>
          <a:ln/>
        </p:spPr>
        <p:txBody>
          <a:bodyPr wrap="square" lIns="0" tIns="0" rIns="0" bIns="0" rtlCol="0" anchor="t"/>
          <a:lstStyle/>
          <a:p>
            <a:pPr algn="l" indent="0" marL="0">
              <a:buNone/>
            </a:pPr>
            <a:r>
              <a:rPr lang="en-US" sz="1600" b="1" dirty="0">
                <a:solidFill>
                  <a:srgbClr val="0F5257"/>
                </a:solidFill>
                <a:latin typeface="Calibri" pitchFamily="34" charset="0"/>
                <a:ea typeface="Calibri" pitchFamily="34" charset="-122"/>
                <a:cs typeface="Calibri" pitchFamily="34" charset="-120"/>
              </a:rPr>
              <a:t>Expansion</a:t>
            </a:r>
            <a:endParaRPr lang="en-US" sz="1600" dirty="0"/>
          </a:p>
        </p:txBody>
      </p:sp>
      <p:sp>
        <p:nvSpPr>
          <p:cNvPr id="29" name="Text 27"/>
          <p:cNvSpPr txBox="1"/>
          <p:nvPr/>
        </p:nvSpPr>
        <p:spPr>
          <a:xfrm>
            <a:off x="1325880" y="3831336"/>
            <a:ext cx="3108960" cy="548640"/>
          </a:xfrm>
          <a:prstGeom prst="rect">
            <a:avLst/>
          </a:prstGeom>
          <a:noFill/>
          <a:ln/>
        </p:spPr>
        <p:txBody>
          <a:bodyPr wrap="square" lIns="0" tIns="0" rIns="0" bIns="0" rtlCol="0" anchor="t"/>
          <a:lstStyle/>
          <a:p>
            <a:pPr algn="l" indent="0" marL="0">
              <a:buNone/>
            </a:pPr>
            <a:r>
              <a:rPr lang="en-US" sz="1300" dirty="0">
                <a:solidFill>
                  <a:srgbClr val="5B6B6E"/>
                </a:solidFill>
                <a:latin typeface="Calibri" pitchFamily="34" charset="0"/>
                <a:ea typeface="Calibri" pitchFamily="34" charset="-122"/>
                <a:cs typeface="Calibri" pitchFamily="34" charset="-120"/>
              </a:rPr>
              <a:t>All transport, then energy and water; all countries</a:t>
            </a:r>
            <a:endParaRPr lang="en-US" sz="1300" dirty="0"/>
          </a:p>
        </p:txBody>
      </p:sp>
      <p:sp>
        <p:nvSpPr>
          <p:cNvPr id="30" name="Text 28"/>
          <p:cNvSpPr txBox="1"/>
          <p:nvPr/>
        </p:nvSpPr>
        <p:spPr>
          <a:xfrm>
            <a:off x="4572000" y="3511296"/>
            <a:ext cx="7040880" cy="731520"/>
          </a:xfrm>
          <a:prstGeom prst="rect">
            <a:avLst/>
          </a:prstGeom>
          <a:noFill/>
          <a:ln/>
        </p:spPr>
        <p:txBody>
          <a:bodyPr wrap="square" lIns="0" tIns="0" rIns="0" bIns="0" rtlCol="0" anchor="ctr"/>
          <a:lstStyle/>
          <a:p>
            <a:pPr algn="l" indent="0" marL="0">
              <a:buNone/>
            </a:pPr>
            <a:r>
              <a:rPr lang="en-US" sz="1400" dirty="0">
                <a:solidFill>
                  <a:srgbClr val="1B2A2E"/>
                </a:solidFill>
                <a:latin typeface="Calibri" pitchFamily="34" charset="0"/>
                <a:ea typeface="Calibri" pitchFamily="34" charset="-122"/>
                <a:cs typeface="Calibri" pitchFamily="34" charset="-120"/>
              </a:rPr>
              <a:t>Metrics hold per sector · weekly refresh ≤ 4 h</a:t>
            </a:r>
            <a:endParaRPr lang="en-US" sz="1400" dirty="0"/>
          </a:p>
        </p:txBody>
      </p:sp>
      <p:sp>
        <p:nvSpPr>
          <p:cNvPr id="31" name="phase 3"/>
          <p:cNvSpPr/>
          <p:nvPr/>
        </p:nvSpPr>
        <p:spPr>
          <a:xfrm>
            <a:off x="548640" y="4581144"/>
            <a:ext cx="548640" cy="548640"/>
          </a:xfrm>
          <a:prstGeom prst="ellipse">
            <a:avLst/>
          </a:prstGeom>
          <a:solidFill>
            <a:srgbClr val="0F5257"/>
          </a:solidFill>
          <a:ln w="12700">
            <a:solidFill>
              <a:srgbClr val="FFFFFF"/>
            </a:solidFill>
            <a:prstDash val="solid"/>
          </a:ln>
        </p:spPr>
      </p:sp>
      <p:sp>
        <p:nvSpPr>
          <p:cNvPr id="32" name="Text 30"/>
          <p:cNvSpPr txBox="1"/>
          <p:nvPr/>
        </p:nvSpPr>
        <p:spPr>
          <a:xfrm>
            <a:off x="548640" y="4581144"/>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33" name="Text 31"/>
          <p:cNvSpPr txBox="1"/>
          <p:nvPr/>
        </p:nvSpPr>
        <p:spPr>
          <a:xfrm>
            <a:off x="1325880" y="4489704"/>
            <a:ext cx="2926080" cy="365760"/>
          </a:xfrm>
          <a:prstGeom prst="rect">
            <a:avLst/>
          </a:prstGeom>
          <a:noFill/>
          <a:ln/>
        </p:spPr>
        <p:txBody>
          <a:bodyPr wrap="square" lIns="0" tIns="0" rIns="0" bIns="0" rtlCol="0" anchor="t"/>
          <a:lstStyle/>
          <a:p>
            <a:pPr algn="l" indent="0" marL="0">
              <a:buNone/>
            </a:pPr>
            <a:r>
              <a:rPr lang="en-US" sz="1600" b="1" dirty="0">
                <a:solidFill>
                  <a:srgbClr val="0F5257"/>
                </a:solidFill>
                <a:latin typeface="Calibri" pitchFamily="34" charset="0"/>
                <a:ea typeface="Calibri" pitchFamily="34" charset="-122"/>
                <a:cs typeface="Calibri" pitchFamily="34" charset="-120"/>
              </a:rPr>
              <a:t>Integration</a:t>
            </a:r>
            <a:endParaRPr lang="en-US" sz="1600" dirty="0"/>
          </a:p>
        </p:txBody>
      </p:sp>
      <p:sp>
        <p:nvSpPr>
          <p:cNvPr id="34" name="Text 32"/>
          <p:cNvSpPr txBox="1"/>
          <p:nvPr/>
        </p:nvSpPr>
        <p:spPr>
          <a:xfrm>
            <a:off x="1325880" y="4855464"/>
            <a:ext cx="3108960" cy="548640"/>
          </a:xfrm>
          <a:prstGeom prst="rect">
            <a:avLst/>
          </a:prstGeom>
          <a:noFill/>
          <a:ln/>
        </p:spPr>
        <p:txBody>
          <a:bodyPr wrap="square" lIns="0" tIns="0" rIns="0" bIns="0" rtlCol="0" anchor="t"/>
          <a:lstStyle/>
          <a:p>
            <a:pPr algn="l" indent="0" marL="0">
              <a:buNone/>
            </a:pPr>
            <a:r>
              <a:rPr lang="en-US" sz="1300" dirty="0">
                <a:solidFill>
                  <a:srgbClr val="5B6B6E"/>
                </a:solidFill>
                <a:latin typeface="Calibri" pitchFamily="34" charset="0"/>
                <a:ea typeface="Calibri" pitchFamily="34" charset="-122"/>
                <a:cs typeface="Calibri" pitchFamily="34" charset="-120"/>
              </a:rPr>
              <a:t>Links into STEP planning; internal data under access control</a:t>
            </a:r>
            <a:endParaRPr lang="en-US" sz="1300" dirty="0"/>
          </a:p>
        </p:txBody>
      </p:sp>
      <p:sp>
        <p:nvSpPr>
          <p:cNvPr id="35" name="Text 33"/>
          <p:cNvSpPr txBox="1"/>
          <p:nvPr/>
        </p:nvSpPr>
        <p:spPr>
          <a:xfrm>
            <a:off x="4572000" y="4535424"/>
            <a:ext cx="7040880" cy="731520"/>
          </a:xfrm>
          <a:prstGeom prst="rect">
            <a:avLst/>
          </a:prstGeom>
          <a:noFill/>
          <a:ln/>
        </p:spPr>
        <p:txBody>
          <a:bodyPr wrap="square" lIns="0" tIns="0" rIns="0" bIns="0" rtlCol="0" anchor="ctr"/>
          <a:lstStyle/>
          <a:p>
            <a:pPr algn="l" indent="0" marL="0">
              <a:buNone/>
            </a:pPr>
            <a:r>
              <a:rPr lang="en-US" sz="1400" dirty="0">
                <a:solidFill>
                  <a:srgbClr val="1B2A2E"/>
                </a:solidFill>
                <a:latin typeface="Calibri" pitchFamily="34" charset="0"/>
                <a:ea typeface="Calibri" pitchFamily="34" charset="-122"/>
                <a:cs typeface="Calibri" pitchFamily="34" charset="-120"/>
              </a:rPr>
              <a:t>Security and data-governance sign-off</a:t>
            </a:r>
            <a:endParaRPr lang="en-US" sz="1400" dirty="0"/>
          </a:p>
        </p:txBody>
      </p:sp>
      <p:sp>
        <p:nvSpPr>
          <p:cNvPr id="36" name="card"/>
          <p:cNvSpPr/>
          <p:nvPr/>
        </p:nvSpPr>
        <p:spPr>
          <a:xfrm>
            <a:off x="548640" y="5486400"/>
            <a:ext cx="11064240" cy="685800"/>
          </a:xfrm>
          <a:prstGeom prst="roundRect">
            <a:avLst>
              <a:gd name="adj" fmla="val 10667"/>
            </a:avLst>
          </a:prstGeom>
          <a:solidFill>
            <a:srgbClr val="E3EFEC"/>
          </a:solidFill>
          <a:ln w="12700">
            <a:solidFill>
              <a:srgbClr val="E3EFEC"/>
            </a:solidFill>
            <a:prstDash val="solid"/>
          </a:ln>
        </p:spPr>
      </p:sp>
      <p:sp>
        <p:nvSpPr>
          <p:cNvPr id="37" name="Text 35"/>
          <p:cNvSpPr txBox="1"/>
          <p:nvPr/>
        </p:nvSpPr>
        <p:spPr>
          <a:xfrm>
            <a:off x="777240" y="5486400"/>
            <a:ext cx="10698480" cy="685800"/>
          </a:xfrm>
          <a:prstGeom prst="rect">
            <a:avLst/>
          </a:prstGeom>
          <a:noFill/>
          <a:ln/>
        </p:spPr>
        <p:txBody>
          <a:bodyPr wrap="square" lIns="0" tIns="0" rIns="0" bIns="0" rtlCol="0" anchor="ctr"/>
          <a:lstStyle/>
          <a:p>
            <a:pPr indent="0" marL="0">
              <a:buNone/>
            </a:pPr>
            <a:r>
              <a:rPr lang="en-US" sz="1400" b="1" dirty="0">
                <a:solidFill>
                  <a:srgbClr val="0F5257"/>
                </a:solidFill>
                <a:latin typeface="Calibri" pitchFamily="34" charset="0"/>
                <a:ea typeface="Calibri" pitchFamily="34" charset="-122"/>
                <a:cs typeface="Calibri" pitchFamily="34" charset="-120"/>
              </a:rPr>
              <a:t>Phase 0 status (measured):  </a:t>
            </a:r>
            <a:pPr indent="0" marL="0">
              <a:buNone/>
            </a:pPr>
            <a:r>
              <a:rPr lang="en-US" sz="1400" dirty="0">
                <a:solidFill>
                  <a:srgbClr val="1B2A2E"/>
                </a:solidFill>
                <a:latin typeface="Calibri" pitchFamily="34" charset="0"/>
                <a:ea typeface="Calibri" pitchFamily="34" charset="-122"/>
                <a:cs typeface="Calibri" pitchFamily="34" charset="-120"/>
              </a:rPr>
              <a:t>P80 coverage 0.81 ✔ · claim support 0.86–0.905 (around the 0.9 target) · P50 ≈ baseline · recall@5 0.57 strict ✘ / 0.83 lenient ✔</a:t>
            </a:r>
            <a:endParaRPr lang="en-US" sz="14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6E"/>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7680960" cy="822960"/>
          </a:xfrm>
          <a:prstGeom prst="rect">
            <a:avLst/>
          </a:prstGeom>
          <a:noFill/>
          <a:ln/>
        </p:spPr>
        <p:txBody>
          <a:bodyPr wrap="square" lIns="0" tIns="0" rIns="0" bIns="0" rtlCol="0" anchor="ctr"/>
          <a:lstStyle/>
          <a:p>
            <a:pPr algn="l" indent="0" marL="0">
              <a:buNone/>
            </a:pPr>
            <a:r>
              <a:rPr lang="en-US" sz="3000" b="1" dirty="0">
                <a:solidFill>
                  <a:srgbClr val="0F5257"/>
                </a:solidFill>
                <a:latin typeface="Cambria" pitchFamily="34" charset="0"/>
                <a:ea typeface="Cambria" pitchFamily="34" charset="-122"/>
                <a:cs typeface="Cambria" pitchFamily="34" charset="-120"/>
              </a:rPr>
              <a:t>What is not solved yet, and what comes next</a:t>
            </a:r>
            <a:endParaRPr lang="en-US" sz="3000" dirty="0"/>
          </a:p>
        </p:txBody>
      </p:sp>
      <p:sp>
        <p:nvSpPr>
          <p:cNvPr id="3" name="card"/>
          <p:cNvSpPr/>
          <p:nvPr/>
        </p:nvSpPr>
        <p:spPr>
          <a:xfrm>
            <a:off x="548640" y="1371600"/>
            <a:ext cx="6035040" cy="3931920"/>
          </a:xfrm>
          <a:prstGeom prst="roundRect">
            <a:avLst>
              <a:gd name="adj" fmla="val 1860"/>
            </a:avLst>
          </a:prstGeom>
          <a:solidFill>
            <a:srgbClr val="FDF1D8"/>
          </a:solidFill>
          <a:ln w="12700">
            <a:solidFill>
              <a:srgbClr val="FDF1D8"/>
            </a:solidFill>
            <a:prstDash val="solid"/>
          </a:ln>
        </p:spPr>
      </p:sp>
      <p:sp>
        <p:nvSpPr>
          <p:cNvPr id="4" name="Text 2"/>
          <p:cNvSpPr txBox="1"/>
          <p:nvPr/>
        </p:nvSpPr>
        <p:spPr>
          <a:xfrm>
            <a:off x="777240" y="1508760"/>
            <a:ext cx="5577840" cy="365760"/>
          </a:xfrm>
          <a:prstGeom prst="rect">
            <a:avLst/>
          </a:prstGeom>
          <a:noFill/>
          <a:ln/>
        </p:spPr>
        <p:txBody>
          <a:bodyPr wrap="square" lIns="0" tIns="0" rIns="0" bIns="0" rtlCol="0" anchor="t"/>
          <a:lstStyle/>
          <a:p>
            <a:pPr algn="l" indent="0" marL="0">
              <a:buNone/>
            </a:pPr>
            <a:r>
              <a:rPr lang="en-US" sz="1700" b="1" dirty="0">
                <a:solidFill>
                  <a:srgbClr val="8A5A00"/>
                </a:solidFill>
                <a:latin typeface="Calibri" pitchFamily="34" charset="0"/>
                <a:ea typeface="Calibri" pitchFamily="34" charset="-122"/>
                <a:cs typeface="Calibri" pitchFamily="34" charset="-120"/>
              </a:rPr>
              <a:t>Limitations (stated, not hidden)</a:t>
            </a:r>
            <a:endParaRPr lang="en-US" sz="1700" dirty="0"/>
          </a:p>
        </p:txBody>
      </p:sp>
      <p:sp>
        <p:nvSpPr>
          <p:cNvPr id="5" name="Text 3"/>
          <p:cNvSpPr txBox="1"/>
          <p:nvPr/>
        </p:nvSpPr>
        <p:spPr>
          <a:xfrm>
            <a:off x="777240" y="2011680"/>
            <a:ext cx="5623560" cy="3200400"/>
          </a:xfrm>
          <a:prstGeom prst="rect">
            <a:avLst/>
          </a:prstGeom>
          <a:noFill/>
          <a:ln/>
        </p:spPr>
        <p:txBody>
          <a:bodyPr wrap="square" lIns="0" tIns="0" rIns="0" bIns="0" rtlCol="0" anchor="t"/>
          <a:lstStyle/>
          <a:p>
            <a:pPr marL="203200" indent="-203200">
              <a:spcAft>
                <a:spcPts val="800"/>
              </a:spcAft>
              <a:buSzPct val="100000"/>
              <a:buChar char="•"/>
            </a:pPr>
            <a:r>
              <a:rPr lang="en-US" sz="1500" dirty="0">
                <a:solidFill>
                  <a:srgbClr val="1B2A2E"/>
                </a:solidFill>
                <a:latin typeface="Calibri" pitchFamily="34" charset="0"/>
                <a:ea typeface="Calibri" pitchFamily="34" charset="-122"/>
                <a:cs typeface="Calibri" pitchFamily="34" charset="-120"/>
              </a:rPr>
              <a:t>Small evaluation set (26 test questions); verifier and judge are the same model family</a:t>
            </a:r>
            <a:endParaRPr lang="en-US" sz="1500" dirty="0"/>
          </a:p>
          <a:p>
            <a:pPr marL="203200" indent="-203200">
              <a:spcAft>
                <a:spcPts val="800"/>
              </a:spcAft>
              <a:buSzPct val="100000"/>
              <a:buChar char="•"/>
            </a:pPr>
            <a:r>
              <a:rPr lang="en-US" sz="1500" dirty="0">
                <a:solidFill>
                  <a:srgbClr val="1B2A2E"/>
                </a:solidFill>
                <a:latin typeface="Calibri" pitchFamily="34" charset="0"/>
                <a:ea typeface="Calibri" pitchFamily="34" charset="-122"/>
                <a:cs typeface="Calibri" pitchFamily="34" charset="-120"/>
              </a:rPr>
              <a:t>Duration P50 only level with the baseline; governance features did not help</a:t>
            </a:r>
            <a:endParaRPr lang="en-US" sz="1500" dirty="0"/>
          </a:p>
          <a:p>
            <a:pPr marL="203200" indent="-203200">
              <a:spcAft>
                <a:spcPts val="800"/>
              </a:spcAft>
              <a:buSzPct val="100000"/>
              <a:buChar char="•"/>
            </a:pPr>
            <a:r>
              <a:rPr lang="en-US" sz="1500" dirty="0">
                <a:solidFill>
                  <a:srgbClr val="1B2A2E"/>
                </a:solidFill>
                <a:latin typeface="Calibri" pitchFamily="34" charset="0"/>
                <a:ea typeface="Calibri" pitchFamily="34" charset="-122"/>
                <a:cs typeface="Calibri" pitchFamily="34" charset="-120"/>
              </a:rPr>
              <a:t>No public amendment labels: the indicator is a heuristic</a:t>
            </a:r>
            <a:endParaRPr lang="en-US" sz="1500" dirty="0"/>
          </a:p>
          <a:p>
            <a:pPr marL="203200" indent="-203200">
              <a:spcAft>
                <a:spcPts val="800"/>
              </a:spcAft>
              <a:buSzPct val="100000"/>
              <a:buChar char="•"/>
            </a:pPr>
            <a:r>
              <a:rPr lang="en-US" sz="1500" dirty="0">
                <a:solidFill>
                  <a:srgbClr val="1B2A2E"/>
                </a:solidFill>
                <a:latin typeface="Calibri" pitchFamily="34" charset="0"/>
                <a:ea typeface="Calibri" pitchFamily="34" charset="-122"/>
                <a:cs typeface="Calibri" pitchFamily="34" charset="-120"/>
              </a:rPr>
              <a:t>French retrieval partly solved (1 of 3); English-only embeddings</a:t>
            </a:r>
            <a:endParaRPr lang="en-US" sz="1500" dirty="0"/>
          </a:p>
          <a:p>
            <a:pPr marL="203200" indent="-203200">
              <a:spcAft>
                <a:spcPts val="800"/>
              </a:spcAft>
              <a:buSzPct val="100000"/>
              <a:buChar char="•"/>
            </a:pPr>
            <a:r>
              <a:rPr lang="en-US" sz="1500" dirty="0">
                <a:solidFill>
                  <a:srgbClr val="1B2A2E"/>
                </a:solidFill>
                <a:latin typeface="Calibri" pitchFamily="34" charset="0"/>
                <a:ea typeface="Calibri" pitchFamily="34" charset="-122"/>
                <a:cs typeface="Calibri" pitchFamily="34" charset="-120"/>
              </a:rPr>
              <a:t>Contract ↔ passage links are sparse (1.3%)</a:t>
            </a:r>
            <a:endParaRPr lang="en-US" sz="1500" dirty="0"/>
          </a:p>
          <a:p>
            <a:pPr marL="203200" indent="-203200">
              <a:spcAft>
                <a:spcPts val="800"/>
              </a:spcAft>
              <a:buSzPct val="100000"/>
              <a:buChar char="•"/>
            </a:pPr>
            <a:r>
              <a:rPr lang="en-US" sz="1500" dirty="0">
                <a:solidFill>
                  <a:srgbClr val="1B2A2E"/>
                </a:solidFill>
                <a:latin typeface="Calibri" pitchFamily="34" charset="0"/>
                <a:ea typeface="Calibri" pitchFamily="34" charset="-122"/>
                <a:cs typeface="Calibri" pitchFamily="34" charset="-120"/>
              </a:rPr>
              <a:t>Free Edition limits: 3 apps, 24 h app runtime, a daily compute quota</a:t>
            </a:r>
            <a:endParaRPr lang="en-US" sz="1500" dirty="0"/>
          </a:p>
        </p:txBody>
      </p:sp>
      <p:sp>
        <p:nvSpPr>
          <p:cNvPr id="6" name="card"/>
          <p:cNvSpPr/>
          <p:nvPr/>
        </p:nvSpPr>
        <p:spPr>
          <a:xfrm>
            <a:off x="6858000" y="1371600"/>
            <a:ext cx="4754880" cy="3931920"/>
          </a:xfrm>
          <a:prstGeom prst="roundRect">
            <a:avLst>
              <a:gd name="adj" fmla="val 1860"/>
            </a:avLst>
          </a:prstGeom>
          <a:solidFill>
            <a:srgbClr val="E3EFEC"/>
          </a:solidFill>
          <a:ln w="12700">
            <a:solidFill>
              <a:srgbClr val="E3EFEC"/>
            </a:solidFill>
            <a:prstDash val="solid"/>
          </a:ln>
        </p:spPr>
      </p:sp>
      <p:sp>
        <p:nvSpPr>
          <p:cNvPr id="7" name="Text 5"/>
          <p:cNvSpPr txBox="1"/>
          <p:nvPr/>
        </p:nvSpPr>
        <p:spPr>
          <a:xfrm>
            <a:off x="7086600" y="1508760"/>
            <a:ext cx="4297680" cy="365760"/>
          </a:xfrm>
          <a:prstGeom prst="rect">
            <a:avLst/>
          </a:prstGeom>
          <a:noFill/>
          <a:ln/>
        </p:spPr>
        <p:txBody>
          <a:bodyPr wrap="square" lIns="0" tIns="0" rIns="0" bIns="0" rtlCol="0" anchor="t"/>
          <a:lstStyle/>
          <a:p>
            <a:pPr algn="l" indent="0" marL="0">
              <a:buNone/>
            </a:pPr>
            <a:r>
              <a:rPr lang="en-US" sz="1700" b="1" dirty="0">
                <a:solidFill>
                  <a:srgbClr val="0F5257"/>
                </a:solidFill>
                <a:latin typeface="Calibri" pitchFamily="34" charset="0"/>
                <a:ea typeface="Calibri" pitchFamily="34" charset="-122"/>
                <a:cs typeface="Calibri" pitchFamily="34" charset="-120"/>
              </a:rPr>
              <a:t>Next steps</a:t>
            </a:r>
            <a:endParaRPr lang="en-US" sz="1700" dirty="0"/>
          </a:p>
        </p:txBody>
      </p:sp>
      <p:sp>
        <p:nvSpPr>
          <p:cNvPr id="8" name="Text 6"/>
          <p:cNvSpPr txBox="1"/>
          <p:nvPr/>
        </p:nvSpPr>
        <p:spPr>
          <a:xfrm>
            <a:off x="7086600" y="2011680"/>
            <a:ext cx="4343400" cy="3200400"/>
          </a:xfrm>
          <a:prstGeom prst="rect">
            <a:avLst/>
          </a:prstGeom>
          <a:noFill/>
          <a:ln/>
        </p:spPr>
        <p:txBody>
          <a:bodyPr wrap="square" lIns="0" tIns="0" rIns="0" bIns="0" rtlCol="0" anchor="t"/>
          <a:lstStyle/>
          <a:p>
            <a:pPr marL="203200" indent="-203200">
              <a:spcAft>
                <a:spcPts val="800"/>
              </a:spcAft>
              <a:buSzPct val="100000"/>
              <a:buChar char="•"/>
            </a:pPr>
            <a:r>
              <a:rPr lang="en-US" sz="1500" dirty="0">
                <a:solidFill>
                  <a:srgbClr val="1B2A2E"/>
                </a:solidFill>
                <a:latin typeface="Calibri" pitchFamily="34" charset="0"/>
                <a:ea typeface="Calibri" pitchFamily="34" charset="-122"/>
                <a:cs typeface="Calibri" pitchFamily="34" charset="-120"/>
              </a:rPr>
              <a:t>Multilingual embedding model on Databricks</a:t>
            </a:r>
            <a:endParaRPr lang="en-US" sz="1500" dirty="0"/>
          </a:p>
          <a:p>
            <a:pPr marL="203200" indent="-203200">
              <a:spcAft>
                <a:spcPts val="800"/>
              </a:spcAft>
              <a:buSzPct val="100000"/>
              <a:buChar char="•"/>
            </a:pPr>
            <a:r>
              <a:rPr lang="en-US" sz="1500" dirty="0">
                <a:solidFill>
                  <a:srgbClr val="1B2A2E"/>
                </a:solidFill>
                <a:latin typeface="Calibri" pitchFamily="34" charset="0"/>
                <a:ea typeface="Calibri" pitchFamily="34" charset="-122"/>
                <a:cs typeface="Calibri" pitchFamily="34" charset="-120"/>
              </a:rPr>
              <a:t>STEP internal data: estimates, amendments, bid evaluations</a:t>
            </a:r>
            <a:endParaRPr lang="en-US" sz="1500" dirty="0"/>
          </a:p>
          <a:p>
            <a:pPr marL="203200" indent="-203200">
              <a:spcAft>
                <a:spcPts val="800"/>
              </a:spcAft>
              <a:buSzPct val="100000"/>
              <a:buChar char="•"/>
            </a:pPr>
            <a:r>
              <a:rPr lang="en-US" sz="1500" dirty="0">
                <a:solidFill>
                  <a:srgbClr val="1B2A2E"/>
                </a:solidFill>
                <a:latin typeface="Calibri" pitchFamily="34" charset="0"/>
                <a:ea typeface="Calibri" pitchFamily="34" charset="-122"/>
                <a:cs typeface="Calibri" pitchFamily="34" charset="-120"/>
              </a:rPr>
              <a:t>Larger, reviewed evaluation set; a different-family judge</a:t>
            </a:r>
            <a:endParaRPr lang="en-US" sz="1500" dirty="0"/>
          </a:p>
          <a:p>
            <a:pPr marL="203200" indent="-203200">
              <a:spcAft>
                <a:spcPts val="800"/>
              </a:spcAft>
              <a:buSzPct val="100000"/>
              <a:buChar char="•"/>
            </a:pPr>
            <a:r>
              <a:rPr lang="en-US" sz="1500" dirty="0">
                <a:solidFill>
                  <a:srgbClr val="1B2A2E"/>
                </a:solidFill>
                <a:latin typeface="Calibri" pitchFamily="34" charset="0"/>
                <a:ea typeface="Calibri" pitchFamily="34" charset="-122"/>
                <a:cs typeface="Calibri" pitchFamily="34" charset="-120"/>
              </a:rPr>
              <a:t>Shadow pilot with 10 specialists, then measure cycle time</a:t>
            </a:r>
            <a:endParaRPr lang="en-US" sz="1500" dirty="0"/>
          </a:p>
        </p:txBody>
      </p:sp>
      <p:sp>
        <p:nvSpPr>
          <p:cNvPr id="9" name="Text 7"/>
          <p:cNvSpPr txBox="1"/>
          <p:nvPr/>
        </p:nvSpPr>
        <p:spPr>
          <a:xfrm>
            <a:off x="548640" y="5577840"/>
            <a:ext cx="11064240" cy="457200"/>
          </a:xfrm>
          <a:prstGeom prst="rect">
            <a:avLst/>
          </a:prstGeom>
          <a:noFill/>
          <a:ln/>
        </p:spPr>
        <p:txBody>
          <a:bodyPr wrap="square" lIns="0" tIns="0" rIns="0" bIns="0" rtlCol="0" anchor="t"/>
          <a:lstStyle/>
          <a:p>
            <a:pPr algn="l" indent="0" marL="0">
              <a:buNone/>
            </a:pPr>
            <a:r>
              <a:rPr lang="en-US" sz="1600" i="1" dirty="0">
                <a:solidFill>
                  <a:srgbClr val="0F5257"/>
                </a:solidFill>
                <a:latin typeface="Calibri" pitchFamily="34" charset="0"/>
                <a:ea typeface="Calibri" pitchFamily="34" charset="-122"/>
                <a:cs typeface="Calibri" pitchFamily="34" charset="-120"/>
              </a:rPr>
              <a:t>Every number in this deck is measured; the tests, the evaluation and the app run the same pipeline.</a:t>
            </a:r>
            <a:endParaRPr lang="en-US" sz="16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6E"/>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7680960" cy="822960"/>
          </a:xfrm>
          <a:prstGeom prst="rect">
            <a:avLst/>
          </a:prstGeom>
          <a:noFill/>
          <a:ln/>
        </p:spPr>
        <p:txBody>
          <a:bodyPr wrap="square" lIns="0" tIns="0" rIns="0" bIns="0" rtlCol="0" anchor="ctr"/>
          <a:lstStyle/>
          <a:p>
            <a:pPr algn="l" indent="0" marL="0">
              <a:buNone/>
            </a:pPr>
            <a:r>
              <a:rPr lang="en-US" sz="3000" b="1" dirty="0">
                <a:solidFill>
                  <a:srgbClr val="0F5257"/>
                </a:solidFill>
                <a:latin typeface="Cambria" pitchFamily="34" charset="0"/>
                <a:ea typeface="Cambria" pitchFamily="34" charset="-122"/>
                <a:cs typeface="Cambria" pitchFamily="34" charset="-120"/>
              </a:rPr>
              <a:t>Backup: supplier entity resolution</a:t>
            </a:r>
            <a:endParaRPr lang="en-US" sz="3000" dirty="0"/>
          </a:p>
        </p:txBody>
      </p:sp>
      <p:sp>
        <p:nvSpPr>
          <p:cNvPr id="3" name="Text 1"/>
          <p:cNvSpPr txBox="1"/>
          <p:nvPr/>
        </p:nvSpPr>
        <p:spPr>
          <a:xfrm>
            <a:off x="548640" y="1371600"/>
            <a:ext cx="3657600" cy="685800"/>
          </a:xfrm>
          <a:prstGeom prst="rect">
            <a:avLst/>
          </a:prstGeom>
          <a:noFill/>
          <a:ln/>
        </p:spPr>
        <p:txBody>
          <a:bodyPr wrap="square" lIns="0" tIns="0" rIns="0" bIns="0" rtlCol="0" anchor="b"/>
          <a:lstStyle/>
          <a:p>
            <a:pPr indent="0" marL="0">
              <a:buNone/>
            </a:pPr>
            <a:r>
              <a:rPr lang="en-US" sz="3200" b="1" dirty="0">
                <a:solidFill>
                  <a:srgbClr val="0F5257"/>
                </a:solidFill>
                <a:latin typeface="Cambria" pitchFamily="34" charset="0"/>
                <a:ea typeface="Cambria" pitchFamily="34" charset="-122"/>
                <a:cs typeface="Cambria" pitchFamily="34" charset="-120"/>
              </a:rPr>
              <a:t>322,655 → 272,271</a:t>
            </a:r>
            <a:endParaRPr lang="en-US" sz="3200" dirty="0"/>
          </a:p>
        </p:txBody>
      </p:sp>
      <p:sp>
        <p:nvSpPr>
          <p:cNvPr id="4" name="Text 2"/>
          <p:cNvSpPr txBox="1"/>
          <p:nvPr/>
        </p:nvSpPr>
        <p:spPr>
          <a:xfrm>
            <a:off x="548640" y="2103120"/>
            <a:ext cx="3657600" cy="548640"/>
          </a:xfrm>
          <a:prstGeom prst="rect">
            <a:avLst/>
          </a:prstGeom>
          <a:noFill/>
          <a:ln/>
        </p:spPr>
        <p:txBody>
          <a:bodyPr wrap="square" lIns="0" tIns="0" rIns="0" bIns="0" rtlCol="0" anchor="t"/>
          <a:lstStyle/>
          <a:p>
            <a:pPr indent="0" marL="0">
              <a:buNone/>
            </a:pPr>
            <a:r>
              <a:rPr lang="en-US" sz="1400" dirty="0">
                <a:solidFill>
                  <a:srgbClr val="1B2A2E"/>
                </a:solidFill>
                <a:latin typeface="Calibri" pitchFamily="34" charset="0"/>
                <a:ea typeface="Calibri" pitchFamily="34" charset="-122"/>
                <a:cs typeface="Calibri" pitchFamily="34" charset="-120"/>
              </a:rPr>
              <a:t>supplier records → suppliers</a:t>
            </a:r>
            <a:endParaRPr lang="en-US" sz="1400" dirty="0"/>
          </a:p>
        </p:txBody>
      </p:sp>
      <p:sp>
        <p:nvSpPr>
          <p:cNvPr id="5" name="Text 3"/>
          <p:cNvSpPr txBox="1"/>
          <p:nvPr/>
        </p:nvSpPr>
        <p:spPr>
          <a:xfrm>
            <a:off x="4572000" y="1371600"/>
            <a:ext cx="3200400" cy="685800"/>
          </a:xfrm>
          <a:prstGeom prst="rect">
            <a:avLst/>
          </a:prstGeom>
          <a:noFill/>
          <a:ln/>
        </p:spPr>
        <p:txBody>
          <a:bodyPr wrap="square" lIns="0" tIns="0" rIns="0" bIns="0" rtlCol="0" anchor="b"/>
          <a:lstStyle/>
          <a:p>
            <a:pPr indent="0" marL="0">
              <a:buNone/>
            </a:pPr>
            <a:r>
              <a:rPr lang="en-US" sz="3200" b="1" dirty="0">
                <a:solidFill>
                  <a:srgbClr val="0F5257"/>
                </a:solidFill>
                <a:latin typeface="Cambria" pitchFamily="34" charset="0"/>
                <a:ea typeface="Cambria" pitchFamily="34" charset="-122"/>
                <a:cs typeface="Cambria" pitchFamily="34" charset="-120"/>
              </a:rPr>
              <a:t>119 → 40</a:t>
            </a:r>
            <a:endParaRPr lang="en-US" sz="3200" dirty="0"/>
          </a:p>
        </p:txBody>
      </p:sp>
      <p:sp>
        <p:nvSpPr>
          <p:cNvPr id="6" name="Text 4"/>
          <p:cNvSpPr txBox="1"/>
          <p:nvPr/>
        </p:nvSpPr>
        <p:spPr>
          <a:xfrm>
            <a:off x="4572000" y="2103120"/>
            <a:ext cx="3200400" cy="548640"/>
          </a:xfrm>
          <a:prstGeom prst="rect">
            <a:avLst/>
          </a:prstGeom>
          <a:noFill/>
          <a:ln/>
        </p:spPr>
        <p:txBody>
          <a:bodyPr wrap="square" lIns="0" tIns="0" rIns="0" bIns="0" rtlCol="0" anchor="t"/>
          <a:lstStyle/>
          <a:p>
            <a:pPr indent="0" marL="0">
              <a:buNone/>
            </a:pPr>
            <a:r>
              <a:rPr lang="en-US" sz="1400" dirty="0">
                <a:solidFill>
                  <a:srgbClr val="1B2A2E"/>
                </a:solidFill>
                <a:latin typeface="Calibri" pitchFamily="34" charset="0"/>
                <a:ea typeface="Calibri" pitchFamily="34" charset="-122"/>
                <a:cs typeface="Calibri" pitchFamily="34" charset="-120"/>
              </a:rPr>
              <a:t>largest cluster, after the six guards</a:t>
            </a:r>
            <a:endParaRPr lang="en-US" sz="1400" dirty="0"/>
          </a:p>
        </p:txBody>
      </p:sp>
      <p:sp>
        <p:nvSpPr>
          <p:cNvPr id="7" name="Text 5"/>
          <p:cNvSpPr txBox="1"/>
          <p:nvPr/>
        </p:nvSpPr>
        <p:spPr>
          <a:xfrm>
            <a:off x="8138160" y="1371600"/>
            <a:ext cx="3474720" cy="685800"/>
          </a:xfrm>
          <a:prstGeom prst="rect">
            <a:avLst/>
          </a:prstGeom>
          <a:noFill/>
          <a:ln/>
        </p:spPr>
        <p:txBody>
          <a:bodyPr wrap="square" lIns="0" tIns="0" rIns="0" bIns="0" rtlCol="0" anchor="b"/>
          <a:lstStyle/>
          <a:p>
            <a:pPr indent="0" marL="0">
              <a:buNone/>
            </a:pPr>
            <a:r>
              <a:rPr lang="en-US" sz="3200" b="1" dirty="0">
                <a:solidFill>
                  <a:srgbClr val="0F5257"/>
                </a:solidFill>
                <a:latin typeface="Cambria" pitchFamily="34" charset="0"/>
                <a:ea typeface="Cambria" pitchFamily="34" charset="-122"/>
                <a:cs typeface="Cambria" pitchFamily="34" charset="-120"/>
              </a:rPr>
              <a:t>43–47 / 50</a:t>
            </a:r>
            <a:endParaRPr lang="en-US" sz="3200" dirty="0"/>
          </a:p>
        </p:txBody>
      </p:sp>
      <p:sp>
        <p:nvSpPr>
          <p:cNvPr id="8" name="Text 6"/>
          <p:cNvSpPr txBox="1"/>
          <p:nvPr/>
        </p:nvSpPr>
        <p:spPr>
          <a:xfrm>
            <a:off x="8138160" y="2103120"/>
            <a:ext cx="3474720" cy="548640"/>
          </a:xfrm>
          <a:prstGeom prst="rect">
            <a:avLst/>
          </a:prstGeom>
          <a:noFill/>
          <a:ln/>
        </p:spPr>
        <p:txBody>
          <a:bodyPr wrap="square" lIns="0" tIns="0" rIns="0" bIns="0" rtlCol="0" anchor="t"/>
          <a:lstStyle/>
          <a:p>
            <a:pPr indent="0" marL="0">
              <a:buNone/>
            </a:pPr>
            <a:r>
              <a:rPr lang="en-US" sz="1400" dirty="0">
                <a:solidFill>
                  <a:srgbClr val="1B2A2E"/>
                </a:solidFill>
                <a:latin typeface="Calibri" pitchFamily="34" charset="0"/>
                <a:ea typeface="Calibri" pitchFamily="34" charset="-122"/>
                <a:cs typeface="Calibri" pitchFamily="34" charset="-120"/>
              </a:rPr>
              <a:t>fuzzy-rule precision on a random sample (assistant-judged; spot-check pending)</a:t>
            </a:r>
            <a:endParaRPr lang="en-US" sz="1400" dirty="0"/>
          </a:p>
        </p:txBody>
      </p:sp>
      <p:sp>
        <p:nvSpPr>
          <p:cNvPr id="9" name="card"/>
          <p:cNvSpPr/>
          <p:nvPr/>
        </p:nvSpPr>
        <p:spPr>
          <a:xfrm>
            <a:off x="548640" y="3291840"/>
            <a:ext cx="3474720" cy="1097280"/>
          </a:xfrm>
          <a:prstGeom prst="roundRect">
            <a:avLst>
              <a:gd name="adj" fmla="val 6667"/>
            </a:avLst>
          </a:prstGeom>
          <a:solidFill>
            <a:srgbClr val="EEF4F3"/>
          </a:solidFill>
          <a:ln w="12700">
            <a:solidFill>
              <a:srgbClr val="EEF4F3"/>
            </a:solidFill>
            <a:prstDash val="solid"/>
          </a:ln>
        </p:spPr>
      </p:sp>
      <p:sp>
        <p:nvSpPr>
          <p:cNvPr id="10" name="Text 8"/>
          <p:cNvSpPr txBox="1"/>
          <p:nvPr/>
        </p:nvSpPr>
        <p:spPr>
          <a:xfrm>
            <a:off x="777240" y="3383280"/>
            <a:ext cx="731520" cy="914400"/>
          </a:xfrm>
          <a:prstGeom prst="rect">
            <a:avLst/>
          </a:prstGeom>
          <a:noFill/>
          <a:ln/>
        </p:spPr>
        <p:txBody>
          <a:bodyPr wrap="square" lIns="0" tIns="0" rIns="0" bIns="0" rtlCol="0" anchor="ctr"/>
          <a:lstStyle/>
          <a:p>
            <a:pPr algn="l" indent="0" marL="0">
              <a:buNone/>
            </a:pPr>
            <a:r>
              <a:rPr lang="en-US" sz="2600" b="1" dirty="0">
                <a:solidFill>
                  <a:srgbClr val="0F5257"/>
                </a:solidFill>
                <a:latin typeface="Calibri" pitchFamily="34" charset="0"/>
                <a:ea typeface="Calibri" pitchFamily="34" charset="-122"/>
                <a:cs typeface="Calibri" pitchFamily="34" charset="-120"/>
              </a:rPr>
              <a:t>R1</a:t>
            </a:r>
            <a:endParaRPr lang="en-US" sz="2600" dirty="0"/>
          </a:p>
        </p:txBody>
      </p:sp>
      <p:sp>
        <p:nvSpPr>
          <p:cNvPr id="11" name="Text 9"/>
          <p:cNvSpPr txBox="1"/>
          <p:nvPr/>
        </p:nvSpPr>
        <p:spPr>
          <a:xfrm>
            <a:off x="1508760" y="3383280"/>
            <a:ext cx="2377440" cy="914400"/>
          </a:xfrm>
          <a:prstGeom prst="rect">
            <a:avLst/>
          </a:prstGeom>
          <a:noFill/>
          <a:ln/>
        </p:spPr>
        <p:txBody>
          <a:bodyPr wrap="square" lIns="0" tIns="0" rIns="0" bIns="0" rtlCol="0" anchor="ctr"/>
          <a:lstStyle/>
          <a:p>
            <a:pPr algn="l" indent="0" marL="0">
              <a:buNone/>
            </a:pPr>
            <a:r>
              <a:rPr lang="en-US" sz="1400" dirty="0">
                <a:solidFill>
                  <a:srgbClr val="1B2A2E"/>
                </a:solidFill>
                <a:latin typeface="Calibri" pitchFamily="34" charset="0"/>
                <a:ea typeface="Calibri" pitchFamily="34" charset="-122"/>
                <a:cs typeface="Calibri" pitchFamily="34" charset="-120"/>
              </a:rPr>
              <a:t>Same supplier ID</a:t>
            </a:r>
            <a:endParaRPr lang="en-US" sz="1400" dirty="0"/>
          </a:p>
        </p:txBody>
      </p:sp>
      <p:sp>
        <p:nvSpPr>
          <p:cNvPr id="12" name="card"/>
          <p:cNvSpPr/>
          <p:nvPr/>
        </p:nvSpPr>
        <p:spPr>
          <a:xfrm>
            <a:off x="4297680" y="3291840"/>
            <a:ext cx="3474720" cy="1097280"/>
          </a:xfrm>
          <a:prstGeom prst="roundRect">
            <a:avLst>
              <a:gd name="adj" fmla="val 6667"/>
            </a:avLst>
          </a:prstGeom>
          <a:solidFill>
            <a:srgbClr val="EEF4F3"/>
          </a:solidFill>
          <a:ln w="12700">
            <a:solidFill>
              <a:srgbClr val="EEF4F3"/>
            </a:solidFill>
            <a:prstDash val="solid"/>
          </a:ln>
        </p:spPr>
      </p:sp>
      <p:sp>
        <p:nvSpPr>
          <p:cNvPr id="13" name="Text 11"/>
          <p:cNvSpPr txBox="1"/>
          <p:nvPr/>
        </p:nvSpPr>
        <p:spPr>
          <a:xfrm>
            <a:off x="4526280" y="3383280"/>
            <a:ext cx="731520" cy="914400"/>
          </a:xfrm>
          <a:prstGeom prst="rect">
            <a:avLst/>
          </a:prstGeom>
          <a:noFill/>
          <a:ln/>
        </p:spPr>
        <p:txBody>
          <a:bodyPr wrap="square" lIns="0" tIns="0" rIns="0" bIns="0" rtlCol="0" anchor="ctr"/>
          <a:lstStyle/>
          <a:p>
            <a:pPr algn="l" indent="0" marL="0">
              <a:buNone/>
            </a:pPr>
            <a:r>
              <a:rPr lang="en-US" sz="2600" b="1" dirty="0">
                <a:solidFill>
                  <a:srgbClr val="0F5257"/>
                </a:solidFill>
                <a:latin typeface="Calibri" pitchFamily="34" charset="0"/>
                <a:ea typeface="Calibri" pitchFamily="34" charset="-122"/>
                <a:cs typeface="Calibri" pitchFamily="34" charset="-120"/>
              </a:rPr>
              <a:t>R2</a:t>
            </a:r>
            <a:endParaRPr lang="en-US" sz="2600" dirty="0"/>
          </a:p>
        </p:txBody>
      </p:sp>
      <p:sp>
        <p:nvSpPr>
          <p:cNvPr id="14" name="Text 12"/>
          <p:cNvSpPr txBox="1"/>
          <p:nvPr/>
        </p:nvSpPr>
        <p:spPr>
          <a:xfrm>
            <a:off x="5257800" y="3383280"/>
            <a:ext cx="2377440" cy="914400"/>
          </a:xfrm>
          <a:prstGeom prst="rect">
            <a:avLst/>
          </a:prstGeom>
          <a:noFill/>
          <a:ln/>
        </p:spPr>
        <p:txBody>
          <a:bodyPr wrap="square" lIns="0" tIns="0" rIns="0" bIns="0" rtlCol="0" anchor="ctr"/>
          <a:lstStyle/>
          <a:p>
            <a:pPr algn="l" indent="0" marL="0">
              <a:buNone/>
            </a:pPr>
            <a:r>
              <a:rPr lang="en-US" sz="1400" dirty="0">
                <a:solidFill>
                  <a:srgbClr val="1B2A2E"/>
                </a:solidFill>
                <a:latin typeface="Calibri" pitchFamily="34" charset="0"/>
                <a:ea typeface="Calibri" pitchFamily="34" charset="-122"/>
                <a:cs typeface="Calibri" pitchFamily="34" charset="-120"/>
              </a:rPr>
              <a:t>Same cleaned name + country</a:t>
            </a:r>
            <a:endParaRPr lang="en-US" sz="1400" dirty="0"/>
          </a:p>
        </p:txBody>
      </p:sp>
      <p:sp>
        <p:nvSpPr>
          <p:cNvPr id="15" name="card"/>
          <p:cNvSpPr/>
          <p:nvPr/>
        </p:nvSpPr>
        <p:spPr>
          <a:xfrm>
            <a:off x="8046720" y="3291840"/>
            <a:ext cx="3474720" cy="1097280"/>
          </a:xfrm>
          <a:prstGeom prst="roundRect">
            <a:avLst>
              <a:gd name="adj" fmla="val 6667"/>
            </a:avLst>
          </a:prstGeom>
          <a:solidFill>
            <a:srgbClr val="EEF4F3"/>
          </a:solidFill>
          <a:ln w="12700">
            <a:solidFill>
              <a:srgbClr val="EEF4F3"/>
            </a:solidFill>
            <a:prstDash val="solid"/>
          </a:ln>
        </p:spPr>
      </p:sp>
      <p:sp>
        <p:nvSpPr>
          <p:cNvPr id="16" name="Text 14"/>
          <p:cNvSpPr txBox="1"/>
          <p:nvPr/>
        </p:nvSpPr>
        <p:spPr>
          <a:xfrm>
            <a:off x="8275320" y="3383280"/>
            <a:ext cx="731520" cy="914400"/>
          </a:xfrm>
          <a:prstGeom prst="rect">
            <a:avLst/>
          </a:prstGeom>
          <a:noFill/>
          <a:ln/>
        </p:spPr>
        <p:txBody>
          <a:bodyPr wrap="square" lIns="0" tIns="0" rIns="0" bIns="0" rtlCol="0" anchor="ctr"/>
          <a:lstStyle/>
          <a:p>
            <a:pPr algn="l" indent="0" marL="0">
              <a:buNone/>
            </a:pPr>
            <a:r>
              <a:rPr lang="en-US" sz="2600" b="1" dirty="0">
                <a:solidFill>
                  <a:srgbClr val="0F5257"/>
                </a:solidFill>
                <a:latin typeface="Calibri" pitchFamily="34" charset="0"/>
                <a:ea typeface="Calibri" pitchFamily="34" charset="-122"/>
                <a:cs typeface="Calibri" pitchFamily="34" charset="-120"/>
              </a:rPr>
              <a:t>R3</a:t>
            </a:r>
            <a:endParaRPr lang="en-US" sz="2600" dirty="0"/>
          </a:p>
        </p:txBody>
      </p:sp>
      <p:sp>
        <p:nvSpPr>
          <p:cNvPr id="17" name="Text 15"/>
          <p:cNvSpPr txBox="1"/>
          <p:nvPr/>
        </p:nvSpPr>
        <p:spPr>
          <a:xfrm>
            <a:off x="9006840" y="3383280"/>
            <a:ext cx="2377440" cy="914400"/>
          </a:xfrm>
          <a:prstGeom prst="rect">
            <a:avLst/>
          </a:prstGeom>
          <a:noFill/>
          <a:ln/>
        </p:spPr>
        <p:txBody>
          <a:bodyPr wrap="square" lIns="0" tIns="0" rIns="0" bIns="0" rtlCol="0" anchor="ctr"/>
          <a:lstStyle/>
          <a:p>
            <a:pPr algn="l" indent="0" marL="0">
              <a:buNone/>
            </a:pPr>
            <a:r>
              <a:rPr lang="en-US" sz="1400" dirty="0">
                <a:solidFill>
                  <a:srgbClr val="1B2A2E"/>
                </a:solidFill>
                <a:latin typeface="Calibri" pitchFamily="34" charset="0"/>
                <a:ea typeface="Calibri" pitchFamily="34" charset="-122"/>
                <a:cs typeface="Calibri" pitchFamily="34" charset="-120"/>
              </a:rPr>
              <a:t>Near-identical name + country, firms only</a:t>
            </a:r>
            <a:endParaRPr lang="en-US" sz="1400" dirty="0"/>
          </a:p>
        </p:txBody>
      </p:sp>
      <p:sp>
        <p:nvSpPr>
          <p:cNvPr id="18" name="Text 16"/>
          <p:cNvSpPr txBox="1"/>
          <p:nvPr/>
        </p:nvSpPr>
        <p:spPr>
          <a:xfrm>
            <a:off x="548640" y="4663440"/>
            <a:ext cx="11064240" cy="1097280"/>
          </a:xfrm>
          <a:prstGeom prst="rect">
            <a:avLst/>
          </a:prstGeom>
          <a:noFill/>
          <a:ln/>
        </p:spPr>
        <p:txBody>
          <a:bodyPr wrap="square" lIns="0" tIns="0" rIns="0" bIns="0" rtlCol="0" anchor="t"/>
          <a:lstStyle/>
          <a:p>
            <a:pPr algn="l" indent="0" marL="0">
              <a:buNone/>
            </a:pPr>
            <a:r>
              <a:rPr lang="en-US" sz="1400" dirty="0">
                <a:solidFill>
                  <a:srgbClr val="1B2A2E"/>
                </a:solidFill>
                <a:latin typeface="Calibri" pitchFamily="34" charset="0"/>
                <a:ea typeface="Calibri" pitchFamily="34" charset="-122"/>
                <a:cs typeface="Calibri" pitchFamily="34" charset="-120"/>
              </a:rPr>
              <a:t>Guards: shared-ID, common-name, numbers, joint venture, distinctive word, chain length. Masked names (“INDIVIDUAL CONSULTANT” with no ID) are never merged and get NULL history, never 0. Precision is preferred over recall: a wrong merge shows a user someone else's track record.</a:t>
            </a:r>
            <a:endParaRPr lang="en-US" sz="14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6E"/>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7680960" cy="822960"/>
          </a:xfrm>
          <a:prstGeom prst="rect">
            <a:avLst/>
          </a:prstGeom>
          <a:noFill/>
          <a:ln/>
        </p:spPr>
        <p:txBody>
          <a:bodyPr wrap="square" lIns="0" tIns="0" rIns="0" bIns="0" rtlCol="0" anchor="ctr"/>
          <a:lstStyle/>
          <a:p>
            <a:pPr algn="l" indent="0" marL="0">
              <a:buNone/>
            </a:pPr>
            <a:r>
              <a:rPr lang="en-US" sz="3000" b="1" dirty="0">
                <a:solidFill>
                  <a:srgbClr val="0F5257"/>
                </a:solidFill>
                <a:latin typeface="Cambria" pitchFamily="34" charset="0"/>
                <a:ea typeface="Cambria" pitchFamily="34" charset="-122"/>
                <a:cs typeface="Cambria" pitchFamily="34" charset="-120"/>
              </a:rPr>
              <a:t>Backup: extraction from reports</a:t>
            </a:r>
            <a:endParaRPr lang="en-US" sz="3000" dirty="0"/>
          </a:p>
        </p:txBody>
      </p:sp>
      <p:sp>
        <p:nvSpPr>
          <p:cNvPr id="3" name="Text 1"/>
          <p:cNvSpPr txBox="1"/>
          <p:nvPr/>
        </p:nvSpPr>
        <p:spPr>
          <a:xfrm>
            <a:off x="548640" y="1371600"/>
            <a:ext cx="3474720" cy="685800"/>
          </a:xfrm>
          <a:prstGeom prst="rect">
            <a:avLst/>
          </a:prstGeom>
          <a:noFill/>
          <a:ln/>
        </p:spPr>
        <p:txBody>
          <a:bodyPr wrap="square" lIns="0" tIns="0" rIns="0" bIns="0" rtlCol="0" anchor="b"/>
          <a:lstStyle/>
          <a:p>
            <a:pPr indent="0" marL="0">
              <a:buNone/>
            </a:pPr>
            <a:r>
              <a:rPr lang="en-US" sz="4000" b="1" dirty="0">
                <a:solidFill>
                  <a:srgbClr val="0F5257"/>
                </a:solidFill>
                <a:latin typeface="Cambria" pitchFamily="34" charset="0"/>
                <a:ea typeface="Cambria" pitchFamily="34" charset="-122"/>
                <a:cs typeface="Cambria" pitchFamily="34" charset="-120"/>
              </a:rPr>
              <a:t>1,548</a:t>
            </a:r>
            <a:endParaRPr lang="en-US" sz="4000" dirty="0"/>
          </a:p>
        </p:txBody>
      </p:sp>
      <p:sp>
        <p:nvSpPr>
          <p:cNvPr id="4" name="Text 2"/>
          <p:cNvSpPr txBox="1"/>
          <p:nvPr/>
        </p:nvSpPr>
        <p:spPr>
          <a:xfrm>
            <a:off x="548640" y="2103120"/>
            <a:ext cx="3474720" cy="548640"/>
          </a:xfrm>
          <a:prstGeom prst="rect">
            <a:avLst/>
          </a:prstGeom>
          <a:noFill/>
          <a:ln/>
        </p:spPr>
        <p:txBody>
          <a:bodyPr wrap="square" lIns="0" tIns="0" rIns="0" bIns="0" rtlCol="0" anchor="t"/>
          <a:lstStyle/>
          <a:p>
            <a:pPr indent="0" marL="0">
              <a:buNone/>
            </a:pPr>
            <a:r>
              <a:rPr lang="en-US" sz="1400" dirty="0">
                <a:solidFill>
                  <a:srgbClr val="1B2A2E"/>
                </a:solidFill>
                <a:latin typeface="Calibri" pitchFamily="34" charset="0"/>
                <a:ea typeface="Calibri" pitchFamily="34" charset="-122"/>
                <a:cs typeface="Calibri" pitchFamily="34" charset="-120"/>
              </a:rPr>
              <a:t>LLM calls, approved in advance (dry run first), 0 errors</a:t>
            </a:r>
            <a:endParaRPr lang="en-US" sz="1400" dirty="0"/>
          </a:p>
        </p:txBody>
      </p:sp>
      <p:sp>
        <p:nvSpPr>
          <p:cNvPr id="5" name="Text 3"/>
          <p:cNvSpPr txBox="1"/>
          <p:nvPr/>
        </p:nvSpPr>
        <p:spPr>
          <a:xfrm>
            <a:off x="4206240" y="1371600"/>
            <a:ext cx="3474720" cy="685800"/>
          </a:xfrm>
          <a:prstGeom prst="rect">
            <a:avLst/>
          </a:prstGeom>
          <a:noFill/>
          <a:ln/>
        </p:spPr>
        <p:txBody>
          <a:bodyPr wrap="square" lIns="0" tIns="0" rIns="0" bIns="0" rtlCol="0" anchor="b"/>
          <a:lstStyle/>
          <a:p>
            <a:pPr indent="0" marL="0">
              <a:buNone/>
            </a:pPr>
            <a:r>
              <a:rPr lang="en-US" sz="4000" b="1" dirty="0">
                <a:solidFill>
                  <a:srgbClr val="0F5257"/>
                </a:solidFill>
                <a:latin typeface="Cambria" pitchFamily="34" charset="0"/>
                <a:ea typeface="Cambria" pitchFamily="34" charset="-122"/>
                <a:cs typeface="Cambria" pitchFamily="34" charset="-120"/>
              </a:rPr>
              <a:t>1,198</a:t>
            </a:r>
            <a:endParaRPr lang="en-US" sz="4000" dirty="0"/>
          </a:p>
        </p:txBody>
      </p:sp>
      <p:sp>
        <p:nvSpPr>
          <p:cNvPr id="6" name="Text 4"/>
          <p:cNvSpPr txBox="1"/>
          <p:nvPr/>
        </p:nvSpPr>
        <p:spPr>
          <a:xfrm>
            <a:off x="4206240" y="2103120"/>
            <a:ext cx="3474720" cy="548640"/>
          </a:xfrm>
          <a:prstGeom prst="rect">
            <a:avLst/>
          </a:prstGeom>
          <a:noFill/>
          <a:ln/>
        </p:spPr>
        <p:txBody>
          <a:bodyPr wrap="square" lIns="0" tIns="0" rIns="0" bIns="0" rtlCol="0" anchor="t"/>
          <a:lstStyle/>
          <a:p>
            <a:pPr indent="0" marL="0">
              <a:buNone/>
            </a:pPr>
            <a:r>
              <a:rPr lang="en-US" sz="1400" dirty="0">
                <a:solidFill>
                  <a:srgbClr val="1B2A2E"/>
                </a:solidFill>
                <a:latin typeface="Calibri" pitchFamily="34" charset="0"/>
                <a:ea typeface="Calibri" pitchFamily="34" charset="-122"/>
                <a:cs typeface="Calibri" pitchFamily="34" charset="-120"/>
              </a:rPr>
              <a:t>lessons kept, each with a verbatim quote</a:t>
            </a:r>
            <a:endParaRPr lang="en-US" sz="1400" dirty="0"/>
          </a:p>
        </p:txBody>
      </p:sp>
      <p:sp>
        <p:nvSpPr>
          <p:cNvPr id="7" name="Text 5"/>
          <p:cNvSpPr txBox="1"/>
          <p:nvPr/>
        </p:nvSpPr>
        <p:spPr>
          <a:xfrm>
            <a:off x="7863840" y="1371600"/>
            <a:ext cx="3749040" cy="685800"/>
          </a:xfrm>
          <a:prstGeom prst="rect">
            <a:avLst/>
          </a:prstGeom>
          <a:noFill/>
          <a:ln/>
        </p:spPr>
        <p:txBody>
          <a:bodyPr wrap="square" lIns="0" tIns="0" rIns="0" bIns="0" rtlCol="0" anchor="b"/>
          <a:lstStyle/>
          <a:p>
            <a:pPr indent="0" marL="0">
              <a:buNone/>
            </a:pPr>
            <a:r>
              <a:rPr lang="en-US" sz="4000" b="1" dirty="0">
                <a:solidFill>
                  <a:srgbClr val="0F5257"/>
                </a:solidFill>
                <a:latin typeface="Cambria" pitchFamily="34" charset="0"/>
                <a:ea typeface="Cambria" pitchFamily="34" charset="-122"/>
                <a:cs typeface="Cambria" pitchFamily="34" charset="-120"/>
              </a:rPr>
              <a:t>1,086</a:t>
            </a:r>
            <a:endParaRPr lang="en-US" sz="4000" dirty="0"/>
          </a:p>
        </p:txBody>
      </p:sp>
      <p:sp>
        <p:nvSpPr>
          <p:cNvPr id="8" name="Text 6"/>
          <p:cNvSpPr txBox="1"/>
          <p:nvPr/>
        </p:nvSpPr>
        <p:spPr>
          <a:xfrm>
            <a:off x="7863840" y="2103120"/>
            <a:ext cx="3749040" cy="548640"/>
          </a:xfrm>
          <a:prstGeom prst="rect">
            <a:avLst/>
          </a:prstGeom>
          <a:noFill/>
          <a:ln/>
        </p:spPr>
        <p:txBody>
          <a:bodyPr wrap="square" lIns="0" tIns="0" rIns="0" bIns="0" rtlCol="0" anchor="t"/>
          <a:lstStyle/>
          <a:p>
            <a:pPr indent="0" marL="0">
              <a:buNone/>
            </a:pPr>
            <a:r>
              <a:rPr lang="en-US" sz="1400" dirty="0">
                <a:solidFill>
                  <a:srgbClr val="1B2A2E"/>
                </a:solidFill>
                <a:latin typeface="Calibri" pitchFamily="34" charset="0"/>
                <a:ea typeface="Calibri" pitchFamily="34" charset="-122"/>
                <a:cs typeface="Calibri" pitchFamily="34" charset="-120"/>
              </a:rPr>
              <a:t>events kept: delays 344, amendments 223, cancellations 194, extensions 170</a:t>
            </a:r>
            <a:endParaRPr lang="en-US" sz="1400" dirty="0"/>
          </a:p>
        </p:txBody>
      </p:sp>
      <p:sp>
        <p:nvSpPr>
          <p:cNvPr id="9" name="Text 7"/>
          <p:cNvSpPr txBox="1"/>
          <p:nvPr/>
        </p:nvSpPr>
        <p:spPr>
          <a:xfrm>
            <a:off x="548640" y="3200400"/>
            <a:ext cx="11064240" cy="2743200"/>
          </a:xfrm>
          <a:prstGeom prst="rect">
            <a:avLst/>
          </a:prstGeom>
          <a:noFill/>
          <a:ln/>
        </p:spPr>
        <p:txBody>
          <a:bodyPr wrap="square" lIns="0" tIns="0" rIns="0" bIns="0" rtlCol="0" anchor="t"/>
          <a:lstStyle/>
          <a:p>
            <a:pPr marL="203200" indent="-203200">
              <a:spcAft>
                <a:spcPts val="800"/>
              </a:spcAft>
              <a:buSzPct val="100000"/>
              <a:buChar char="•"/>
            </a:pPr>
            <a:r>
              <a:rPr lang="en-US" sz="1500" dirty="0">
                <a:solidFill>
                  <a:srgbClr val="1B2A2E"/>
                </a:solidFill>
                <a:latin typeface="Calibri" pitchFamily="34" charset="0"/>
                <a:ea typeface="Calibri" pitchFamily="34" charset="-122"/>
                <a:cs typeface="Calibri" pitchFamily="34" charset="-120"/>
              </a:rPr>
              <a:t>Only events that HAPPENED: conditions, plans and project names are rejected (89 rejected as not happened)</a:t>
            </a:r>
            <a:endParaRPr lang="en-US" sz="1500" dirty="0"/>
          </a:p>
          <a:p>
            <a:pPr marL="203200" indent="-203200">
              <a:spcAft>
                <a:spcPts val="800"/>
              </a:spcAft>
              <a:buSzPct val="100000"/>
              <a:buChar char="•"/>
            </a:pPr>
            <a:r>
              <a:rPr lang="en-US" sz="1500" dirty="0">
                <a:solidFill>
                  <a:srgbClr val="1B2A2E"/>
                </a:solidFill>
                <a:latin typeface="Calibri" pitchFamily="34" charset="0"/>
                <a:ea typeface="Calibri" pitchFamily="34" charset="-122"/>
                <a:cs typeface="Calibri" pitchFamily="34" charset="-120"/>
              </a:rPr>
              <a:t>Quotes must appear word for word in the passage (83 event quotes rejected)</a:t>
            </a:r>
            <a:endParaRPr lang="en-US" sz="1500" dirty="0"/>
          </a:p>
          <a:p>
            <a:pPr marL="203200" indent="-203200">
              <a:spcAft>
                <a:spcPts val="800"/>
              </a:spcAft>
              <a:buSzPct val="100000"/>
              <a:buChar char="•"/>
            </a:pPr>
            <a:r>
              <a:rPr lang="en-US" sz="1500" dirty="0">
                <a:solidFill>
                  <a:srgbClr val="1B2A2E"/>
                </a:solidFill>
                <a:latin typeface="Calibri" pitchFamily="34" charset="0"/>
                <a:ea typeface="Calibri" pitchFamily="34" charset="-122"/>
                <a:cs typeface="Calibri" pitchFamily="34" charset="-120"/>
              </a:rPr>
              <a:t>A filter bug (“résili” matched “resilience”) cut the calls from 1,767 to 1,548 before any spending</a:t>
            </a:r>
            <a:endParaRPr lang="en-US" sz="1500" dirty="0"/>
          </a:p>
          <a:p>
            <a:pPr marL="203200" indent="-203200">
              <a:spcAft>
                <a:spcPts val="800"/>
              </a:spcAft>
              <a:buSzPct val="100000"/>
              <a:buChar char="•"/>
            </a:pPr>
            <a:r>
              <a:rPr lang="en-US" sz="1500" dirty="0">
                <a:solidFill>
                  <a:srgbClr val="1B2A2E"/>
                </a:solidFill>
                <a:latin typeface="Calibri" pitchFamily="34" charset="0"/>
                <a:ea typeface="Calibri" pitchFamily="34" charset="-122"/>
                <a:cs typeface="Calibri" pitchFamily="34" charset="-120"/>
              </a:rPr>
              <a:t>Ratings by regular expression, not LLM: 230 ratings for 16 projects</a:t>
            </a:r>
            <a:endParaRPr lang="en-US" sz="1500" dirty="0"/>
          </a:p>
          <a:p>
            <a:pPr marL="203200" indent="-203200">
              <a:spcAft>
                <a:spcPts val="800"/>
              </a:spcAft>
              <a:buSzPct val="100000"/>
              <a:buChar char="•"/>
            </a:pPr>
            <a:r>
              <a:rPr lang="en-US" sz="1500" dirty="0">
                <a:solidFill>
                  <a:srgbClr val="1B2A2E"/>
                </a:solidFill>
                <a:latin typeface="Calibri" pitchFamily="34" charset="0"/>
                <a:ea typeface="Calibri" pitchFamily="34" charset="-122"/>
                <a:cs typeface="Calibri" pitchFamily="34" charset="-120"/>
              </a:rPr>
              <a:t>Event → contract links: 3 of 1,086 (reports describe packages, not contracts)</a:t>
            </a:r>
            <a:endParaRPr lang="en-US" sz="15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6E"/>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7680960" cy="822960"/>
          </a:xfrm>
          <a:prstGeom prst="rect">
            <a:avLst/>
          </a:prstGeom>
          <a:noFill/>
          <a:ln/>
        </p:spPr>
        <p:txBody>
          <a:bodyPr wrap="square" lIns="0" tIns="0" rIns="0" bIns="0" rtlCol="0" anchor="ctr"/>
          <a:lstStyle/>
          <a:p>
            <a:pPr algn="l" indent="0" marL="0">
              <a:buNone/>
            </a:pPr>
            <a:r>
              <a:rPr lang="en-US" sz="3000" b="1" dirty="0">
                <a:solidFill>
                  <a:srgbClr val="0F5257"/>
                </a:solidFill>
                <a:latin typeface="Cambria" pitchFamily="34" charset="0"/>
                <a:ea typeface="Cambria" pitchFamily="34" charset="-122"/>
                <a:cs typeface="Cambria" pitchFamily="34" charset="-120"/>
              </a:rPr>
              <a:t>Backup: the fake 0.93 AUC</a:t>
            </a:r>
            <a:endParaRPr lang="en-US" sz="3000" dirty="0"/>
          </a:p>
        </p:txBody>
      </p:sp>
      <p:sp>
        <p:nvSpPr>
          <p:cNvPr id="3" name="Text 1"/>
          <p:cNvSpPr txBox="1"/>
          <p:nvPr/>
        </p:nvSpPr>
        <p:spPr>
          <a:xfrm>
            <a:off x="548640" y="1371600"/>
            <a:ext cx="3291840" cy="685800"/>
          </a:xfrm>
          <a:prstGeom prst="rect">
            <a:avLst/>
          </a:prstGeom>
          <a:noFill/>
          <a:ln/>
        </p:spPr>
        <p:txBody>
          <a:bodyPr wrap="square" lIns="0" tIns="0" rIns="0" bIns="0" rtlCol="0" anchor="b"/>
          <a:lstStyle/>
          <a:p>
            <a:pPr indent="0" marL="0">
              <a:buNone/>
            </a:pPr>
            <a:r>
              <a:rPr lang="en-US" sz="4000" b="1" dirty="0">
                <a:solidFill>
                  <a:srgbClr val="A23B2C"/>
                </a:solidFill>
                <a:latin typeface="Cambria" pitchFamily="34" charset="0"/>
                <a:ea typeface="Cambria" pitchFamily="34" charset="-122"/>
                <a:cs typeface="Cambria" pitchFamily="34" charset="-120"/>
              </a:rPr>
              <a:t>0.93</a:t>
            </a:r>
            <a:endParaRPr lang="en-US" sz="4000" dirty="0"/>
          </a:p>
        </p:txBody>
      </p:sp>
      <p:sp>
        <p:nvSpPr>
          <p:cNvPr id="4" name="Text 2"/>
          <p:cNvSpPr txBox="1"/>
          <p:nvPr/>
        </p:nvSpPr>
        <p:spPr>
          <a:xfrm>
            <a:off x="548640" y="2103120"/>
            <a:ext cx="3291840" cy="548640"/>
          </a:xfrm>
          <a:prstGeom prst="rect">
            <a:avLst/>
          </a:prstGeom>
          <a:noFill/>
          <a:ln/>
        </p:spPr>
        <p:txBody>
          <a:bodyPr wrap="square" lIns="0" tIns="0" rIns="0" bIns="0" rtlCol="0" anchor="t"/>
          <a:lstStyle/>
          <a:p>
            <a:pPr indent="0" marL="0">
              <a:buNone/>
            </a:pPr>
            <a:r>
              <a:rPr lang="en-US" sz="1400" dirty="0">
                <a:solidFill>
                  <a:srgbClr val="1B2A2E"/>
                </a:solidFill>
                <a:latin typeface="Calibri" pitchFamily="34" charset="0"/>
                <a:ea typeface="Calibri" pitchFamily="34" charset="-122"/>
                <a:cs typeface="Calibri" pitchFamily="34" charset="-120"/>
              </a:rPr>
              <a:t>classifier AUC on the first re-bid labels</a:t>
            </a:r>
            <a:endParaRPr lang="en-US" sz="1400" dirty="0"/>
          </a:p>
        </p:txBody>
      </p:sp>
      <p:sp>
        <p:nvSpPr>
          <p:cNvPr id="5" name="Text 3"/>
          <p:cNvSpPr txBox="1"/>
          <p:nvPr/>
        </p:nvSpPr>
        <p:spPr>
          <a:xfrm>
            <a:off x="4206240" y="1371600"/>
            <a:ext cx="3291840" cy="685800"/>
          </a:xfrm>
          <a:prstGeom prst="rect">
            <a:avLst/>
          </a:prstGeom>
          <a:noFill/>
          <a:ln/>
        </p:spPr>
        <p:txBody>
          <a:bodyPr wrap="square" lIns="0" tIns="0" rIns="0" bIns="0" rtlCol="0" anchor="b"/>
          <a:lstStyle/>
          <a:p>
            <a:pPr indent="0" marL="0">
              <a:buNone/>
            </a:pPr>
            <a:r>
              <a:rPr lang="en-US" sz="3400" b="1" dirty="0">
                <a:solidFill>
                  <a:srgbClr val="A23B2C"/>
                </a:solidFill>
                <a:latin typeface="Cambria" pitchFamily="34" charset="0"/>
                <a:ea typeface="Cambria" pitchFamily="34" charset="-122"/>
                <a:cs typeface="Cambria" pitchFamily="34" charset="-120"/>
              </a:rPr>
              <a:t>120 of 171</a:t>
            </a:r>
            <a:endParaRPr lang="en-US" sz="3400" dirty="0"/>
          </a:p>
        </p:txBody>
      </p:sp>
      <p:sp>
        <p:nvSpPr>
          <p:cNvPr id="6" name="Text 4"/>
          <p:cNvSpPr txBox="1"/>
          <p:nvPr/>
        </p:nvSpPr>
        <p:spPr>
          <a:xfrm>
            <a:off x="4206240" y="2103120"/>
            <a:ext cx="3291840" cy="548640"/>
          </a:xfrm>
          <a:prstGeom prst="rect">
            <a:avLst/>
          </a:prstGeom>
          <a:noFill/>
          <a:ln/>
        </p:spPr>
        <p:txBody>
          <a:bodyPr wrap="square" lIns="0" tIns="0" rIns="0" bIns="0" rtlCol="0" anchor="t"/>
          <a:lstStyle/>
          <a:p>
            <a:pPr indent="0" marL="0">
              <a:buNone/>
            </a:pPr>
            <a:r>
              <a:rPr lang="en-US" sz="1400" dirty="0">
                <a:solidFill>
                  <a:srgbClr val="1B2A2E"/>
                </a:solidFill>
                <a:latin typeface="Calibri" pitchFamily="34" charset="0"/>
                <a:ea typeface="Calibri" pitchFamily="34" charset="-122"/>
                <a:cs typeface="Calibri" pitchFamily="34" charset="-120"/>
              </a:rPr>
              <a:t>positives were false</a:t>
            </a:r>
            <a:endParaRPr lang="en-US" sz="1400" dirty="0"/>
          </a:p>
        </p:txBody>
      </p:sp>
      <p:sp>
        <p:nvSpPr>
          <p:cNvPr id="7" name="Text 5"/>
          <p:cNvSpPr txBox="1"/>
          <p:nvPr/>
        </p:nvSpPr>
        <p:spPr>
          <a:xfrm>
            <a:off x="7863840" y="1371600"/>
            <a:ext cx="3749040" cy="685800"/>
          </a:xfrm>
          <a:prstGeom prst="rect">
            <a:avLst/>
          </a:prstGeom>
          <a:noFill/>
          <a:ln/>
        </p:spPr>
        <p:txBody>
          <a:bodyPr wrap="square" lIns="0" tIns="0" rIns="0" bIns="0" rtlCol="0" anchor="b"/>
          <a:lstStyle/>
          <a:p>
            <a:pPr indent="0" marL="0">
              <a:buNone/>
            </a:pPr>
            <a:r>
              <a:rPr lang="en-US" sz="4000" b="1" dirty="0">
                <a:solidFill>
                  <a:srgbClr val="0F5257"/>
                </a:solidFill>
                <a:latin typeface="Cambria" pitchFamily="34" charset="0"/>
                <a:ea typeface="Cambria" pitchFamily="34" charset="-122"/>
                <a:cs typeface="Cambria" pitchFamily="34" charset="-120"/>
              </a:rPr>
              <a:t>0.46</a:t>
            </a:r>
            <a:endParaRPr lang="en-US" sz="4000" dirty="0"/>
          </a:p>
        </p:txBody>
      </p:sp>
      <p:sp>
        <p:nvSpPr>
          <p:cNvPr id="8" name="Text 6"/>
          <p:cNvSpPr txBox="1"/>
          <p:nvPr/>
        </p:nvSpPr>
        <p:spPr>
          <a:xfrm>
            <a:off x="7863840" y="2103120"/>
            <a:ext cx="3749040" cy="548640"/>
          </a:xfrm>
          <a:prstGeom prst="rect">
            <a:avLst/>
          </a:prstGeom>
          <a:noFill/>
          <a:ln/>
        </p:spPr>
        <p:txBody>
          <a:bodyPr wrap="square" lIns="0" tIns="0" rIns="0" bIns="0" rtlCol="0" anchor="t"/>
          <a:lstStyle/>
          <a:p>
            <a:pPr indent="0" marL="0">
              <a:buNone/>
            </a:pPr>
            <a:r>
              <a:rPr lang="en-US" sz="1400" dirty="0">
                <a:solidFill>
                  <a:srgbClr val="1B2A2E"/>
                </a:solidFill>
                <a:latin typeface="Calibri" pitchFamily="34" charset="0"/>
                <a:ea typeface="Calibri" pitchFamily="34" charset="-122"/>
                <a:cs typeface="Calibri" pitchFamily="34" charset="-120"/>
              </a:rPr>
              <a:t>AUC after fixing the labels: classifier not kept</a:t>
            </a:r>
            <a:endParaRPr lang="en-US" sz="1400" dirty="0"/>
          </a:p>
        </p:txBody>
      </p:sp>
      <p:sp>
        <p:nvSpPr>
          <p:cNvPr id="9" name="Text 7"/>
          <p:cNvSpPr txBox="1"/>
          <p:nvPr/>
        </p:nvSpPr>
        <p:spPr>
          <a:xfrm>
            <a:off x="548640" y="3200400"/>
            <a:ext cx="11064240" cy="2743200"/>
          </a:xfrm>
          <a:prstGeom prst="rect">
            <a:avLst/>
          </a:prstGeom>
          <a:noFill/>
          <a:ln/>
        </p:spPr>
        <p:txBody>
          <a:bodyPr wrap="square" lIns="0" tIns="0" rIns="0" bIns="0" rtlCol="0" anchor="t"/>
          <a:lstStyle/>
          <a:p>
            <a:pPr marL="203200" indent="-203200">
              <a:spcAft>
                <a:spcPts val="800"/>
              </a:spcAft>
              <a:buSzPct val="100000"/>
              <a:buChar char="•"/>
            </a:pPr>
            <a:r>
              <a:rPr lang="en-US" sz="1500" dirty="0">
                <a:solidFill>
                  <a:srgbClr val="1B2A2E"/>
                </a:solidFill>
                <a:latin typeface="Calibri" pitchFamily="34" charset="0"/>
                <a:ea typeface="Calibri" pitchFamily="34" charset="-122"/>
                <a:cs typeface="Calibri" pitchFamily="34" charset="-120"/>
              </a:rPr>
              <a:t>“Projet de Relance et de Développement…”: relance means recovery, a project name, in 86 of 88 tenders</a:t>
            </a:r>
            <a:endParaRPr lang="en-US" sz="1500" dirty="0"/>
          </a:p>
          <a:p>
            <a:pPr marL="203200" indent="-203200">
              <a:spcAft>
                <a:spcPts val="800"/>
              </a:spcAft>
              <a:buSzPct val="100000"/>
              <a:buChar char="•"/>
            </a:pPr>
            <a:r>
              <a:rPr lang="en-US" sz="1500" dirty="0">
                <a:solidFill>
                  <a:srgbClr val="1B2A2E"/>
                </a:solidFill>
                <a:latin typeface="Calibri" pitchFamily="34" charset="0"/>
                <a:ea typeface="Calibri" pitchFamily="34" charset="-122"/>
                <a:cs typeface="Calibri" pitchFamily="34" charset="-120"/>
              </a:rPr>
              <a:t>Lebanon: “Not awarded lots… will be subject to re-bidding” printed in every invitation (34 of 43)</a:t>
            </a:r>
            <a:endParaRPr lang="en-US" sz="1500" dirty="0"/>
          </a:p>
          <a:p>
            <a:pPr marL="203200" indent="-203200">
              <a:spcAft>
                <a:spcPts val="800"/>
              </a:spcAft>
              <a:buSzPct val="100000"/>
              <a:buChar char="•"/>
            </a:pPr>
            <a:r>
              <a:rPr lang="en-US" sz="1500" dirty="0">
                <a:solidFill>
                  <a:srgbClr val="1B2A2E"/>
                </a:solidFill>
                <a:latin typeface="Calibri" pitchFamily="34" charset="0"/>
                <a:ea typeface="Calibri" pitchFamily="34" charset="-122"/>
                <a:cs typeface="Calibri" pitchFamily="34" charset="-120"/>
              </a:rPr>
              <a:t>Fix: wording inside a project name or after a future/conditional phrase never counts; recall re-checked on 125 notices</a:t>
            </a:r>
            <a:endParaRPr lang="en-US" sz="1500" dirty="0"/>
          </a:p>
          <a:p>
            <a:pPr marL="203200" indent="-203200">
              <a:spcAft>
                <a:spcPts val="800"/>
              </a:spcAft>
              <a:buSzPct val="100000"/>
              <a:buChar char="•"/>
            </a:pPr>
            <a:r>
              <a:rPr lang="en-US" sz="1500" dirty="0">
                <a:solidFill>
                  <a:srgbClr val="1B2A2E"/>
                </a:solidFill>
                <a:latin typeface="Calibri" pitchFamily="34" charset="0"/>
                <a:ea typeface="Calibri" pitchFamily="34" charset="-122"/>
                <a:cs typeface="Calibri" pitchFamily="34" charset="-120"/>
              </a:rPr>
              <a:t>Lesson: a high AUC on rare labels is a reason to read the positives, not to celebrate</a:t>
            </a:r>
            <a:endParaRPr lang="en-US" sz="15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6E"/>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theme/theme1.xml><?xml version="1.0" encoding="utf-8"?>
<a:theme xmlns:a="http://schemas.openxmlformats.org/drawingml/2006/main" name="Procurement Intelligence">
  <a:themeElements>
    <a:clrScheme name="Procurement Intelligence">
      <a:dk1>
        <a:srgbClr val="1B2A2E"/>
      </a:dk1>
      <a:lt1>
        <a:srgbClr val="FFFFFF"/>
      </a:lt1>
      <a:dk2>
        <a:srgbClr val="0F5257"/>
      </a:dk2>
      <a:lt2>
        <a:srgbClr val="EEF4F3"/>
      </a:lt2>
      <a:accent1>
        <a:srgbClr val="0F5257"/>
      </a:accent1>
      <a:accent2>
        <a:srgbClr val="F3B23C"/>
      </a:accent2>
      <a:accent3>
        <a:srgbClr val="5E8C87"/>
      </a:accent3>
      <a:accent4>
        <a:srgbClr val="A23B2C"/>
      </a:accent4>
      <a:accent5>
        <a:srgbClr val="9DBCB8"/>
      </a:accent5>
      <a:accent6>
        <a:srgbClr val="2E6F95"/>
      </a:accent6>
      <a:hlink>
        <a:srgbClr val="2E6F95"/>
      </a:hlink>
      <a:folHlink>
        <a:srgbClr val="5E8C87"/>
      </a:folHlink>
    </a:clrScheme>
    <a:fontScheme name="Procurement Intelligen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Procurement Intelligence on Databricks</dc:title>
  <dc:subject>PptxGenJS Presentation</dc:subject>
  <dc:creator>Dhruv Agrawal</dc:creator>
  <cp:lastModifiedBy>Dhruv Agrawal</cp:lastModifiedBy>
  <cp:revision>1</cp:revision>
  <dcterms:created xsi:type="dcterms:W3CDTF">2026-10-24T13:53:35Z</dcterms:created>
  <dcterms:modified xsi:type="dcterms:W3CDTF">2026-10-24T13:53:35Z</dcterms:modified>
</cp:coreProperties>
</file>